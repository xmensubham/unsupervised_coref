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/>
            </a:pPr>
            <a:r>
              <a:rPr>
                <a:latin typeface="Calibri"/>
              </a:rPr>
              <a:t>Hindi Coreference Resolution for Low-Resource NLP Using Transformer-Based Hybrid Approaches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B.Tech Project Presentation</a:t>
            </a:r>
          </a:p>
          <a:p>
            <a:r>
              <a:rPr>
                <a:latin typeface="Calibri"/>
              </a:rPr>
              <a:t>Presented by: Himraj Doley, Subham Saha, Mohd Zaid, Nipujyoti Rabha</a:t>
            </a:r>
          </a:p>
          <a:p>
            <a:r>
              <a:rPr>
                <a:latin typeface="Calibri"/>
              </a:rPr>
              <a:t>Supervisor: Dr. Apurbalal Senapati</a:t>
            </a:r>
          </a:p>
          <a:p>
            <a:r>
              <a:rPr>
                <a:latin typeface="Calibri"/>
              </a:rPr>
              <a:t>Department of CSE, CIT Kokrajhar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rPr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Calibri"/>
              </a:rPr>
              <a:t>Coreference Resolution identifies mentions referring to the same entity.</a:t>
            </a:r>
          </a:p>
          <a:p>
            <a:pPr>
              <a:defRPr sz="2000"/>
            </a:pPr>
            <a:r>
              <a:rPr>
                <a:latin typeface="Calibri"/>
              </a:rPr>
              <a:t>Example: 'राम विद्यालय गया। वह प्रसन्न था।' → राम = वह</a:t>
            </a:r>
          </a:p>
          <a:p>
            <a:pPr>
              <a:defRPr sz="2000"/>
            </a:pPr>
            <a:r>
              <a:rPr>
                <a:latin typeface="Calibri"/>
              </a:rPr>
              <a:t>Important for Question Answering, Machine Translation, Summarization, Dialogue Systems.</a:t>
            </a:r>
          </a:p>
          <a:p>
            <a:pPr>
              <a:defRPr sz="2000"/>
            </a:pPr>
            <a:r>
              <a:rPr>
                <a:latin typeface="Calibri"/>
              </a:rPr>
              <a:t>Hindi NLP remains a low-resource research area.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rPr>
                <a:latin typeface="Calibri"/>
              </a:rPr>
              <a:t>Challenges in Hindi Coreference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Calibri"/>
              </a:rPr>
              <a:t>Morphological richness (gender, number, tense variations)</a:t>
            </a:r>
          </a:p>
          <a:p>
            <a:pPr>
              <a:defRPr sz="2000"/>
            </a:pPr>
            <a:r>
              <a:rPr>
                <a:latin typeface="Calibri"/>
              </a:rPr>
              <a:t>Free word order in Hindi sentences</a:t>
            </a:r>
          </a:p>
          <a:p>
            <a:pPr>
              <a:defRPr sz="2000"/>
            </a:pPr>
            <a:r>
              <a:rPr>
                <a:latin typeface="Calibri"/>
              </a:rPr>
              <a:t>Pro-drop language characteristics</a:t>
            </a:r>
          </a:p>
          <a:p>
            <a:pPr>
              <a:defRPr sz="2000"/>
            </a:pPr>
            <a:r>
              <a:rPr>
                <a:latin typeface="Calibri"/>
              </a:rPr>
              <a:t>Complex Devanagari tokenization</a:t>
            </a:r>
          </a:p>
          <a:p>
            <a:pPr>
              <a:defRPr sz="2000"/>
            </a:pPr>
            <a:r>
              <a:rPr>
                <a:latin typeface="Calibri"/>
              </a:rPr>
              <a:t>Scarcity of annotated datasets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rPr>
                <a:latin typeface="Calibri"/>
              </a:rPr>
              <a:t>Project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Calibri"/>
              </a:rPr>
              <a:t>Phase 1: Scratch-trained BERT + embedding clustering</a:t>
            </a:r>
          </a:p>
          <a:p>
            <a:pPr>
              <a:defRPr sz="2000"/>
            </a:pPr>
            <a:r>
              <a:rPr>
                <a:latin typeface="Calibri"/>
              </a:rPr>
              <a:t>Result: Failed for true coreference resolution</a:t>
            </a:r>
          </a:p>
          <a:p>
            <a:pPr>
              <a:defRPr sz="2000"/>
            </a:pPr>
            <a:r>
              <a:rPr>
                <a:latin typeface="Calibri"/>
              </a:rPr>
              <a:t>Phase 2: Hybrid supervised architecture using IndicBERTv2</a:t>
            </a:r>
          </a:p>
          <a:p>
            <a:pPr>
              <a:defRPr sz="2000"/>
            </a:pPr>
            <a:r>
              <a:rPr>
                <a:latin typeface="Calibri"/>
              </a:rPr>
              <a:t>Final system achieved meaningful coreference clustering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rPr>
                <a:latin typeface="Calibri"/>
              </a:rPr>
              <a:t>Phase 1: Scratch BERT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Calibri"/>
              </a:rPr>
              <a:t>Dataset: ~172,000 Hindi Wikipedia documents</a:t>
            </a:r>
          </a:p>
          <a:p>
            <a:pPr>
              <a:defRPr sz="2000"/>
            </a:pPr>
            <a:r>
              <a:rPr>
                <a:latin typeface="Calibri"/>
              </a:rPr>
              <a:t>SentencePiece BPE tokenizer with vocab size 32,000</a:t>
            </a:r>
          </a:p>
          <a:p>
            <a:pPr>
              <a:defRPr sz="2000"/>
            </a:pPr>
            <a:r>
              <a:rPr>
                <a:latin typeface="Calibri"/>
              </a:rPr>
              <a:t>Custom compact BERT model trained using MLM objective</a:t>
            </a:r>
          </a:p>
          <a:p>
            <a:pPr>
              <a:defRPr sz="2000"/>
            </a:pPr>
            <a:r>
              <a:rPr>
                <a:latin typeface="Calibri"/>
              </a:rPr>
              <a:t>Used cosine similarity clustering for coreference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rPr>
                <a:latin typeface="Calibri"/>
              </a:rPr>
              <a:t>Why Phase 1 Failed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Calibri"/>
              </a:rPr>
              <a:t>Semantic similarity ≠ Coreference</a:t>
            </a:r>
          </a:p>
          <a:p>
            <a:pPr>
              <a:defRPr sz="2000"/>
            </a:pPr>
            <a:r>
              <a:rPr>
                <a:latin typeface="Calibri"/>
              </a:rPr>
              <a:t>Pronouns were not linked reliably to antecedents</a:t>
            </a:r>
          </a:p>
          <a:p>
            <a:pPr>
              <a:defRPr sz="2000"/>
            </a:pPr>
            <a:r>
              <a:rPr>
                <a:latin typeface="Calibri"/>
              </a:rPr>
              <a:t>Low thresholds created spurious clusters</a:t>
            </a:r>
          </a:p>
          <a:p>
            <a:pPr>
              <a:defRPr sz="2000"/>
            </a:pPr>
            <a:r>
              <a:rPr>
                <a:latin typeface="Calibri"/>
              </a:rPr>
              <a:t>No discourse understanding or antecedent ranking</a:t>
            </a:r>
          </a:p>
          <a:p>
            <a:pPr>
              <a:defRPr sz="2000"/>
            </a:pPr>
            <a:r>
              <a:rPr>
                <a:latin typeface="Calibri"/>
              </a:rPr>
              <a:t>Important research insight from failure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rPr>
                <a:latin typeface="Calibri"/>
              </a:rPr>
              <a:t>Phase 2: Hybrid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Calibri"/>
              </a:rPr>
              <a:t>IndicBERTv2 used for contextual embeddings</a:t>
            </a:r>
          </a:p>
          <a:p>
            <a:pPr>
              <a:defRPr sz="2000"/>
            </a:pPr>
            <a:r>
              <a:rPr>
                <a:latin typeface="Calibri"/>
              </a:rPr>
              <a:t>Manual Hindi coreference dataset created</a:t>
            </a:r>
          </a:p>
          <a:p>
            <a:pPr>
              <a:defRPr sz="2000"/>
            </a:pPr>
            <a:r>
              <a:rPr>
                <a:latin typeface="Calibri"/>
              </a:rPr>
              <a:t>Pairwise mention classification approach</a:t>
            </a:r>
          </a:p>
          <a:p>
            <a:pPr>
              <a:defRPr sz="2000"/>
            </a:pPr>
            <a:r>
              <a:rPr>
                <a:latin typeface="Calibri"/>
              </a:rPr>
              <a:t>Combination of neural embeddings + handcrafted linguistic features</a:t>
            </a:r>
          </a:p>
          <a:p>
            <a:pPr>
              <a:defRPr sz="2000"/>
            </a:pPr>
            <a:r>
              <a:rPr>
                <a:latin typeface="Calibri"/>
              </a:rPr>
              <a:t>Union-Find used for cluster reconstruction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rPr>
                <a:latin typeface="Calibri"/>
              </a:rPr>
              <a:t>Dataset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Calibri"/>
              </a:rPr>
              <a:t>1248 manually annotated mention spans</a:t>
            </a:r>
          </a:p>
          <a:p>
            <a:pPr>
              <a:defRPr sz="2000"/>
            </a:pPr>
            <a:r>
              <a:rPr>
                <a:latin typeface="Calibri"/>
              </a:rPr>
              <a:t>Mention types: proper noun, common noun, pronoun, nominal phrase</a:t>
            </a:r>
          </a:p>
          <a:p>
            <a:pPr>
              <a:defRPr sz="2000"/>
            </a:pPr>
            <a:r>
              <a:rPr>
                <a:latin typeface="Calibri"/>
              </a:rPr>
              <a:t>Features: pronoun flags, plurality, sentence distance, clause heuristics</a:t>
            </a:r>
          </a:p>
          <a:p>
            <a:pPr>
              <a:defRPr sz="2000"/>
            </a:pPr>
            <a:r>
              <a:rPr>
                <a:latin typeface="Calibri"/>
              </a:rPr>
              <a:t>Embedding similarity + linguistic compatibility scores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rPr>
                <a:latin typeface="Calibri"/>
              </a:rPr>
              <a:t>System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Calibri"/>
              </a:rPr>
              <a:t>Input Hindi Text with Mention Spans</a:t>
            </a:r>
          </a:p>
          <a:p>
            <a:pPr>
              <a:defRPr sz="2000"/>
            </a:pPr>
            <a:r>
              <a:rPr>
                <a:latin typeface="Calibri"/>
              </a:rPr>
              <a:t>→ IndicBERTv2 Mention Embeddings</a:t>
            </a:r>
          </a:p>
          <a:p>
            <a:pPr>
              <a:defRPr sz="2000"/>
            </a:pPr>
            <a:r>
              <a:rPr>
                <a:latin typeface="Calibri"/>
              </a:rPr>
              <a:t>→ Feature Engineering</a:t>
            </a:r>
          </a:p>
          <a:p>
            <a:pPr>
              <a:defRPr sz="2000"/>
            </a:pPr>
            <a:r>
              <a:rPr>
                <a:latin typeface="Calibri"/>
              </a:rPr>
              <a:t>→ Logistic Regression Pairwise Classifier</a:t>
            </a:r>
          </a:p>
          <a:p>
            <a:pPr>
              <a:defRPr sz="2000"/>
            </a:pPr>
            <a:r>
              <a:rPr>
                <a:latin typeface="Calibri"/>
              </a:rPr>
              <a:t>→ Union-Find Cluster Reconstruction</a:t>
            </a:r>
          </a:p>
          <a:p>
            <a:pPr>
              <a:defRPr sz="2000"/>
            </a:pPr>
            <a:r>
              <a:rPr>
                <a:latin typeface="Calibri"/>
              </a:rPr>
              <a:t>→ Output Entity Clusters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rPr>
                <a:latin typeface="Calibri"/>
              </a:rPr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Calibri"/>
              </a:rPr>
              <a:t>Overall pairwise classification accuracy ≈ 82%</a:t>
            </a:r>
          </a:p>
          <a:p>
            <a:pPr>
              <a:defRPr sz="2000"/>
            </a:pPr>
            <a:r>
              <a:rPr>
                <a:latin typeface="Calibri"/>
              </a:rPr>
              <a:t>Embedding-only system achieved ~71% accuracy</a:t>
            </a:r>
          </a:p>
          <a:p>
            <a:pPr>
              <a:defRPr sz="2000"/>
            </a:pPr>
            <a:r>
              <a:rPr>
                <a:latin typeface="Calibri"/>
              </a:rPr>
              <a:t>Hindi linguistic features improved accuracy by ~11%</a:t>
            </a:r>
          </a:p>
          <a:p>
            <a:pPr>
              <a:defRPr sz="2000"/>
            </a:pPr>
            <a:r>
              <a:rPr>
                <a:latin typeface="Calibri"/>
              </a:rPr>
              <a:t>Phase 2 significantly outperformed Phase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rPr>
                <a:latin typeface="Calibri"/>
              </a:rPr>
              <a:t>Example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Calibri"/>
              </a:rPr>
              <a:t>Input: 'राम विद्यालय गया। वह बहुत प्रसन्न था। उसने अपने मित्रों से बात की।'</a:t>
            </a:r>
          </a:p>
          <a:p>
            <a:pPr>
              <a:defRPr sz="2000"/>
            </a:pPr>
            <a:r>
              <a:rPr>
                <a:latin typeface="Calibri"/>
              </a:rPr>
              <a:t>Predicted Cluster: {राम, वह, उसने}</a:t>
            </a:r>
          </a:p>
          <a:p>
            <a:pPr>
              <a:defRPr sz="2000"/>
            </a:pPr>
            <a:r>
              <a:rPr>
                <a:latin typeface="Calibri"/>
              </a:rPr>
              <a:t>Demonstrates successful pronoun-antecedent resolution</a:t>
            </a:r>
          </a:p>
          <a:p>
            <a:pPr>
              <a:defRPr sz="2000"/>
            </a:pPr>
            <a:r>
              <a:rPr>
                <a:latin typeface="Calibri"/>
              </a:rPr>
              <a:t>Some ambiguity cases still remain challenging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rPr>
                <a:latin typeface="Calibri"/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Calibri"/>
              </a:rPr>
              <a:t>Small manually annotated dataset</a:t>
            </a:r>
          </a:p>
          <a:p>
            <a:pPr>
              <a:defRPr sz="2000"/>
            </a:pPr>
            <a:r>
              <a:rPr>
                <a:latin typeface="Calibri"/>
              </a:rPr>
              <a:t>No automatic mention detection</a:t>
            </a:r>
          </a:p>
          <a:p>
            <a:pPr>
              <a:defRPr sz="2000"/>
            </a:pPr>
            <a:r>
              <a:rPr>
                <a:latin typeface="Calibri"/>
              </a:rPr>
              <a:t>Logistic Regression has limited modeling capacity</a:t>
            </a:r>
          </a:p>
          <a:p>
            <a:pPr>
              <a:defRPr sz="2000"/>
            </a:pPr>
            <a:r>
              <a:rPr>
                <a:latin typeface="Calibri"/>
              </a:rPr>
              <a:t>Union-Find may propagate clustering errors</a:t>
            </a:r>
          </a:p>
          <a:p>
            <a:pPr>
              <a:defRPr sz="2000"/>
            </a:pPr>
            <a:r>
              <a:rPr>
                <a:latin typeface="Calibri"/>
              </a:rPr>
              <a:t>No full CoNLL evaluation metrics implemented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rPr>
                <a:latin typeface="Calibri"/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Calibri"/>
              </a:rPr>
              <a:t>Automatic mention detection</a:t>
            </a:r>
          </a:p>
          <a:p>
            <a:pPr>
              <a:defRPr sz="2000"/>
            </a:pPr>
            <a:r>
              <a:rPr>
                <a:latin typeface="Calibri"/>
              </a:rPr>
              <a:t>Neural pairwise scorer / transformer fine-tuning</a:t>
            </a:r>
          </a:p>
          <a:p>
            <a:pPr>
              <a:defRPr sz="2000"/>
            </a:pPr>
            <a:r>
              <a:rPr>
                <a:latin typeface="Calibri"/>
              </a:rPr>
              <a:t>Larger and more diverse Hindi dataset</a:t>
            </a:r>
          </a:p>
          <a:p>
            <a:pPr>
              <a:defRPr sz="2000"/>
            </a:pPr>
            <a:r>
              <a:rPr>
                <a:latin typeface="Calibri"/>
              </a:rPr>
              <a:t>Morphological analyzer integration</a:t>
            </a:r>
          </a:p>
          <a:p>
            <a:pPr>
              <a:defRPr sz="2000"/>
            </a:pPr>
            <a:r>
              <a:rPr>
                <a:latin typeface="Calibri"/>
              </a:rPr>
              <a:t>Cross-lingual transfer learning and CoNLL evaluation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rPr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Calibri"/>
              </a:rPr>
              <a:t>Built a functional Hindi coreference pipeline for low-resource NLP</a:t>
            </a:r>
          </a:p>
          <a:p>
            <a:pPr>
              <a:defRPr sz="2000"/>
            </a:pPr>
            <a:r>
              <a:rPr>
                <a:latin typeface="Calibri"/>
              </a:rPr>
              <a:t>Demonstrated importance of pretrained Indic language models</a:t>
            </a:r>
          </a:p>
          <a:p>
            <a:pPr>
              <a:defRPr sz="2000"/>
            </a:pPr>
            <a:r>
              <a:rPr>
                <a:latin typeface="Calibri"/>
              </a:rPr>
              <a:t>Validated hybrid neural + linguistic feature approach</a:t>
            </a:r>
          </a:p>
          <a:p>
            <a:pPr>
              <a:defRPr sz="2000"/>
            </a:pPr>
            <a:r>
              <a:rPr>
                <a:latin typeface="Calibri"/>
              </a:rPr>
              <a:t>Provided dataset contribution and research insights</a:t>
            </a:r>
          </a:p>
          <a:p>
            <a:pPr>
              <a:defRPr sz="2000"/>
            </a:pPr>
            <a:r>
              <a:rPr>
                <a:latin typeface="Calibri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