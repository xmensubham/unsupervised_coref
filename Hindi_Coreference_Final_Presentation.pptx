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 type="custom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  <Relationship Id="rId19" Type="http://schemas.openxmlformats.org/officeDocument/2006/relationships/slide" Target="slides/slide18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  <Relationship Id="rId2"
    Type="http://schemas.openxmlformats.org/officeDocument/2006/relationships/theme"
   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 lang="en-US">
          <a:solidFill>
            <a:srgbClr val="FFFFFF"/>
          </a:solidFill>
          <a:latin typeface="Calibri"/>
        </a:defRPr>
      </a:lvl1pPr>
    </p:titleStyle>
    <p:bodyStyle>
      <a:lvl1pPr>
        <a:defRPr sz="1800" lang="en-US">
          <a:solidFill>
            <a:srgbClr val="D0E4F7"/>
          </a:solidFill>
          <a:latin typeface="Calibri"/>
        </a:defRPr>
      </a:lvl1pPr>
    </p:body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bg>
      <p:bgPr>
        <a:solidFill><a:srgbClr val="1A2E4A"/></a:solidFill>
        <a:effectLst/>
      </p:bgPr>
    </p:bg>
    <p:spTree>
      <p:nvGrpSpPr>
        <p:cNvPr id="1" name=""/>
        <p:cNvGrpSpPr/>
        <p:nvPr/>
      </p:nvGrpSpPr>
      <p:grpSpPr>
        <a:xfrm><a:off x="0" y="0"/><a:ext cx="12192000" cy="6858000"/><a:chOff x="0" y="0"/><a:chExt cx="12192000" cy="6858000"/></a:xfrm>
      </p:grpSpPr>
      
<p:sp>
  <p:nvSpPr>
    <p:cNvPr id="10" name="AccentStrip"/>
    <p:cNvSpPr><a:spLocks noGrp="1"/></p:cNvSpPr>
    <p:nvPr/>
  </p:nvSpPr>
  <p:spPr>
    <a:xfrm><a:off x="0" y="5303520"/><a:ext cx="12192000" cy="73152"/></a:xfrm>
    <a:prstGeom prst="rect"><a:avLst/></a:prstGeom>
    <a:solidFill><a:srgbClr val="00C9B1"/></a:solidFill>
    <a:ln><a:noFill/></a:ln>
  </p:spPr>
  <p:txBody><a:bodyPr/><a:lstStyle/><a:p/></p:txBody>
</p:sp>

<p:sp>
  <p:nvSpPr>
    <p:cNvPr id="11" name="BottomStrip"/>
    <p:cNvSpPr><a:spLocks noGrp="1"/></p:cNvSpPr>
    <p:nvPr/>
  </p:nvSpPr>
  <p:spPr>
    <a:xfrm><a:off x="0" y="6035040"/><a:ext cx="12192000" cy="822960"/></a:xfrm>
    <a:prstGeom prst="rect"><a:avLst/></a:prstGeom>
    <a:solidFill><a:srgbClr val="112238"/></a:solidFill>
    <a:ln><a:noFill/></a:ln>
  </p:spPr>
  <p:txBody><a:bodyPr/><a:lstStyle/><a:p/></p:txBody>
</p:sp>

<p:sp>
  <p:nvSpPr>
    <p:cNvPr id="12" name="GoldLine"/>
    <p:cNvSpPr><a:spLocks noGrp="1"/></p:cNvSpPr>
    <p:nvPr/>
  </p:nvSpPr>
  <p:spPr>
    <a:xfrm><a:off x="0" y="6025896"/><a:ext cx="4114800" cy="73152"/></a:xfrm>
    <a:prstGeom prst="rect"><a:avLst/></a:prstGeom>
    <a:solidFill><a:srgbClr val="F5A623"/></a:solidFill>
    <a:ln><a:noFill/></a:ln>
  </p:spPr>
  <p:txBody><a:bodyPr/><a:lstStyle/><a:p/></p:txBody>
</p:sp>

<p:sp>
  <p:nvSpPr>
    <p:cNvPr id="13" name="LeftBar"/>
    <p:cNvSpPr><a:spLocks noGrp="1"/></p:cNvSpPr>
    <p:nvPr/>
  </p:nvSpPr>
  <p:spPr>
    <a:xfrm><a:off x="0" y="0"/><a:ext cx="109728" cy="6858000"/></a:xfrm>
    <a:prstGeom prst="rect"><a:avLst/></a:prstGeom>
    <a:solidFill><a:srgbClr val="00C9B1"/></a:solidFill>
    <a:ln><a:noFill/></a:ln>
  </p:spPr>
  <p:txBody><a:bodyPr/><a:lstStyle/><a:p/></p:txBody>
</p:sp>

<p:sp>
  <p:nvSpPr>
    <p:cNvPr id="20" name="MainTitle"/>
    <p:cNvSpPr txBox="1"><a:spLocks noGrp="1"/></p:cNvSpPr>
    <p:nvPr/>
  </p:nvSpPr>
  <p:spPr>
    <a:xfrm><a:off x="457200" y="1097280"/><a:ext cx="10058400" cy="164592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4400" b="1" dirty="0">
          <a:solidFill><a:srgbClr val="FFFFFF"/></a:solidFill>
          <a:latin typeface="Calibri"/>
          <a:cs typeface="Nirmala UI"/>
        </a:rPr>
        <a:t>Hindi Coreference Resolution</a:t>
      </a:r>
    </a:p>
    <a:p>
      <a:pPr algn="l"></a:pPr>
      <a:r>
        <a:rPr lang="en-IN" sz="4400" b="1" dirty="0">
          <a:solidFill><a:srgbClr val="FFFFFF"/></a:solidFill>
          <a:latin typeface="Calibri"/>
          <a:cs typeface="Nirmala UI"/>
        </a:rPr>
        <a:t>for Low-Resource NLP</a:t>
      </a:r>
    </a:p>
    <a:p>
      <a:pPr algn="l"></a:pPr>
      <a:r>
        <a:rPr lang="en-IN" sz="3200" b="0" dirty="0">
          <a:solidFill><a:srgbClr val="00C9B1"/></a:solidFill>
          <a:latin typeface="Calibri"/>
          <a:cs typeface="Nirmala UI"/>
        </a:rPr>
        <a:t>Using Transformer-Based Hybrid Approaches</a:t>
      </a:r>
    </a:p>
  </p:txBody>
</p:sp>

<p:sp>
  <p:nvSpPr>
    <p:cNvPr id="21" name="SubTitle"/>
    <p:cNvSpPr txBox="1"><a:spLocks noGrp="1"/></p:cNvSpPr>
    <p:nvPr/>
  </p:nvSpPr>
  <p:spPr>
    <a:xfrm><a:off x="457200" y="3017520"/><a:ext cx="8229600" cy="45720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600" b="0" dirty="0">
          <a:solidFill><a:srgbClr val="D0E4F7"/></a:solidFill>
          <a:latin typeface="Calibri"/>
          <a:cs typeface="Nirmala UI"/>
        </a:rPr>
        <a:t>B.Tech Project Presentation — Department of CSE, CIT Kokrajhar</a:t>
      </a:r>
    </a:p>
  </p:txBody>
</p:sp>

<p:sp>
  <p:nvSpPr>
    <p:cNvPr id="22" name="Divider"/>
    <p:cNvSpPr><a:spLocks noGrp="1"/></p:cNvSpPr>
    <p:nvPr/>
  </p:nvSpPr>
  <p:spPr>
    <a:xfrm><a:off x="457200" y="3657600"/><a:ext cx="7315200" cy="45720"/></a:xfrm>
    <a:prstGeom prst="rect"><a:avLst/></a:prstGeom>
    <a:solidFill><a:srgbClr val="F5A623"/></a:solidFill>
    <a:ln><a:noFill/></a:ln>
  </p:spPr>
  <p:txBody><a:bodyPr/><a:lstStyle/><a:p/></p:txBody>
</p:sp>

<p:sp>
  <p:nvSpPr>
    <p:cNvPr id="30" name="TeamBox"/>
    <p:cNvSpPr><a:spLocks noGrp="1"/></p:cNvSpPr>
    <p:nvPr/>
  </p:nvSpPr>
  <p:spPr>
    <a:xfrm><a:off x="457200" y="3840480"/><a:ext cx="5303520" cy="1645920"/></a:xfrm>
    <a:prstGeom prst="roundRect"><a:avLst><a:gd name="adj" fmla="val 16667"/></a:avLst></a:prstGeom>
    <a:solidFill><a:srgbClr val="0D1B2E"/></a:solidFill>
    <a:ln w="12700"><a:solidFill><a:srgbClr val="00C9B1"/></a:solidFill></a:ln>
  </p:spPr>
  <p:txBody><a:bodyPr/><a:lstStyle/><a:p/></p:txBody>
</p:sp>

<p:sp>
  <p:nvSpPr>
    <p:cNvPr id="31" name="TeamLabel"/>
    <p:cNvSpPr txBox="1"><a:spLocks noGrp="1"/></p:cNvSpPr>
    <p:nvPr/>
  </p:nvSpPr>
  <p:spPr>
    <a:xfrm><a:off x="594360" y="3886200"/><a:ext cx="502920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000" b="1" dirty="0">
          <a:solidFill><a:srgbClr val="00C9B1"/></a:solidFill>
          <a:latin typeface="Calibri"/>
          <a:cs typeface="Nirmala UI"/>
        </a:rPr>
        <a:t>PRESENTED BY</a:t>
      </a:r>
    </a:p>
  </p:txBody>
</p:sp>

<p:sp>
  <p:nvSpPr>
    <p:cNvPr id="32" name="TeamNames"/>
    <p:cNvSpPr txBox="1"><a:spLocks noGrp="1"/></p:cNvSpPr>
    <p:nvPr/>
  </p:nvSpPr>
  <p:spPr>
    <a:xfrm><a:off x="594360" y="4251960"/><a:ext cx="5029200" cy="114300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500" b="0" dirty="0">
          <a:solidFill><a:srgbClr val="FFFFFF"/></a:solidFill>
          <a:latin typeface="Calibri"/>
          <a:cs typeface="Nirmala UI"/>
        </a:rPr>
        <a:t>Himraj Doley  •  Subham Saha  •  Mohd Zaid  •  Nipujyoti Rabha</a:t>
      </a:r>
    </a:p>
  </p:txBody>
</p:sp>

<p:sp>
  <p:nvSpPr>
    <p:cNvPr id="35" name="SupBox"/>
    <p:cNvSpPr><a:spLocks noGrp="1"/></p:cNvSpPr>
    <p:nvPr/>
  </p:nvSpPr>
  <p:spPr>
    <a:xfrm><a:off x="6035040" y="3840480"/><a:ext cx="4754880" cy="1645920"/></a:xfrm>
    <a:prstGeom prst="roundRect"><a:avLst><a:gd name="adj" fmla="val 16667"/></a:avLst></a:prstGeom>
    <a:solidFill><a:srgbClr val="0D1B2E"/></a:solidFill>
    <a:ln w="12700"><a:solidFill><a:srgbClr val="F5A623"/></a:solidFill></a:ln>
  </p:spPr>
  <p:txBody><a:bodyPr/><a:lstStyle/><a:p/></p:txBody>
</p:sp>

<p:sp>
  <p:nvSpPr>
    <p:cNvPr id="36" name="SupLabel"/>
    <p:cNvSpPr txBox="1"><a:spLocks noGrp="1"/></p:cNvSpPr>
    <p:nvPr/>
  </p:nvSpPr>
  <p:spPr>
    <a:xfrm><a:off x="6172200" y="3886200"/><a:ext cx="448056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000" b="1" dirty="0">
          <a:solidFill><a:srgbClr val="F5A623"/></a:solidFill>
          <a:latin typeface="Calibri"/>
          <a:cs typeface="Nirmala UI"/>
        </a:rPr>
        <a:t>SUPERVISOR</a:t>
      </a:r>
    </a:p>
  </p:txBody>
</p:sp>

<p:sp>
  <p:nvSpPr>
    <p:cNvPr id="37" name="SupName"/>
    <p:cNvSpPr txBox="1"><a:spLocks noGrp="1"/></p:cNvSpPr>
    <p:nvPr/>
  </p:nvSpPr>
  <p:spPr>
    <a:xfrm><a:off x="6172200" y="4251960"/><a:ext cx="4480560" cy="114300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700" b="0" dirty="0">
          <a:solidFill><a:srgbClr val="FFFFFF"/></a:solidFill>
          <a:latin typeface="Calibri"/>
          <a:cs typeface="Nirmala UI"/>
        </a:rPr>
        <a:t>Dr. Apurbalal Senapati</a:t>
      </a:r>
    </a:p>
  </p:txBody>
</p:sp>

<p:sp>
  <p:nvSpPr>
    <p:cNvPr id="40" name="FooterBg"/>
    <p:cNvSpPr><a:spLocks noGrp="1"/></p:cNvSpPr>
    <p:nvPr/>
  </p:nvSpPr>
  <p:spPr>
    <a:xfrm><a:off x="0" y="6126480"/><a:ext cx="12192000" cy="731520"/></a:xfrm>
    <a:prstGeom prst="rect"><a:avLst/></a:prstGeom>
    <a:solidFill><a:srgbClr val="112238"/></a:solidFill>
    <a:ln><a:noFill/></a:ln>
  </p:spPr>
  <p:txBody><a:bodyPr/><a:lstStyle/><a:p/></p:txBody>
</p:sp>

<p:sp>
  <p:nvSpPr>
    <p:cNvPr id="41" name="FooterTxt"/>
    <p:cNvSpPr txBox="1"><a:spLocks noGrp="1"/></p:cNvSpPr>
    <p:nvPr/>
  </p:nvSpPr>
  <p:spPr>
    <a:xfrm><a:off x="457200" y="6172200"/><a:ext cx="10058400" cy="548640"/></a:xfrm>
    <a:prstGeom prst="rect"><a:avLst/></a:prstGeom>
    <a:noFill/>
  </p:spPr>
  <p:txBody>
    <a:bodyPr wrap="square" anchor="t" autofit=""><a:normAutofit/></a:bodyPr>
    <a:lstStyle/>
    
    <a:p>
      <a:pPr algn="ctr"></a:pPr>
      <a:r>
        <a:rPr lang="en-IN" sz="1100" b="0" dirty="0">
          <a:solidFill><a:srgbClr val="8AAEC8"/></a:solidFill>
          <a:latin typeface="Calibri"/>
          <a:cs typeface="Nirmala UI"/>
        </a:rPr>
        <a:t>Department of Computer Science & Engineering  |  Central Institute of Technology Kokrajhar  |  2026</a:t>
      </a:r>
    </a:p>
  </p:txBody>
</p:sp>
    </p:spTree>
  </p:cSld>
  <p:clrMapOvr><a:masterClrMapping/></p:clrMapOvr>
</p:sld>
</file>

<file path=ppt/slides/slide2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bg>
      <p:bgPr>
        <a:solidFill><a:srgbClr val="1A2E4A"/></a:solidFill>
        <a:effectLst/>
      </p:bgPr>
    </p:bg>
    <p:spTree>
      <p:nvGrpSpPr>
        <p:cNvPr id="1" name=""/>
        <p:cNvGrpSpPr/>
        <p:nvPr/>
      </p:nvGrpSpPr>
      <p:grpSpPr>
        <a:xfrm><a:off x="0" y="0"/><a:ext cx="12192000" cy="6858000"/><a:chOff x="0" y="0"/><a:chExt cx="12192000" cy="6858000"/></a:xfrm>
      </p:grpSpPr>
      
<p:sp>
  <p:nvSpPr>
    <p:cNvPr id="10" name="TopBar"/>
    <p:cNvSpPr><a:spLocks noGrp="1"/></p:cNvSpPr>
    <p:nvPr/>
  </p:nvSpPr>
  <p:spPr>
    <a:xfrm><a:off x="0" y="0"/><a:ext cx="12192000" cy="1143000"/></a:xfrm>
    <a:prstGeom prst="rect"><a:avLst/></a:prstGeom>
    <a:solidFill><a:srgbClr val="112238"/></a:solidFill>
    <a:ln><a:noFill/></a:ln>
  </p:spPr>
  <p:txBody><a:bodyPr/><a:lstStyle/><a:p/></p:txBody>
</p:sp>

<p:sp>
  <p:nvSpPr>
    <p:cNvPr id="11" name="AccentLine"/>
    <p:cNvSpPr><a:spLocks noGrp="1"/></p:cNvSpPr>
    <p:nvPr/>
  </p:nvSpPr>
  <p:spPr>
    <a:xfrm><a:off x="0" y="1143000"/><a:ext cx="12192000" cy="54864"/></a:xfrm>
    <a:prstGeom prst="rect"><a:avLst/></a:prstGeom>
    <a:solidFill><a:srgbClr val="00C9B1"/></a:solidFill>
    <a:ln><a:noFill/></a:ln>
  </p:spPr>
  <p:txBody><a:bodyPr/><a:lstStyle/><a:p/></p:txBody>
</p:sp>

<p:sp>
  <p:nvSpPr>
    <p:cNvPr id="12" name="SlideTitle"/>
    <p:cNvSpPr txBox="1"><a:spLocks noGrp="1"/></p:cNvSpPr>
    <p:nvPr/>
  </p:nvSpPr>
  <p:spPr>
    <a:xfrm><a:off x="365760" y="109728"/><a:ext cx="10515600" cy="82296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3000" b="1" dirty="0">
          <a:solidFill><a:srgbClr val="FFFFFF"/></a:solidFill>
          <a:latin typeface="Calibri"/>
          <a:cs typeface="Nirmala UI"/>
        </a:rPr>
        <a:t>Table of Contents</a:t>
      </a:r>
    </a:p>
  </p:txBody>
</p:sp>

<p:sp>
  <p:nvSpPr>
    <p:cNvPr id="13" name="SlideSubtitle"/>
    <p:cNvSpPr txBox="1"><a:spLocks noGrp="1"/></p:cNvSpPr>
    <p:nvPr/>
  </p:nvSpPr>
  <p:spPr>
    <a:xfrm><a:off x="365760" y="777240"/><a:ext cx="9144000" cy="36576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00C9B1"/></a:solidFill>
          <a:latin typeface="Calibri"/>
          <a:cs typeface="Nirmala UI"/>
        </a:rPr>
        <a:t>Research Presentation Agenda</a:t>
      </a:r>
    </a:p>
  </p:txBody>
</p:sp>

<p:sp>
  <p:nvSpPr>
    <p:cNvPr id="14" name="LNum0"/>
    <p:cNvSpPr><a:spLocks noGrp="1"/></p:cNvSpPr>
    <p:nvPr/>
  </p:nvSpPr>
  <p:spPr>
    <a:xfrm><a:off x="320040" y="1417320"/><a:ext cx="457200" cy="347472"/></a:xfrm>
    <a:prstGeom prst="roundRect"><a:avLst><a:gd name="adj" fmla="val 50000"/></a:avLst></a:prstGeom>
    <a:solidFill><a:srgbClr val="00C9B1"/></a:solidFill>
    <a:ln><a:noFill/></a:ln>
  </p:spPr>
  <p:txBody><a:bodyPr/><a:lstStyle/><a:p/></p:txBody>
</p:sp>

<p:sp>
  <p:nvSpPr>
    <p:cNvPr id="15" name="LN0"/>
    <p:cNvSpPr txBox="1"><a:spLocks noGrp="1"/></p:cNvSpPr>
    <p:nvPr/>
  </p:nvSpPr>
  <p:spPr>
    <a:xfrm><a:off x="329184" y="1435608"/><a:ext cx="438912" cy="329184"/></a:xfrm>
    <a:prstGeom prst="rect"><a:avLst/></a:prstGeom>
    <a:noFill/>
  </p:spPr>
  <p:txBody>
    <a:bodyPr wrap="square" anchor="t" autofit=""><a:normAutofit/></a:bodyPr>
    <a:lstStyle/>
    
    <a:p>
      <a:pPr algn="ctr"></a:pPr>
      <a:r>
        <a:rPr lang="en-IN" sz="1400" b="1" dirty="0">
          <a:solidFill><a:srgbClr val="1A2E4A"/></a:solidFill>
          <a:latin typeface="Calibri"/>
          <a:cs typeface="Nirmala UI"/>
        </a:rPr>
        <a:t>01</a:t>
      </a:r>
    </a:p>
  </p:txBody>
</p:sp>

<p:sp>
  <p:nvSpPr>
    <p:cNvPr id="16" name="LT0"/>
    <p:cNvSpPr txBox="1"><a:spLocks noGrp="1"/></p:cNvSpPr>
    <p:nvPr/>
  </p:nvSpPr>
  <p:spPr>
    <a:xfrm><a:off x="868680" y="1435608"/><a:ext cx="457200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D0E4F7"/></a:solidFill>
          <a:latin typeface="Calibri"/>
          <a:cs typeface="Nirmala UI"/>
        </a:rPr>
        <a:t>Introduction & Problem Statement</a:t>
      </a:r>
    </a:p>
  </p:txBody>
</p:sp>

<p:sp>
  <p:nvSpPr>
    <p:cNvPr id="17" name="LNum1"/>
    <p:cNvSpPr><a:spLocks noGrp="1"/></p:cNvSpPr>
    <p:nvPr/>
  </p:nvSpPr>
  <p:spPr>
    <a:xfrm><a:off x="320040" y="1892808"/><a:ext cx="457200" cy="347472"/></a:xfrm>
    <a:prstGeom prst="roundRect"><a:avLst><a:gd name="adj" fmla="val 50000"/></a:avLst></a:prstGeom>
    <a:solidFill><a:srgbClr val="00C9B1"/></a:solidFill>
    <a:ln><a:noFill/></a:ln>
  </p:spPr>
  <p:txBody><a:bodyPr/><a:lstStyle/><a:p/></p:txBody>
</p:sp>

<p:sp>
  <p:nvSpPr>
    <p:cNvPr id="18" name="LN1"/>
    <p:cNvSpPr txBox="1"><a:spLocks noGrp="1"/></p:cNvSpPr>
    <p:nvPr/>
  </p:nvSpPr>
  <p:spPr>
    <a:xfrm><a:off x="329184" y="1911096"/><a:ext cx="438912" cy="329184"/></a:xfrm>
    <a:prstGeom prst="rect"><a:avLst/></a:prstGeom>
    <a:noFill/>
  </p:spPr>
  <p:txBody>
    <a:bodyPr wrap="square" anchor="t" autofit=""><a:normAutofit/></a:bodyPr>
    <a:lstStyle/>
    
    <a:p>
      <a:pPr algn="ctr"></a:pPr>
      <a:r>
        <a:rPr lang="en-IN" sz="1400" b="1" dirty="0">
          <a:solidFill><a:srgbClr val="1A2E4A"/></a:solidFill>
          <a:latin typeface="Calibri"/>
          <a:cs typeface="Nirmala UI"/>
        </a:rPr>
        <a:t>02</a:t>
      </a:r>
    </a:p>
  </p:txBody>
</p:sp>

<p:sp>
  <p:nvSpPr>
    <p:cNvPr id="19" name="LT1"/>
    <p:cNvSpPr txBox="1"><a:spLocks noGrp="1"/></p:cNvSpPr>
    <p:nvPr/>
  </p:nvSpPr>
  <p:spPr>
    <a:xfrm><a:off x="868680" y="1911096"/><a:ext cx="457200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D0E4F7"/></a:solidFill>
          <a:latin typeface="Calibri"/>
          <a:cs typeface="Nirmala UI"/>
        </a:rPr>
        <a:t>Motivation & Objectives</a:t>
      </a:r>
    </a:p>
  </p:txBody>
</p:sp>

<p:sp>
  <p:nvSpPr>
    <p:cNvPr id="20" name="LNum2"/>
    <p:cNvSpPr><a:spLocks noGrp="1"/></p:cNvSpPr>
    <p:nvPr/>
  </p:nvSpPr>
  <p:spPr>
    <a:xfrm><a:off x="320040" y="2368296"/><a:ext cx="457200" cy="347472"/></a:xfrm>
    <a:prstGeom prst="roundRect"><a:avLst><a:gd name="adj" fmla="val 50000"/></a:avLst></a:prstGeom>
    <a:solidFill><a:srgbClr val="00C9B1"/></a:solidFill>
    <a:ln><a:noFill/></a:ln>
  </p:spPr>
  <p:txBody><a:bodyPr/><a:lstStyle/><a:p/></p:txBody>
</p:sp>

<p:sp>
  <p:nvSpPr>
    <p:cNvPr id="21" name="LN2"/>
    <p:cNvSpPr txBox="1"><a:spLocks noGrp="1"/></p:cNvSpPr>
    <p:nvPr/>
  </p:nvSpPr>
  <p:spPr>
    <a:xfrm><a:off x="329184" y="2386584"/><a:ext cx="438912" cy="329184"/></a:xfrm>
    <a:prstGeom prst="rect"><a:avLst/></a:prstGeom>
    <a:noFill/>
  </p:spPr>
  <p:txBody>
    <a:bodyPr wrap="square" anchor="t" autofit=""><a:normAutofit/></a:bodyPr>
    <a:lstStyle/>
    
    <a:p>
      <a:pPr algn="ctr"></a:pPr>
      <a:r>
        <a:rPr lang="en-IN" sz="1400" b="1" dirty="0">
          <a:solidFill><a:srgbClr val="1A2E4A"/></a:solidFill>
          <a:latin typeface="Calibri"/>
          <a:cs typeface="Nirmala UI"/>
        </a:rPr>
        <a:t>03</a:t>
      </a:r>
    </a:p>
  </p:txBody>
</p:sp>

<p:sp>
  <p:nvSpPr>
    <p:cNvPr id="22" name="LT2"/>
    <p:cNvSpPr txBox="1"><a:spLocks noGrp="1"/></p:cNvSpPr>
    <p:nvPr/>
  </p:nvSpPr>
  <p:spPr>
    <a:xfrm><a:off x="868680" y="2386584"/><a:ext cx="457200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D0E4F7"/></a:solidFill>
          <a:latin typeface="Calibri"/>
          <a:cs typeface="Nirmala UI"/>
        </a:rPr>
        <a:t>Literature Review</a:t>
      </a:r>
    </a:p>
  </p:txBody>
</p:sp>

<p:sp>
  <p:nvSpPr>
    <p:cNvPr id="23" name="LNum3"/>
    <p:cNvSpPr><a:spLocks noGrp="1"/></p:cNvSpPr>
    <p:nvPr/>
  </p:nvSpPr>
  <p:spPr>
    <a:xfrm><a:off x="320040" y="2843784"/><a:ext cx="457200" cy="347472"/></a:xfrm>
    <a:prstGeom prst="roundRect"><a:avLst><a:gd name="adj" fmla="val 50000"/></a:avLst></a:prstGeom>
    <a:solidFill><a:srgbClr val="00C9B1"/></a:solidFill>
    <a:ln><a:noFill/></a:ln>
  </p:spPr>
  <p:txBody><a:bodyPr/><a:lstStyle/><a:p/></p:txBody>
</p:sp>

<p:sp>
  <p:nvSpPr>
    <p:cNvPr id="24" name="LN3"/>
    <p:cNvSpPr txBox="1"><a:spLocks noGrp="1"/></p:cNvSpPr>
    <p:nvPr/>
  </p:nvSpPr>
  <p:spPr>
    <a:xfrm><a:off x="329184" y="2862072"/><a:ext cx="438912" cy="329184"/></a:xfrm>
    <a:prstGeom prst="rect"><a:avLst/></a:prstGeom>
    <a:noFill/>
  </p:spPr>
  <p:txBody>
    <a:bodyPr wrap="square" anchor="t" autofit=""><a:normAutofit/></a:bodyPr>
    <a:lstStyle/>
    
    <a:p>
      <a:pPr algn="ctr"></a:pPr>
      <a:r>
        <a:rPr lang="en-IN" sz="1400" b="1" dirty="0">
          <a:solidFill><a:srgbClr val="1A2E4A"/></a:solidFill>
          <a:latin typeface="Calibri"/>
          <a:cs typeface="Nirmala UI"/>
        </a:rPr>
        <a:t>04</a:t>
      </a:r>
    </a:p>
  </p:txBody>
</p:sp>

<p:sp>
  <p:nvSpPr>
    <p:cNvPr id="25" name="LT3"/>
    <p:cNvSpPr txBox="1"><a:spLocks noGrp="1"/></p:cNvSpPr>
    <p:nvPr/>
  </p:nvSpPr>
  <p:spPr>
    <a:xfrm><a:off x="868680" y="2862072"/><a:ext cx="457200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D0E4F7"/></a:solidFill>
          <a:latin typeface="Calibri"/>
          <a:cs typeface="Nirmala UI"/>
        </a:rPr>
        <a:t>Dataset Description</a:t>
      </a:r>
    </a:p>
  </p:txBody>
</p:sp>

<p:sp>
  <p:nvSpPr>
    <p:cNvPr id="26" name="LNum4"/>
    <p:cNvSpPr><a:spLocks noGrp="1"/></p:cNvSpPr>
    <p:nvPr/>
  </p:nvSpPr>
  <p:spPr>
    <a:xfrm><a:off x="320040" y="3319272"/><a:ext cx="457200" cy="347472"/></a:xfrm>
    <a:prstGeom prst="roundRect"><a:avLst><a:gd name="adj" fmla="val 50000"/></a:avLst></a:prstGeom>
    <a:solidFill><a:srgbClr val="00C9B1"/></a:solidFill>
    <a:ln><a:noFill/></a:ln>
  </p:spPr>
  <p:txBody><a:bodyPr/><a:lstStyle/><a:p/></p:txBody>
</p:sp>

<p:sp>
  <p:nvSpPr>
    <p:cNvPr id="27" name="LN4"/>
    <p:cNvSpPr txBox="1"><a:spLocks noGrp="1"/></p:cNvSpPr>
    <p:nvPr/>
  </p:nvSpPr>
  <p:spPr>
    <a:xfrm><a:off x="329184" y="3337560"/><a:ext cx="438912" cy="329184"/></a:xfrm>
    <a:prstGeom prst="rect"><a:avLst/></a:prstGeom>
    <a:noFill/>
  </p:spPr>
  <p:txBody>
    <a:bodyPr wrap="square" anchor="t" autofit=""><a:normAutofit/></a:bodyPr>
    <a:lstStyle/>
    
    <a:p>
      <a:pPr algn="ctr"></a:pPr>
      <a:r>
        <a:rPr lang="en-IN" sz="1400" b="1" dirty="0">
          <a:solidFill><a:srgbClr val="1A2E4A"/></a:solidFill>
          <a:latin typeface="Calibri"/>
          <a:cs typeface="Nirmala UI"/>
        </a:rPr>
        <a:t>05</a:t>
      </a:r>
    </a:p>
  </p:txBody>
</p:sp>

<p:sp>
  <p:nvSpPr>
    <p:cNvPr id="28" name="LT4"/>
    <p:cNvSpPr txBox="1"><a:spLocks noGrp="1"/></p:cNvSpPr>
    <p:nvPr/>
  </p:nvSpPr>
  <p:spPr>
    <a:xfrm><a:off x="868680" y="3337560"/><a:ext cx="457200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D0E4F7"/></a:solidFill>
          <a:latin typeface="Calibri"/>
          <a:cs typeface="Nirmala UI"/>
        </a:rPr>
        <a:t>Phase 1 Methodology</a:t>
      </a:r>
    </a:p>
  </p:txBody>
</p:sp>

<p:sp>
  <p:nvSpPr>
    <p:cNvPr id="29" name="LNum5"/>
    <p:cNvSpPr><a:spLocks noGrp="1"/></p:cNvSpPr>
    <p:nvPr/>
  </p:nvSpPr>
  <p:spPr>
    <a:xfrm><a:off x="320040" y="3794760"/><a:ext cx="457200" cy="347472"/></a:xfrm>
    <a:prstGeom prst="roundRect"><a:avLst><a:gd name="adj" fmla="val 50000"/></a:avLst></a:prstGeom>
    <a:solidFill><a:srgbClr val="00C9B1"/></a:solidFill>
    <a:ln><a:noFill/></a:ln>
  </p:spPr>
  <p:txBody><a:bodyPr/><a:lstStyle/><a:p/></p:txBody>
</p:sp>

<p:sp>
  <p:nvSpPr>
    <p:cNvPr id="30" name="LN5"/>
    <p:cNvSpPr txBox="1"><a:spLocks noGrp="1"/></p:cNvSpPr>
    <p:nvPr/>
  </p:nvSpPr>
  <p:spPr>
    <a:xfrm><a:off x="329184" y="3813048"/><a:ext cx="438912" cy="329184"/></a:xfrm>
    <a:prstGeom prst="rect"><a:avLst/></a:prstGeom>
    <a:noFill/>
  </p:spPr>
  <p:txBody>
    <a:bodyPr wrap="square" anchor="t" autofit=""><a:normAutofit/></a:bodyPr>
    <a:lstStyle/>
    
    <a:p>
      <a:pPr algn="ctr"></a:pPr>
      <a:r>
        <a:rPr lang="en-IN" sz="1400" b="1" dirty="0">
          <a:solidFill><a:srgbClr val="1A2E4A"/></a:solidFill>
          <a:latin typeface="Calibri"/>
          <a:cs typeface="Nirmala UI"/>
        </a:rPr>
        <a:t>06</a:t>
      </a:r>
    </a:p>
  </p:txBody>
</p:sp>

<p:sp>
  <p:nvSpPr>
    <p:cNvPr id="31" name="LT5"/>
    <p:cNvSpPr txBox="1"><a:spLocks noGrp="1"/></p:cNvSpPr>
    <p:nvPr/>
  </p:nvSpPr>
  <p:spPr>
    <a:xfrm><a:off x="868680" y="3813048"/><a:ext cx="457200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D0E4F7"/></a:solidFill>
          <a:latin typeface="Calibri"/>
          <a:cs typeface="Nirmala UI"/>
        </a:rPr>
        <a:t>Phase 1: Challenges</a:t>
      </a:r>
    </a:p>
  </p:txBody>
</p:sp>

<p:sp>
  <p:nvSpPr>
    <p:cNvPr id="32" name="LNum6"/>
    <p:cNvSpPr><a:spLocks noGrp="1"/></p:cNvSpPr>
    <p:nvPr/>
  </p:nvSpPr>
  <p:spPr>
    <a:xfrm><a:off x="320040" y="4270248"/><a:ext cx="457200" cy="347472"/></a:xfrm>
    <a:prstGeom prst="roundRect"><a:avLst><a:gd name="adj" fmla="val 50000"/></a:avLst></a:prstGeom>
    <a:solidFill><a:srgbClr val="00C9B1"/></a:solidFill>
    <a:ln><a:noFill/></a:ln>
  </p:spPr>
  <p:txBody><a:bodyPr/><a:lstStyle/><a:p/></p:txBody>
</p:sp>

<p:sp>
  <p:nvSpPr>
    <p:cNvPr id="33" name="LN6"/>
    <p:cNvSpPr txBox="1"><a:spLocks noGrp="1"/></p:cNvSpPr>
    <p:nvPr/>
  </p:nvSpPr>
  <p:spPr>
    <a:xfrm><a:off x="329184" y="4288536"/><a:ext cx="438912" cy="329184"/></a:xfrm>
    <a:prstGeom prst="rect"><a:avLst/></a:prstGeom>
    <a:noFill/>
  </p:spPr>
  <p:txBody>
    <a:bodyPr wrap="square" anchor="t" autofit=""><a:normAutofit/></a:bodyPr>
    <a:lstStyle/>
    
    <a:p>
      <a:pPr algn="ctr"></a:pPr>
      <a:r>
        <a:rPr lang="en-IN" sz="1400" b="1" dirty="0">
          <a:solidFill><a:srgbClr val="1A2E4A"/></a:solidFill>
          <a:latin typeface="Calibri"/>
          <a:cs typeface="Nirmala UI"/>
        </a:rPr>
        <a:t>07</a:t>
      </a:r>
    </a:p>
  </p:txBody>
</p:sp>

<p:sp>
  <p:nvSpPr>
    <p:cNvPr id="34" name="LT6"/>
    <p:cNvSpPr txBox="1"><a:spLocks noGrp="1"/></p:cNvSpPr>
    <p:nvPr/>
  </p:nvSpPr>
  <p:spPr>
    <a:xfrm><a:off x="868680" y="4288536"/><a:ext cx="457200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D0E4F7"/></a:solidFill>
          <a:latin typeface="Calibri"/>
          <a:cs typeface="Nirmala UI"/>
        </a:rPr>
        <a:t>Phase 2 Hybrid Architecture</a:t>
      </a:r>
    </a:p>
  </p:txBody>
</p:sp>

<p:sp>
  <p:nvSpPr>
    <p:cNvPr id="35" name="LNum7"/>
    <p:cNvSpPr><a:spLocks noGrp="1"/></p:cNvSpPr>
    <p:nvPr/>
  </p:nvSpPr>
  <p:spPr>
    <a:xfrm><a:off x="320040" y="4745736"/><a:ext cx="457200" cy="347472"/></a:xfrm>
    <a:prstGeom prst="roundRect"><a:avLst><a:gd name="adj" fmla="val 50000"/></a:avLst></a:prstGeom>
    <a:solidFill><a:srgbClr val="00C9B1"/></a:solidFill>
    <a:ln><a:noFill/></a:ln>
  </p:spPr>
  <p:txBody><a:bodyPr/><a:lstStyle/><a:p/></p:txBody>
</p:sp>

<p:sp>
  <p:nvSpPr>
    <p:cNvPr id="36" name="LN7"/>
    <p:cNvSpPr txBox="1"><a:spLocks noGrp="1"/></p:cNvSpPr>
    <p:nvPr/>
  </p:nvSpPr>
  <p:spPr>
    <a:xfrm><a:off x="329184" y="4764024"/><a:ext cx="438912" cy="329184"/></a:xfrm>
    <a:prstGeom prst="rect"><a:avLst/></a:prstGeom>
    <a:noFill/>
  </p:spPr>
  <p:txBody>
    <a:bodyPr wrap="square" anchor="t" autofit=""><a:normAutofit/></a:bodyPr>
    <a:lstStyle/>
    
    <a:p>
      <a:pPr algn="ctr"></a:pPr>
      <a:r>
        <a:rPr lang="en-IN" sz="1400" b="1" dirty="0">
          <a:solidFill><a:srgbClr val="1A2E4A"/></a:solidFill>
          <a:latin typeface="Calibri"/>
          <a:cs typeface="Nirmala UI"/>
        </a:rPr>
        <a:t>08</a:t>
      </a:r>
    </a:p>
  </p:txBody>
</p:sp>

<p:sp>
  <p:nvSpPr>
    <p:cNvPr id="37" name="LT7"/>
    <p:cNvSpPr txBox="1"><a:spLocks noGrp="1"/></p:cNvSpPr>
    <p:nvPr/>
  </p:nvSpPr>
  <p:spPr>
    <a:xfrm><a:off x="868680" y="4764024"/><a:ext cx="457200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D0E4F7"/></a:solidFill>
          <a:latin typeface="Calibri"/>
          <a:cs typeface="Nirmala UI"/>
        </a:rPr>
        <a:t>System Pipeline</a:t>
      </a:r>
    </a:p>
  </p:txBody>
</p:sp>

<p:sp>
  <p:nvSpPr>
    <p:cNvPr id="38" name="LNum8"/>
    <p:cNvSpPr><a:spLocks noGrp="1"/></p:cNvSpPr>
    <p:nvPr/>
  </p:nvSpPr>
  <p:spPr>
    <a:xfrm><a:off x="320040" y="5221224"/><a:ext cx="457200" cy="347472"/></a:xfrm>
    <a:prstGeom prst="roundRect"><a:avLst><a:gd name="adj" fmla="val 50000"/></a:avLst></a:prstGeom>
    <a:solidFill><a:srgbClr val="00C9B1"/></a:solidFill>
    <a:ln><a:noFill/></a:ln>
  </p:spPr>
  <p:txBody><a:bodyPr/><a:lstStyle/><a:p/></p:txBody>
</p:sp>

<p:sp>
  <p:nvSpPr>
    <p:cNvPr id="39" name="LN8"/>
    <p:cNvSpPr txBox="1"><a:spLocks noGrp="1"/></p:cNvSpPr>
    <p:nvPr/>
  </p:nvSpPr>
  <p:spPr>
    <a:xfrm><a:off x="329184" y="5239512"/><a:ext cx="438912" cy="329184"/></a:xfrm>
    <a:prstGeom prst="rect"><a:avLst/></a:prstGeom>
    <a:noFill/>
  </p:spPr>
  <p:txBody>
    <a:bodyPr wrap="square" anchor="t" autofit=""><a:normAutofit/></a:bodyPr>
    <a:lstStyle/>
    
    <a:p>
      <a:pPr algn="ctr"></a:pPr>
      <a:r>
        <a:rPr lang="en-IN" sz="1400" b="1" dirty="0">
          <a:solidFill><a:srgbClr val="1A2E4A"/></a:solidFill>
          <a:latin typeface="Calibri"/>
          <a:cs typeface="Nirmala UI"/>
        </a:rPr>
        <a:t>09</a:t>
      </a:r>
    </a:p>
  </p:txBody>
</p:sp>

<p:sp>
  <p:nvSpPr>
    <p:cNvPr id="40" name="LT8"/>
    <p:cNvSpPr txBox="1"><a:spLocks noGrp="1"/></p:cNvSpPr>
    <p:nvPr/>
  </p:nvSpPr>
  <p:spPr>
    <a:xfrm><a:off x="868680" y="5239512"/><a:ext cx="457200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D0E4F7"/></a:solidFill>
          <a:latin typeface="Calibri"/>
          <a:cs typeface="Nirmala UI"/>
        </a:rPr>
        <a:t>Implementation Details</a:t>
      </a:r>
    </a:p>
  </p:txBody>
</p:sp>

<p:sp>
  <p:nvSpPr>
    <p:cNvPr id="41" name="RNum0"/>
    <p:cNvSpPr><a:spLocks noGrp="1"/></p:cNvSpPr>
    <p:nvPr/>
  </p:nvSpPr>
  <p:spPr>
    <a:xfrm><a:off x="5943600" y="1417320"/><a:ext cx="457200" cy="347472"/></a:xfrm>
    <a:prstGeom prst="roundRect"><a:avLst><a:gd name="adj" fmla="val 50000"/></a:avLst></a:prstGeom>
    <a:solidFill><a:srgbClr val="F5A623"/></a:solidFill>
    <a:ln><a:noFill/></a:ln>
  </p:spPr>
  <p:txBody><a:bodyPr/><a:lstStyle/><a:p/></p:txBody>
</p:sp>

<p:sp>
  <p:nvSpPr>
    <p:cNvPr id="42" name="RN0"/>
    <p:cNvSpPr txBox="1"><a:spLocks noGrp="1"/></p:cNvSpPr>
    <p:nvPr/>
  </p:nvSpPr>
  <p:spPr>
    <a:xfrm><a:off x="5952744" y="1435608"/><a:ext cx="438912" cy="329184"/></a:xfrm>
    <a:prstGeom prst="rect"><a:avLst/></a:prstGeom>
    <a:noFill/>
  </p:spPr>
  <p:txBody>
    <a:bodyPr wrap="square" anchor="t" autofit=""><a:normAutofit/></a:bodyPr>
    <a:lstStyle/>
    
    <a:p>
      <a:pPr algn="ctr"></a:pPr>
      <a:r>
        <a:rPr lang="en-IN" sz="1400" b="1" dirty="0">
          <a:solidFill><a:srgbClr val="1A2E4A"/></a:solidFill>
          <a:latin typeface="Calibri"/>
          <a:cs typeface="Nirmala UI"/>
        </a:rPr>
        <a:t>10</a:t>
      </a:r>
    </a:p>
  </p:txBody>
</p:sp>

<p:sp>
  <p:nvSpPr>
    <p:cNvPr id="43" name="RT0"/>
    <p:cNvSpPr txBox="1"><a:spLocks noGrp="1"/></p:cNvSpPr>
    <p:nvPr/>
  </p:nvSpPr>
  <p:spPr>
    <a:xfrm><a:off x="6492240" y="1435608"/><a:ext cx="457200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D0E4F7"/></a:solidFill>
          <a:latin typeface="Calibri"/>
          <a:cs typeface="Nirmala UI"/>
        </a:rPr>
        <a:t>Experimental Results</a:t>
      </a:r>
    </a:p>
  </p:txBody>
</p:sp>

<p:sp>
  <p:nvSpPr>
    <p:cNvPr id="44" name="RNum1"/>
    <p:cNvSpPr><a:spLocks noGrp="1"/></p:cNvSpPr>
    <p:nvPr/>
  </p:nvSpPr>
  <p:spPr>
    <a:xfrm><a:off x="5943600" y="1892808"/><a:ext cx="457200" cy="347472"/></a:xfrm>
    <a:prstGeom prst="roundRect"><a:avLst><a:gd name="adj" fmla="val 50000"/></a:avLst></a:prstGeom>
    <a:solidFill><a:srgbClr val="F5A623"/></a:solidFill>
    <a:ln><a:noFill/></a:ln>
  </p:spPr>
  <p:txBody><a:bodyPr/><a:lstStyle/><a:p/></p:txBody>
</p:sp>

<p:sp>
  <p:nvSpPr>
    <p:cNvPr id="45" name="RN1"/>
    <p:cNvSpPr txBox="1"><a:spLocks noGrp="1"/></p:cNvSpPr>
    <p:nvPr/>
  </p:nvSpPr>
  <p:spPr>
    <a:xfrm><a:off x="5952744" y="1911096"/><a:ext cx="438912" cy="329184"/></a:xfrm>
    <a:prstGeom prst="rect"><a:avLst/></a:prstGeom>
    <a:noFill/>
  </p:spPr>
  <p:txBody>
    <a:bodyPr wrap="square" anchor="t" autofit=""><a:normAutofit/></a:bodyPr>
    <a:lstStyle/>
    
    <a:p>
      <a:pPr algn="ctr"></a:pPr>
      <a:r>
        <a:rPr lang="en-IN" sz="1400" b="1" dirty="0">
          <a:solidFill><a:srgbClr val="1A2E4A"/></a:solidFill>
          <a:latin typeface="Calibri"/>
          <a:cs typeface="Nirmala UI"/>
        </a:rPr>
        <a:t>11</a:t>
      </a:r>
    </a:p>
  </p:txBody>
</p:sp>

<p:sp>
  <p:nvSpPr>
    <p:cNvPr id="46" name="RT1"/>
    <p:cNvSpPr txBox="1"><a:spLocks noGrp="1"/></p:cNvSpPr>
    <p:nvPr/>
  </p:nvSpPr>
  <p:spPr>
    <a:xfrm><a:off x="6492240" y="1911096"/><a:ext cx="457200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D0E4F7"/></a:solidFill>
          <a:latin typeface="Calibri"/>
          <a:cs typeface="Nirmala UI"/>
        </a:rPr>
        <a:t>Example Output</a:t>
      </a:r>
    </a:p>
  </p:txBody>
</p:sp>

<p:sp>
  <p:nvSpPr>
    <p:cNvPr id="47" name="RNum2"/>
    <p:cNvSpPr><a:spLocks noGrp="1"/></p:cNvSpPr>
    <p:nvPr/>
  </p:nvSpPr>
  <p:spPr>
    <a:xfrm><a:off x="5943600" y="2368296"/><a:ext cx="457200" cy="347472"/></a:xfrm>
    <a:prstGeom prst="roundRect"><a:avLst><a:gd name="adj" fmla="val 50000"/></a:avLst></a:prstGeom>
    <a:solidFill><a:srgbClr val="F5A623"/></a:solidFill>
    <a:ln><a:noFill/></a:ln>
  </p:spPr>
  <p:txBody><a:bodyPr/><a:lstStyle/><a:p/></p:txBody>
</p:sp>

<p:sp>
  <p:nvSpPr>
    <p:cNvPr id="48" name="RN2"/>
    <p:cNvSpPr txBox="1"><a:spLocks noGrp="1"/></p:cNvSpPr>
    <p:nvPr/>
  </p:nvSpPr>
  <p:spPr>
    <a:xfrm><a:off x="5952744" y="2386584"/><a:ext cx="438912" cy="329184"/></a:xfrm>
    <a:prstGeom prst="rect"><a:avLst/></a:prstGeom>
    <a:noFill/>
  </p:spPr>
  <p:txBody>
    <a:bodyPr wrap="square" anchor="t" autofit=""><a:normAutofit/></a:bodyPr>
    <a:lstStyle/>
    
    <a:p>
      <a:pPr algn="ctr"></a:pPr>
      <a:r>
        <a:rPr lang="en-IN" sz="1400" b="1" dirty="0">
          <a:solidFill><a:srgbClr val="1A2E4A"/></a:solidFill>
          <a:latin typeface="Calibri"/>
          <a:cs typeface="Nirmala UI"/>
        </a:rPr>
        <a:t>12</a:t>
      </a:r>
    </a:p>
  </p:txBody>
</p:sp>

<p:sp>
  <p:nvSpPr>
    <p:cNvPr id="49" name="RT2"/>
    <p:cNvSpPr txBox="1"><a:spLocks noGrp="1"/></p:cNvSpPr>
    <p:nvPr/>
  </p:nvSpPr>
  <p:spPr>
    <a:xfrm><a:off x="6492240" y="2386584"/><a:ext cx="457200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D0E4F7"/></a:solidFill>
          <a:latin typeface="Calibri"/>
          <a:cs typeface="Nirmala UI"/>
        </a:rPr>
        <a:t>Evaluation Metrics</a:t>
      </a:r>
    </a:p>
  </p:txBody>
</p:sp>

<p:sp>
  <p:nvSpPr>
    <p:cNvPr id="50" name="RNum3"/>
    <p:cNvSpPr><a:spLocks noGrp="1"/></p:cNvSpPr>
    <p:nvPr/>
  </p:nvSpPr>
  <p:spPr>
    <a:xfrm><a:off x="5943600" y="2843784"/><a:ext cx="457200" cy="347472"/></a:xfrm>
    <a:prstGeom prst="roundRect"><a:avLst><a:gd name="adj" fmla="val 50000"/></a:avLst></a:prstGeom>
    <a:solidFill><a:srgbClr val="F5A623"/></a:solidFill>
    <a:ln><a:noFill/></a:ln>
  </p:spPr>
  <p:txBody><a:bodyPr/><a:lstStyle/><a:p/></p:txBody>
</p:sp>

<p:sp>
  <p:nvSpPr>
    <p:cNvPr id="51" name="RN3"/>
    <p:cNvSpPr txBox="1"><a:spLocks noGrp="1"/></p:cNvSpPr>
    <p:nvPr/>
  </p:nvSpPr>
  <p:spPr>
    <a:xfrm><a:off x="5952744" y="2862072"/><a:ext cx="438912" cy="329184"/></a:xfrm>
    <a:prstGeom prst="rect"><a:avLst/></a:prstGeom>
    <a:noFill/>
  </p:spPr>
  <p:txBody>
    <a:bodyPr wrap="square" anchor="t" autofit=""><a:normAutofit/></a:bodyPr>
    <a:lstStyle/>
    
    <a:p>
      <a:pPr algn="ctr"></a:pPr>
      <a:r>
        <a:rPr lang="en-IN" sz="1400" b="1" dirty="0">
          <a:solidFill><a:srgbClr val="1A2E4A"/></a:solidFill>
          <a:latin typeface="Calibri"/>
          <a:cs typeface="Nirmala UI"/>
        </a:rPr>
        <a:t>13</a:t>
      </a:r>
    </a:p>
  </p:txBody>
</p:sp>

<p:sp>
  <p:nvSpPr>
    <p:cNvPr id="52" name="RT3"/>
    <p:cNvSpPr txBox="1"><a:spLocks noGrp="1"/></p:cNvSpPr>
    <p:nvPr/>
  </p:nvSpPr>
  <p:spPr>
    <a:xfrm><a:off x="6492240" y="2862072"/><a:ext cx="457200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D0E4F7"/></a:solidFill>
          <a:latin typeface="Calibri"/>
          <a:cs typeface="Nirmala UI"/>
        </a:rPr>
        <a:t>Comparative Analysis</a:t>
      </a:r>
    </a:p>
  </p:txBody>
</p:sp>

<p:sp>
  <p:nvSpPr>
    <p:cNvPr id="53" name="RNum4"/>
    <p:cNvSpPr><a:spLocks noGrp="1"/></p:cNvSpPr>
    <p:nvPr/>
  </p:nvSpPr>
  <p:spPr>
    <a:xfrm><a:off x="5943600" y="3319272"/><a:ext cx="457200" cy="347472"/></a:xfrm>
    <a:prstGeom prst="roundRect"><a:avLst><a:gd name="adj" fmla="val 50000"/></a:avLst></a:prstGeom>
    <a:solidFill><a:srgbClr val="F5A623"/></a:solidFill>
    <a:ln><a:noFill/></a:ln>
  </p:spPr>
  <p:txBody><a:bodyPr/><a:lstStyle/><a:p/></p:txBody>
</p:sp>

<p:sp>
  <p:nvSpPr>
    <p:cNvPr id="54" name="RN4"/>
    <p:cNvSpPr txBox="1"><a:spLocks noGrp="1"/></p:cNvSpPr>
    <p:nvPr/>
  </p:nvSpPr>
  <p:spPr>
    <a:xfrm><a:off x="5952744" y="3337560"/><a:ext cx="438912" cy="329184"/></a:xfrm>
    <a:prstGeom prst="rect"><a:avLst/></a:prstGeom>
    <a:noFill/>
  </p:spPr>
  <p:txBody>
    <a:bodyPr wrap="square" anchor="t" autofit=""><a:normAutofit/></a:bodyPr>
    <a:lstStyle/>
    
    <a:p>
      <a:pPr algn="ctr"></a:pPr>
      <a:r>
        <a:rPr lang="en-IN" sz="1400" b="1" dirty="0">
          <a:solidFill><a:srgbClr val="1A2E4A"/></a:solidFill>
          <a:latin typeface="Calibri"/>
          <a:cs typeface="Nirmala UI"/>
        </a:rPr>
        <a:t>14</a:t>
      </a:r>
    </a:p>
  </p:txBody>
</p:sp>

<p:sp>
  <p:nvSpPr>
    <p:cNvPr id="55" name="RT4"/>
    <p:cNvSpPr txBox="1"><a:spLocks noGrp="1"/></p:cNvSpPr>
    <p:nvPr/>
  </p:nvSpPr>
  <p:spPr>
    <a:xfrm><a:off x="6492240" y="3337560"/><a:ext cx="457200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D0E4F7"/></a:solidFill>
          <a:latin typeface="Calibri"/>
          <a:cs typeface="Nirmala UI"/>
        </a:rPr>
        <a:t>Limitations</a:t>
      </a:r>
    </a:p>
  </p:txBody>
</p:sp>

<p:sp>
  <p:nvSpPr>
    <p:cNvPr id="56" name="RNum5"/>
    <p:cNvSpPr><a:spLocks noGrp="1"/></p:cNvSpPr>
    <p:nvPr/>
  </p:nvSpPr>
  <p:spPr>
    <a:xfrm><a:off x="5943600" y="3794760"/><a:ext cx="457200" cy="347472"/></a:xfrm>
    <a:prstGeom prst="roundRect"><a:avLst><a:gd name="adj" fmla="val 50000"/></a:avLst></a:prstGeom>
    <a:solidFill><a:srgbClr val="F5A623"/></a:solidFill>
    <a:ln><a:noFill/></a:ln>
  </p:spPr>
  <p:txBody><a:bodyPr/><a:lstStyle/><a:p/></p:txBody>
</p:sp>

<p:sp>
  <p:nvSpPr>
    <p:cNvPr id="57" name="RN5"/>
    <p:cNvSpPr txBox="1"><a:spLocks noGrp="1"/></p:cNvSpPr>
    <p:nvPr/>
  </p:nvSpPr>
  <p:spPr>
    <a:xfrm><a:off x="5952744" y="3813048"/><a:ext cx="438912" cy="329184"/></a:xfrm>
    <a:prstGeom prst="rect"><a:avLst/></a:prstGeom>
    <a:noFill/>
  </p:spPr>
  <p:txBody>
    <a:bodyPr wrap="square" anchor="t" autofit=""><a:normAutofit/></a:bodyPr>
    <a:lstStyle/>
    
    <a:p>
      <a:pPr algn="ctr"></a:pPr>
      <a:r>
        <a:rPr lang="en-IN" sz="1400" b="1" dirty="0">
          <a:solidFill><a:srgbClr val="1A2E4A"/></a:solidFill>
          <a:latin typeface="Calibri"/>
          <a:cs typeface="Nirmala UI"/>
        </a:rPr>
        <a:t>15</a:t>
      </a:r>
    </a:p>
  </p:txBody>
</p:sp>

<p:sp>
  <p:nvSpPr>
    <p:cNvPr id="58" name="RT5"/>
    <p:cNvSpPr txBox="1"><a:spLocks noGrp="1"/></p:cNvSpPr>
    <p:nvPr/>
  </p:nvSpPr>
  <p:spPr>
    <a:xfrm><a:off x="6492240" y="3813048"/><a:ext cx="457200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D0E4F7"/></a:solidFill>
          <a:latin typeface="Calibri"/>
          <a:cs typeface="Nirmala UI"/>
        </a:rPr>
        <a:t>Future Work</a:t>
      </a:r>
    </a:p>
  </p:txBody>
</p:sp>

<p:sp>
  <p:nvSpPr>
    <p:cNvPr id="59" name="RNum6"/>
    <p:cNvSpPr><a:spLocks noGrp="1"/></p:cNvSpPr>
    <p:nvPr/>
  </p:nvSpPr>
  <p:spPr>
    <a:xfrm><a:off x="5943600" y="4270248"/><a:ext cx="457200" cy="347472"/></a:xfrm>
    <a:prstGeom prst="roundRect"><a:avLst><a:gd name="adj" fmla="val 50000"/></a:avLst></a:prstGeom>
    <a:solidFill><a:srgbClr val="F5A623"/></a:solidFill>
    <a:ln><a:noFill/></a:ln>
  </p:spPr>
  <p:txBody><a:bodyPr/><a:lstStyle/><a:p/></p:txBody>
</p:sp>

<p:sp>
  <p:nvSpPr>
    <p:cNvPr id="60" name="RN6"/>
    <p:cNvSpPr txBox="1"><a:spLocks noGrp="1"/></p:cNvSpPr>
    <p:nvPr/>
  </p:nvSpPr>
  <p:spPr>
    <a:xfrm><a:off x="5952744" y="4288536"/><a:ext cx="438912" cy="329184"/></a:xfrm>
    <a:prstGeom prst="rect"><a:avLst/></a:prstGeom>
    <a:noFill/>
  </p:spPr>
  <p:txBody>
    <a:bodyPr wrap="square" anchor="t" autofit=""><a:normAutofit/></a:bodyPr>
    <a:lstStyle/>
    
    <a:p>
      <a:pPr algn="ctr"></a:pPr>
      <a:r>
        <a:rPr lang="en-IN" sz="1400" b="1" dirty="0">
          <a:solidFill><a:srgbClr val="1A2E4A"/></a:solidFill>
          <a:latin typeface="Calibri"/>
          <a:cs typeface="Nirmala UI"/>
        </a:rPr>
        <a:t>16</a:t>
      </a:r>
    </a:p>
  </p:txBody>
</p:sp>

<p:sp>
  <p:nvSpPr>
    <p:cNvPr id="61" name="RT6"/>
    <p:cNvSpPr txBox="1"><a:spLocks noGrp="1"/></p:cNvSpPr>
    <p:nvPr/>
  </p:nvSpPr>
  <p:spPr>
    <a:xfrm><a:off x="6492240" y="4288536"/><a:ext cx="457200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D0E4F7"/></a:solidFill>
          <a:latin typeface="Calibri"/>
          <a:cs typeface="Nirmala UI"/>
        </a:rPr>
        <a:t>Conclusion</a:t>
      </a:r>
    </a:p>
  </p:txBody>
</p:sp>

<p:sp>
  <p:nvSpPr>
    <p:cNvPr id="62" name="RNum7"/>
    <p:cNvSpPr><a:spLocks noGrp="1"/></p:cNvSpPr>
    <p:nvPr/>
  </p:nvSpPr>
  <p:spPr>
    <a:xfrm><a:off x="5943600" y="4745736"/><a:ext cx="457200" cy="347472"/></a:xfrm>
    <a:prstGeom prst="roundRect"><a:avLst><a:gd name="adj" fmla="val 50000"/></a:avLst></a:prstGeom>
    <a:solidFill><a:srgbClr val="F5A623"/></a:solidFill>
    <a:ln><a:noFill/></a:ln>
  </p:spPr>
  <p:txBody><a:bodyPr/><a:lstStyle/><a:p/></p:txBody>
</p:sp>

<p:sp>
  <p:nvSpPr>
    <p:cNvPr id="63" name="RN7"/>
    <p:cNvSpPr txBox="1"><a:spLocks noGrp="1"/></p:cNvSpPr>
    <p:nvPr/>
  </p:nvSpPr>
  <p:spPr>
    <a:xfrm><a:off x="5952744" y="4764024"/><a:ext cx="438912" cy="329184"/></a:xfrm>
    <a:prstGeom prst="rect"><a:avLst/></a:prstGeom>
    <a:noFill/>
  </p:spPr>
  <p:txBody>
    <a:bodyPr wrap="square" anchor="t" autofit=""><a:normAutofit/></a:bodyPr>
    <a:lstStyle/>
    
    <a:p>
      <a:pPr algn="ctr"></a:pPr>
      <a:r>
        <a:rPr lang="en-IN" sz="1400" b="1" dirty="0">
          <a:solidFill><a:srgbClr val="1A2E4A"/></a:solidFill>
          <a:latin typeface="Calibri"/>
          <a:cs typeface="Nirmala UI"/>
        </a:rPr>
        <a:t>17</a:t>
      </a:r>
    </a:p>
  </p:txBody>
</p:sp>

<p:sp>
  <p:nvSpPr>
    <p:cNvPr id="64" name="RT7"/>
    <p:cNvSpPr txBox="1"><a:spLocks noGrp="1"/></p:cNvSpPr>
    <p:nvPr/>
  </p:nvSpPr>
  <p:spPr>
    <a:xfrm><a:off x="6492240" y="4764024"/><a:ext cx="457200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D0E4F7"/></a:solidFill>
          <a:latin typeface="Calibri"/>
          <a:cs typeface="Nirmala UI"/>
        </a:rPr>
        <a:t>References</a:t>
      </a:r>
    </a:p>
  </p:txBody>
</p:sp>

<p:sp>
  <p:nvSpPr>
    <p:cNvPr id="65" name="RNum8"/>
    <p:cNvSpPr><a:spLocks noGrp="1"/></p:cNvSpPr>
    <p:nvPr/>
  </p:nvSpPr>
  <p:spPr>
    <a:xfrm><a:off x="5943600" y="5221224"/><a:ext cx="457200" cy="347472"/></a:xfrm>
    <a:prstGeom prst="roundRect"><a:avLst><a:gd name="adj" fmla="val 50000"/></a:avLst></a:prstGeom>
    <a:solidFill><a:srgbClr val="F5A623"/></a:solidFill>
    <a:ln><a:noFill/></a:ln>
  </p:spPr>
  <p:txBody><a:bodyPr/><a:lstStyle/><a:p/></p:txBody>
</p:sp>

<p:sp>
  <p:nvSpPr>
    <p:cNvPr id="66" name="RN8"/>
    <p:cNvSpPr txBox="1"><a:spLocks noGrp="1"/></p:cNvSpPr>
    <p:nvPr/>
  </p:nvSpPr>
  <p:spPr>
    <a:xfrm><a:off x="5952744" y="5239512"/><a:ext cx="438912" cy="329184"/></a:xfrm>
    <a:prstGeom prst="rect"><a:avLst/></a:prstGeom>
    <a:noFill/>
  </p:spPr>
  <p:txBody>
    <a:bodyPr wrap="square" anchor="t" autofit=""><a:normAutofit/></a:bodyPr>
    <a:lstStyle/>
    
    <a:p>
      <a:pPr algn="ctr"></a:pPr>
      <a:r>
        <a:rPr lang="en-IN" sz="1400" b="1" dirty="0">
          <a:solidFill><a:srgbClr val="1A2E4A"/></a:solidFill>
          <a:latin typeface="Calibri"/>
          <a:cs typeface="Nirmala UI"/>
        </a:rPr>
        <a:t>18</a:t>
      </a:r>
    </a:p>
  </p:txBody>
</p:sp>

<p:sp>
  <p:nvSpPr>
    <p:cNvPr id="67" name="RT8"/>
    <p:cNvSpPr txBox="1"><a:spLocks noGrp="1"/></p:cNvSpPr>
    <p:nvPr/>
  </p:nvSpPr>
  <p:spPr>
    <a:xfrm><a:off x="6492240" y="5239512"/><a:ext cx="4572000" cy="347472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D0E4F7"/></a:solidFill>
          <a:latin typeface="Calibri"/>
          <a:cs typeface="Nirmala UI"/>
        </a:rPr>
        <a:t>Thank You</a:t>
      </a:r>
    </a:p>
  </p:txBody>
</p:sp>

<p:sp>
  <p:nvSpPr>
    <p:cNvPr id="68" name="FooterBar"/>
    <p:cNvSpPr><a:spLocks noGrp="1"/></p:cNvSpPr>
    <p:nvPr/>
  </p:nvSpPr>
  <p:spPr>
    <a:xfrm><a:off x="0" y="6446520"/><a:ext cx="12192000" cy="411480"/></a:xfrm>
    <a:prstGeom prst="rect"><a:avLst/></a:prstGeom>
    <a:solidFill><a:srgbClr val="112238"/></a:solidFill>
    <a:ln><a:noFill/></a:ln>
  </p:spPr>
  <p:txBody><a:bodyPr/><a:lstStyle/><a:p/></p:txBody>
</p:sp>

<p:sp>
  <p:nvSpPr>
    <p:cNvPr id="69" name="FooterLine"/>
    <p:cNvSpPr><a:spLocks noGrp="1"/></p:cNvSpPr>
    <p:nvPr/>
  </p:nvSpPr>
  <p:spPr>
    <a:xfrm><a:off x="0" y="6446520"/><a:ext cx="12192000" cy="36576"/></a:xfrm>
    <a:prstGeom prst="rect"><a:avLst/></a:prstGeom>
    <a:solidFill><a:srgbClr val="00C9B1"/></a:solidFill>
    <a:ln><a:noFill/></a:ln>
  </p:spPr>
  <p:txBody><a:bodyPr/><a:lstStyle/><a:p/></p:txBody>
</p:sp>

<p:sp>
  <p:nvSpPr>
    <p:cNvPr id="70" name="FooterLeft"/>
    <p:cNvSpPr txBox="1"><a:spLocks noGrp="1"/></p:cNvSpPr>
    <p:nvPr/>
  </p:nvSpPr>
  <p:spPr>
    <a:xfrm><a:off x="274320" y="6492240"/><a:ext cx="5486400" cy="32004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000" b="0" dirty="0">
          <a:solidFill><a:srgbClr val="8AAEC8"/></a:solidFill>
          <a:latin typeface="Calibri"/>
          <a:cs typeface="Nirmala UI"/>
        </a:rPr>
        <a:t>Hindi Coreference Resolution | CIT Kokrajhar</a:t>
      </a:r>
    </a:p>
  </p:txBody>
</p:sp>

<p:sp>
  <p:nvSpPr>
    <p:cNvPr id="71" name="FooterRight"/>
    <p:cNvSpPr txBox="1"><a:spLocks noGrp="1"/></p:cNvSpPr>
    <p:nvPr/>
  </p:nvSpPr>
  <p:spPr>
    <a:xfrm><a:off x="8229600" y="6492240"/><a:ext cx="2743200" cy="320040"/></a:xfrm>
    <a:prstGeom prst="rect"><a:avLst/></a:prstGeom>
    <a:noFill/>
  </p:spPr>
  <p:txBody>
    <a:bodyPr wrap="square" anchor="t" autofit=""><a:normAutofit/></a:bodyPr>
    <a:lstStyle/>
    
    <a:p>
      <a:pPr algn="r"></a:pPr>
      <a:r>
        <a:rPr lang="en-IN" sz="1000" b="0" dirty="0">
          <a:solidFill><a:srgbClr val="8AAEC8"/></a:solidFill>
          <a:latin typeface="Calibri"/>
          <a:cs typeface="Nirmala UI"/>
        </a:rPr>
        <a:t>B.Tech Project Presentation  |  2026</a:t>
      </a:r>
    </a:p>
  </p:txBody>
</p:sp>
    </p:spTree>
  </p:cSld>
  <p:clrMapOvr><a:masterClrMapping/>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opBar"/>
          <p:cNvSpPr>
            <a:spLocks noGrp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Line"/>
          <p:cNvSpPr>
            <a:spLocks noGrp="1"/>
          </p:cNvSpPr>
          <p:nvPr/>
        </p:nvSpPr>
        <p:spPr>
          <a:xfrm>
            <a:off x="0" y="1143000"/>
            <a:ext cx="1219200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lideTitle"/>
          <p:cNvSpPr txBox="1">
            <a:spLocks noGrp="1"/>
          </p:cNvSpPr>
          <p:nvPr/>
        </p:nvSpPr>
        <p:spPr>
          <a:xfrm>
            <a:off x="365760" y="109728"/>
            <a:ext cx="10515600" cy="8229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3000" b="1" dirty="0">
                <a:solidFill>
                  <a:srgbClr val="FFFFFF"/>
                </a:solidFill>
                <a:latin typeface="Calibri"/>
                <a:cs typeface="Nirmala UI"/>
              </a:rPr>
              <a:t>Introduction</a:t>
            </a:r>
          </a:p>
        </p:txBody>
      </p:sp>
      <p:sp>
        <p:nvSpPr>
          <p:cNvPr id="13" name="SlideSubtitle"/>
          <p:cNvSpPr txBox="1">
            <a:spLocks noGrp="1"/>
          </p:cNvSpPr>
          <p:nvPr/>
        </p:nvSpPr>
        <p:spPr>
          <a:xfrm>
            <a:off x="365760" y="777240"/>
            <a:ext cx="914400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400" b="0" dirty="0">
                <a:solidFill>
                  <a:srgbClr val="00C9B1"/>
                </a:solidFill>
                <a:latin typeface="Calibri"/>
                <a:cs typeface="Nirmala UI"/>
              </a:rPr>
              <a:t>What is Coreference Resolution?</a:t>
            </a:r>
          </a:p>
        </p:txBody>
      </p:sp>
      <p:sp>
        <p:nvSpPr>
          <p:cNvPr id="14" name="DefCard"/>
          <p:cNvSpPr>
            <a:spLocks noGrp="1"/>
          </p:cNvSpPr>
          <p:nvPr/>
        </p:nvSpPr>
        <p:spPr>
          <a:xfrm>
            <a:off x="320040" y="1371600"/>
            <a:ext cx="10515600" cy="1234440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 w="15000">
            <a:solidFill>
              <a:srgbClr val="00C9B1"/>
            </a:solidFill>
          </a:ln>
        </p:spPr>
        <p:txBody>
          <a:bodyPr/>
          <a:lstStyle/>
          <a:p/>
        </p:txBody>
      </p:sp>
      <p:sp>
        <p:nvSpPr>
          <p:cNvPr id="15" name="DefTitle"/>
          <p:cNvSpPr txBox="1">
            <a:spLocks noGrp="1"/>
          </p:cNvSpPr>
          <p:nvPr/>
        </p:nvSpPr>
        <p:spPr>
          <a:xfrm>
            <a:off x="502920" y="1426464"/>
            <a:ext cx="1005840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100" b="1" dirty="0">
                <a:solidFill>
                  <a:srgbClr val="00C9B1"/>
                </a:solidFill>
                <a:latin typeface="Calibri"/>
                <a:cs typeface="Nirmala UI"/>
              </a:rPr>
              <a:t>DEFINITION</a:t>
            </a:r>
          </a:p>
        </p:txBody>
      </p:sp>
      <p:sp>
        <p:nvSpPr>
          <p:cNvPr id="16" name="DefText"/>
          <p:cNvSpPr txBox="1">
            <a:spLocks noGrp="1"/>
          </p:cNvSpPr>
          <p:nvPr/>
        </p:nvSpPr>
        <p:spPr>
          <a:xfrm>
            <a:off x="502920" y="1783080"/>
            <a:ext cx="10058400" cy="68580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700" b="0" dirty="0">
                <a:solidFill>
                  <a:srgbClr val="FFFFFF"/>
                </a:solidFill>
                <a:latin typeface="Calibri"/>
                <a:cs typeface="Nirmala UI"/>
              </a:rPr>
              <a:t>Coreference Resolution identifies and groups all mentions in a text that refer to the same real-world entity.</a:t>
            </a:r>
          </a:p>
        </p:txBody>
      </p:sp>
      <p:sp>
        <p:nvSpPr>
          <p:cNvPr id="17" name="ExBox"/>
          <p:cNvSpPr>
            <a:spLocks noGrp="1"/>
          </p:cNvSpPr>
          <p:nvPr/>
        </p:nvSpPr>
        <p:spPr>
          <a:xfrm>
            <a:off x="320040" y="2788920"/>
            <a:ext cx="10515600" cy="1005840"/>
          </a:xfrm>
          <a:prstGeom prst="roundRect">
            <a:avLst>
              <a:gd name="adj" fmla="val 16667"/>
            </a:avLst>
          </a:prstGeom>
          <a:solidFill>
            <a:srgbClr val="122840"/>
          </a:solidFill>
          <a:ln w="12700">
            <a:solidFill>
              <a:srgbClr val="F5A623"/>
            </a:solidFill>
          </a:ln>
        </p:spPr>
        <p:txBody>
          <a:bodyPr/>
          <a:lstStyle/>
          <a:p/>
        </p:txBody>
      </p:sp>
      <p:sp>
        <p:nvSpPr>
          <p:cNvPr id="18" name="ExLabel"/>
          <p:cNvSpPr txBox="1">
            <a:spLocks noGrp="1"/>
          </p:cNvSpPr>
          <p:nvPr/>
        </p:nvSpPr>
        <p:spPr>
          <a:xfrm>
            <a:off x="502920" y="2834640"/>
            <a:ext cx="1005840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100" b="1" dirty="0">
                <a:solidFill>
                  <a:srgbClr val="F5A623"/>
                </a:solidFill>
                <a:latin typeface="Calibri"/>
                <a:cs typeface="Nirmala UI"/>
              </a:rPr>
              <a:t>HINDI EXAMPLE</a:t>
            </a:r>
          </a:p>
        </p:txBody>
      </p:sp>
      <p:sp>
        <p:nvSpPr>
          <p:cNvPr id="19" name="ExHindi"/>
          <p:cNvSpPr txBox="1">
            <a:spLocks noGrp="1"/>
          </p:cNvSpPr>
          <p:nvPr/>
        </p:nvSpPr>
        <p:spPr>
          <a:xfrm>
            <a:off x="502920" y="3200400"/>
            <a:ext cx="10058400" cy="50292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700" b="0" dirty="0">
                <a:solidFill>
                  <a:srgbClr val="FFFFFF"/>
                </a:solidFill>
                <a:latin typeface="Calibri"/>
                <a:cs typeface="Nirmala UI"/>
              </a:rPr>
              <a:t>'राम विद्यालय गया।  वह प्रसन्न था।'   →   राम  =  वह  (same entity)</a:t>
            </a:r>
          </a:p>
        </p:txBody>
      </p:sp>
      <p:sp>
        <p:nvSpPr>
          <p:cNvPr id="20" name="App0"/>
          <p:cNvSpPr>
            <a:spLocks noGrp="1"/>
          </p:cNvSpPr>
          <p:nvPr/>
        </p:nvSpPr>
        <p:spPr>
          <a:xfrm>
            <a:off x="320040" y="3977639"/>
            <a:ext cx="2286000" cy="822960"/>
          </a:xfrm>
          <a:prstGeom prst="roundRect">
            <a:avLst>
              <a:gd name="adj" fmla="val 30000"/>
            </a:avLst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AppTxt0"/>
          <p:cNvSpPr txBox="1">
            <a:spLocks noGrp="1"/>
          </p:cNvSpPr>
          <p:nvPr/>
        </p:nvSpPr>
        <p:spPr>
          <a:xfrm>
            <a:off x="320040" y="3977639"/>
            <a:ext cx="2286000" cy="822960"/>
          </a:xfrm>
          <a:prstGeom prst="rect">
            <a:avLst/>
          </a:prstGeom>
          <a:noFill/>
        </p:spPr>
        <p:txBody>
          <a:bodyPr wrap="square" anchor="ctr" autofit="">
            <a:normAutofit/>
          </a:bodyPr>
          <a:lstStyle/>
          <a:p>
            <a:pPr algn="ctr"/>
            <a:r>
              <a:rPr lang="en-IN" sz="1500" b="1" dirty="0">
                <a:solidFill>
                  <a:srgbClr val="1A2E4A"/>
                </a:solidFill>
                <a:latin typeface="Calibri"/>
                <a:cs typeface="Nirmala UI"/>
              </a:rPr>
              <a:t>Question
Answering</a:t>
            </a:r>
          </a:p>
        </p:txBody>
      </p:sp>
      <p:sp>
        <p:nvSpPr>
          <p:cNvPr id="22" name="App1"/>
          <p:cNvSpPr>
            <a:spLocks noGrp="1"/>
          </p:cNvSpPr>
          <p:nvPr/>
        </p:nvSpPr>
        <p:spPr>
          <a:xfrm>
            <a:off x="2862072" y="3977639"/>
            <a:ext cx="2286000" cy="82296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AppTxt1"/>
          <p:cNvSpPr txBox="1">
            <a:spLocks noGrp="1"/>
          </p:cNvSpPr>
          <p:nvPr/>
        </p:nvSpPr>
        <p:spPr>
          <a:xfrm>
            <a:off x="2862072" y="3977639"/>
            <a:ext cx="2286000" cy="822960"/>
          </a:xfrm>
          <a:prstGeom prst="rect">
            <a:avLst/>
          </a:prstGeom>
          <a:noFill/>
        </p:spPr>
        <p:txBody>
          <a:bodyPr wrap="square" anchor="ctr" autofit="">
            <a:normAutofit/>
          </a:bodyPr>
          <a:lstStyle/>
          <a:p>
            <a:pPr algn="ctr"/>
            <a:r>
              <a:rPr lang="en-IN" sz="1500" b="1" dirty="0">
                <a:solidFill>
                  <a:srgbClr val="1A2E4A"/>
                </a:solidFill>
                <a:latin typeface="Calibri"/>
                <a:cs typeface="Nirmala UI"/>
              </a:rPr>
              <a:t>Machine
Translation</a:t>
            </a:r>
          </a:p>
        </p:txBody>
      </p:sp>
      <p:sp>
        <p:nvSpPr>
          <p:cNvPr id="24" name="App2"/>
          <p:cNvSpPr>
            <a:spLocks noGrp="1"/>
          </p:cNvSpPr>
          <p:nvPr/>
        </p:nvSpPr>
        <p:spPr>
          <a:xfrm>
            <a:off x="5404104" y="3977639"/>
            <a:ext cx="2286000" cy="822960"/>
          </a:xfrm>
          <a:prstGeom prst="roundRect">
            <a:avLst>
              <a:gd name="adj" fmla="val 30000"/>
            </a:avLst>
          </a:prstGeom>
          <a:solidFill>
            <a:srgbClr val="5C9BD6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AppTxt2"/>
          <p:cNvSpPr txBox="1">
            <a:spLocks noGrp="1"/>
          </p:cNvSpPr>
          <p:nvPr/>
        </p:nvSpPr>
        <p:spPr>
          <a:xfrm>
            <a:off x="5404104" y="3977639"/>
            <a:ext cx="2286000" cy="822960"/>
          </a:xfrm>
          <a:prstGeom prst="rect">
            <a:avLst/>
          </a:prstGeom>
          <a:noFill/>
        </p:spPr>
        <p:txBody>
          <a:bodyPr wrap="square" anchor="ctr" autofit="">
            <a:normAutofit/>
          </a:bodyPr>
          <a:lstStyle/>
          <a:p>
            <a:pPr algn="ctr"/>
            <a:r>
              <a:rPr lang="en-IN" sz="1500" b="1" dirty="0">
                <a:solidFill>
                  <a:srgbClr val="1A2E4A"/>
                </a:solidFill>
                <a:latin typeface="Calibri"/>
                <a:cs typeface="Nirmala UI"/>
              </a:rPr>
              <a:t>Text
Summarization</a:t>
            </a:r>
          </a:p>
        </p:txBody>
      </p:sp>
      <p:sp>
        <p:nvSpPr>
          <p:cNvPr id="26" name="App3"/>
          <p:cNvSpPr>
            <a:spLocks noGrp="1"/>
          </p:cNvSpPr>
          <p:nvPr/>
        </p:nvSpPr>
        <p:spPr>
          <a:xfrm>
            <a:off x="7946136" y="3977639"/>
            <a:ext cx="2286000" cy="822960"/>
          </a:xfrm>
          <a:prstGeom prst="roundRect">
            <a:avLst>
              <a:gd name="adj" fmla="val 30000"/>
            </a:avLst>
          </a:prstGeom>
          <a:solidFill>
            <a:srgbClr val="A06BBE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AppTxt3"/>
          <p:cNvSpPr txBox="1">
            <a:spLocks noGrp="1"/>
          </p:cNvSpPr>
          <p:nvPr/>
        </p:nvSpPr>
        <p:spPr>
          <a:xfrm>
            <a:off x="7946136" y="3977639"/>
            <a:ext cx="2286000" cy="822960"/>
          </a:xfrm>
          <a:prstGeom prst="rect">
            <a:avLst/>
          </a:prstGeom>
          <a:noFill/>
        </p:spPr>
        <p:txBody>
          <a:bodyPr wrap="square" anchor="ctr" autofit="">
            <a:normAutofit/>
          </a:bodyPr>
          <a:lstStyle/>
          <a:p>
            <a:pPr algn="ctr"/>
            <a:r>
              <a:rPr lang="en-IN" sz="1500" b="1" dirty="0">
                <a:solidFill>
                  <a:srgbClr val="1A2E4A"/>
                </a:solidFill>
                <a:latin typeface="Calibri"/>
                <a:cs typeface="Nirmala UI"/>
              </a:rPr>
              <a:t>Dialogue
Systems</a:t>
            </a:r>
          </a:p>
        </p:txBody>
      </p:sp>
      <p:sp>
        <p:nvSpPr>
          <p:cNvPr id="28" name="HindiNote"/>
          <p:cNvSpPr txBox="1">
            <a:spLocks noGrp="1"/>
          </p:cNvSpPr>
          <p:nvPr/>
        </p:nvSpPr>
        <p:spPr>
          <a:xfrm>
            <a:off x="320040" y="5074920"/>
            <a:ext cx="10515600" cy="41148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400" b="0" dirty="0">
                <a:solidFill>
                  <a:srgbClr val="8AAEC8"/>
                </a:solidFill>
                <a:latin typeface="Calibri"/>
                <a:cs typeface="Nirmala UI"/>
              </a:rPr>
              <a:t>★  Hindi NLP remains a low-resource research area — annotated coreference datasets are extremely scarce.</a:t>
            </a:r>
          </a:p>
        </p:txBody>
      </p:sp>
      <p:sp>
        <p:nvSpPr>
          <p:cNvPr id="29" name="FooterBar"/>
          <p:cNvSpPr>
            <a:spLocks noGrp="1"/>
          </p:cNvSpPr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FooterLine"/>
          <p:cNvSpPr>
            <a:spLocks noGrp="1"/>
          </p:cNvSpPr>
          <p:nvPr/>
        </p:nvSpPr>
        <p:spPr>
          <a:xfrm>
            <a:off x="0" y="6446520"/>
            <a:ext cx="1219200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FooterLeft"/>
          <p:cNvSpPr txBox="1">
            <a:spLocks noGrp="1"/>
          </p:cNvSpPr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Hindi Coreference Resolution | CIT Kokrajhar</a:t>
            </a:r>
          </a:p>
        </p:txBody>
      </p:sp>
      <p:sp>
        <p:nvSpPr>
          <p:cNvPr id="32" name="FooterRight"/>
          <p:cNvSpPr txBox="1">
            <a:spLocks noGrp="1"/>
          </p:cNvSpPr>
          <p:nvPr/>
        </p:nvSpPr>
        <p:spPr>
          <a:xfrm>
            <a:off x="8229600" y="6492240"/>
            <a:ext cx="27432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r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B.Tech Project Presentation  |  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opBar"/>
          <p:cNvSpPr>
            <a:spLocks noGrp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Line"/>
          <p:cNvSpPr>
            <a:spLocks noGrp="1"/>
          </p:cNvSpPr>
          <p:nvPr/>
        </p:nvSpPr>
        <p:spPr>
          <a:xfrm>
            <a:off x="0" y="1143000"/>
            <a:ext cx="1219200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lideTitle"/>
          <p:cNvSpPr txBox="1">
            <a:spLocks noGrp="1"/>
          </p:cNvSpPr>
          <p:nvPr/>
        </p:nvSpPr>
        <p:spPr>
          <a:xfrm>
            <a:off x="365760" y="109728"/>
            <a:ext cx="10515600" cy="8229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3000" b="1" dirty="0">
                <a:solidFill>
                  <a:srgbClr val="FFFFFF"/>
                </a:solidFill>
                <a:latin typeface="Calibri"/>
                <a:cs typeface="Nirmala UI"/>
              </a:rPr>
              <a:t>Challenges in Hindi Coreference</a:t>
            </a:r>
          </a:p>
        </p:txBody>
      </p:sp>
      <p:sp>
        <p:nvSpPr>
          <p:cNvPr id="13" name="SlideSubtitle"/>
          <p:cNvSpPr txBox="1">
            <a:spLocks noGrp="1"/>
          </p:cNvSpPr>
          <p:nvPr/>
        </p:nvSpPr>
        <p:spPr>
          <a:xfrm>
            <a:off x="365760" y="777240"/>
            <a:ext cx="914400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400" b="0" dirty="0">
                <a:solidFill>
                  <a:srgbClr val="00C9B1"/>
                </a:solidFill>
                <a:latin typeface="Calibri"/>
                <a:cs typeface="Nirmala UI"/>
              </a:rPr>
              <a:t>Why is this problem hard?</a:t>
            </a:r>
          </a:p>
        </p:txBody>
      </p:sp>
      <p:sp>
        <p:nvSpPr>
          <p:cNvPr id="14" name="CBar0"/>
          <p:cNvSpPr>
            <a:spLocks noGrp="1"/>
          </p:cNvSpPr>
          <p:nvPr/>
        </p:nvSpPr>
        <p:spPr>
          <a:xfrm>
            <a:off x="320040" y="1389888"/>
            <a:ext cx="64008" cy="80467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CCard0"/>
          <p:cNvSpPr>
            <a:spLocks noGrp="1"/>
          </p:cNvSpPr>
          <p:nvPr/>
        </p:nvSpPr>
        <p:spPr>
          <a:xfrm>
            <a:off x="429768" y="1389888"/>
            <a:ext cx="10405872" cy="804672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Title0"/>
          <p:cNvSpPr txBox="1">
            <a:spLocks noGrp="1"/>
          </p:cNvSpPr>
          <p:nvPr/>
        </p:nvSpPr>
        <p:spPr>
          <a:xfrm>
            <a:off x="566928" y="1463040"/>
            <a:ext cx="320040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600" b="1" dirty="0">
                <a:solidFill>
                  <a:srgbClr val="00C9B1"/>
                </a:solidFill>
                <a:latin typeface="Calibri"/>
                <a:cs typeface="Nirmala UI"/>
              </a:rPr>
              <a:t>Morphological Richness</a:t>
            </a:r>
          </a:p>
        </p:txBody>
      </p:sp>
      <p:sp>
        <p:nvSpPr>
          <p:cNvPr id="17" name="CDesc0"/>
          <p:cNvSpPr txBox="1">
            <a:spLocks noGrp="1"/>
          </p:cNvSpPr>
          <p:nvPr/>
        </p:nvSpPr>
        <p:spPr>
          <a:xfrm>
            <a:off x="566928" y="1819656"/>
            <a:ext cx="1005840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Hindi inflects words for gender, number, case, and tense — creating high surface variation for the same entity.</a:t>
            </a:r>
          </a:p>
        </p:txBody>
      </p:sp>
      <p:sp>
        <p:nvSpPr>
          <p:cNvPr id="18" name="CBar1"/>
          <p:cNvSpPr>
            <a:spLocks noGrp="1"/>
          </p:cNvSpPr>
          <p:nvPr/>
        </p:nvSpPr>
        <p:spPr>
          <a:xfrm>
            <a:off x="320040" y="2304288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CCard1"/>
          <p:cNvSpPr>
            <a:spLocks noGrp="1"/>
          </p:cNvSpPr>
          <p:nvPr/>
        </p:nvSpPr>
        <p:spPr>
          <a:xfrm>
            <a:off x="429768" y="2304288"/>
            <a:ext cx="10405872" cy="804672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CTitle1"/>
          <p:cNvSpPr txBox="1">
            <a:spLocks noGrp="1"/>
          </p:cNvSpPr>
          <p:nvPr/>
        </p:nvSpPr>
        <p:spPr>
          <a:xfrm>
            <a:off x="566928" y="2377440"/>
            <a:ext cx="320040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600" b="1" dirty="0">
                <a:solidFill>
                  <a:srgbClr val="F5A623"/>
                </a:solidFill>
                <a:latin typeface="Calibri"/>
                <a:cs typeface="Nirmala UI"/>
              </a:rPr>
              <a:t>Free Word Order</a:t>
            </a:r>
          </a:p>
        </p:txBody>
      </p:sp>
      <p:sp>
        <p:nvSpPr>
          <p:cNvPr id="21" name="CDesc1"/>
          <p:cNvSpPr txBox="1">
            <a:spLocks noGrp="1"/>
          </p:cNvSpPr>
          <p:nvPr/>
        </p:nvSpPr>
        <p:spPr>
          <a:xfrm>
            <a:off x="566928" y="2734056"/>
            <a:ext cx="1005840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Hindi is a Subject-Object-Verb language with flexible constituent ordering, making positional heuristics unreliable.</a:t>
            </a:r>
          </a:p>
        </p:txBody>
      </p:sp>
      <p:sp>
        <p:nvSpPr>
          <p:cNvPr id="22" name="CBar2"/>
          <p:cNvSpPr>
            <a:spLocks noGrp="1"/>
          </p:cNvSpPr>
          <p:nvPr/>
        </p:nvSpPr>
        <p:spPr>
          <a:xfrm>
            <a:off x="320040" y="3218688"/>
            <a:ext cx="64008" cy="804672"/>
          </a:xfrm>
          <a:prstGeom prst="rect">
            <a:avLst/>
          </a:prstGeom>
          <a:solidFill>
            <a:srgbClr val="5C9BD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CCard2"/>
          <p:cNvSpPr>
            <a:spLocks noGrp="1"/>
          </p:cNvSpPr>
          <p:nvPr/>
        </p:nvSpPr>
        <p:spPr>
          <a:xfrm>
            <a:off x="429768" y="3218688"/>
            <a:ext cx="10405872" cy="804672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CTitle2"/>
          <p:cNvSpPr txBox="1">
            <a:spLocks noGrp="1"/>
          </p:cNvSpPr>
          <p:nvPr/>
        </p:nvSpPr>
        <p:spPr>
          <a:xfrm>
            <a:off x="566928" y="3291840"/>
            <a:ext cx="320040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600" b="1" dirty="0">
                <a:solidFill>
                  <a:srgbClr val="5C9BD6"/>
                </a:solidFill>
                <a:latin typeface="Calibri"/>
                <a:cs typeface="Nirmala UI"/>
              </a:rPr>
              <a:t>Pro-Drop Phenomenon</a:t>
            </a:r>
          </a:p>
        </p:txBody>
      </p:sp>
      <p:sp>
        <p:nvSpPr>
          <p:cNvPr id="25" name="CDesc2"/>
          <p:cNvSpPr txBox="1">
            <a:spLocks noGrp="1"/>
          </p:cNvSpPr>
          <p:nvPr/>
        </p:nvSpPr>
        <p:spPr>
          <a:xfrm>
            <a:off x="566928" y="3648456"/>
            <a:ext cx="1005840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Subject pronouns are frequently omitted ('pro-drop'), requiring deep discourse context for resolution.</a:t>
            </a:r>
          </a:p>
        </p:txBody>
      </p:sp>
      <p:sp>
        <p:nvSpPr>
          <p:cNvPr id="26" name="CBar3"/>
          <p:cNvSpPr>
            <a:spLocks noGrp="1"/>
          </p:cNvSpPr>
          <p:nvPr/>
        </p:nvSpPr>
        <p:spPr>
          <a:xfrm>
            <a:off x="320040" y="4133088"/>
            <a:ext cx="64008" cy="804672"/>
          </a:xfrm>
          <a:prstGeom prst="rect">
            <a:avLst/>
          </a:prstGeom>
          <a:solidFill>
            <a:srgbClr val="A06BBE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CCard3"/>
          <p:cNvSpPr>
            <a:spLocks noGrp="1"/>
          </p:cNvSpPr>
          <p:nvPr/>
        </p:nvSpPr>
        <p:spPr>
          <a:xfrm>
            <a:off x="429768" y="4133088"/>
            <a:ext cx="10405872" cy="804672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CTitle3"/>
          <p:cNvSpPr txBox="1">
            <a:spLocks noGrp="1"/>
          </p:cNvSpPr>
          <p:nvPr/>
        </p:nvSpPr>
        <p:spPr>
          <a:xfrm>
            <a:off x="566928" y="4206240"/>
            <a:ext cx="320040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600" b="1" dirty="0">
                <a:solidFill>
                  <a:srgbClr val="A06BBE"/>
                </a:solidFill>
                <a:latin typeface="Calibri"/>
                <a:cs typeface="Nirmala UI"/>
              </a:rPr>
              <a:t>Devanagari Tokenization</a:t>
            </a:r>
          </a:p>
        </p:txBody>
      </p:sp>
      <p:sp>
        <p:nvSpPr>
          <p:cNvPr id="29" name="CDesc3"/>
          <p:cNvSpPr txBox="1">
            <a:spLocks noGrp="1"/>
          </p:cNvSpPr>
          <p:nvPr/>
        </p:nvSpPr>
        <p:spPr>
          <a:xfrm>
            <a:off x="566928" y="4562856"/>
            <a:ext cx="1005840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Complex script with conjunct consonants and zero-width characters complicates robust tokenization.</a:t>
            </a:r>
          </a:p>
        </p:txBody>
      </p:sp>
      <p:sp>
        <p:nvSpPr>
          <p:cNvPr id="30" name="CBar4"/>
          <p:cNvSpPr>
            <a:spLocks noGrp="1"/>
          </p:cNvSpPr>
          <p:nvPr/>
        </p:nvSpPr>
        <p:spPr>
          <a:xfrm>
            <a:off x="320040" y="5047488"/>
            <a:ext cx="64008" cy="804672"/>
          </a:xfrm>
          <a:prstGeom prst="rect">
            <a:avLst/>
          </a:prstGeom>
          <a:solidFill>
            <a:srgbClr val="E05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CCard4"/>
          <p:cNvSpPr>
            <a:spLocks noGrp="1"/>
          </p:cNvSpPr>
          <p:nvPr/>
        </p:nvSpPr>
        <p:spPr>
          <a:xfrm>
            <a:off x="429768" y="5047488"/>
            <a:ext cx="10405872" cy="804672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CTitle4"/>
          <p:cNvSpPr txBox="1">
            <a:spLocks noGrp="1"/>
          </p:cNvSpPr>
          <p:nvPr/>
        </p:nvSpPr>
        <p:spPr>
          <a:xfrm>
            <a:off x="566928" y="5120640"/>
            <a:ext cx="320040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600" b="1" dirty="0">
                <a:solidFill>
                  <a:srgbClr val="E05C5C"/>
                </a:solidFill>
                <a:latin typeface="Calibri"/>
                <a:cs typeface="Nirmala UI"/>
              </a:rPr>
              <a:t>Dataset Scarcity</a:t>
            </a:r>
          </a:p>
        </p:txBody>
      </p:sp>
      <p:sp>
        <p:nvSpPr>
          <p:cNvPr id="33" name="CDesc4"/>
          <p:cNvSpPr txBox="1">
            <a:spLocks noGrp="1"/>
          </p:cNvSpPr>
          <p:nvPr/>
        </p:nvSpPr>
        <p:spPr>
          <a:xfrm>
            <a:off x="566928" y="5477256"/>
            <a:ext cx="1005840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Publicly available annotated Hindi coreference corpora are extremely limited, hampering supervised training.</a:t>
            </a:r>
          </a:p>
        </p:txBody>
      </p:sp>
      <p:sp>
        <p:nvSpPr>
          <p:cNvPr id="34" name="FooterBar"/>
          <p:cNvSpPr>
            <a:spLocks noGrp="1"/>
          </p:cNvSpPr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FooterLine"/>
          <p:cNvSpPr>
            <a:spLocks noGrp="1"/>
          </p:cNvSpPr>
          <p:nvPr/>
        </p:nvSpPr>
        <p:spPr>
          <a:xfrm>
            <a:off x="0" y="6446520"/>
            <a:ext cx="1219200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FooterLeft"/>
          <p:cNvSpPr txBox="1">
            <a:spLocks noGrp="1"/>
          </p:cNvSpPr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Hindi Coreference Resolution | CIT Kokrajhar</a:t>
            </a:r>
          </a:p>
        </p:txBody>
      </p:sp>
      <p:sp>
        <p:nvSpPr>
          <p:cNvPr id="37" name="FooterRight"/>
          <p:cNvSpPr txBox="1">
            <a:spLocks noGrp="1"/>
          </p:cNvSpPr>
          <p:nvPr/>
        </p:nvSpPr>
        <p:spPr>
          <a:xfrm>
            <a:off x="8229600" y="6492240"/>
            <a:ext cx="27432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r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B.Tech Project Presentation  |  2026</a:t>
            </a:r>
          </a:p>
        </p:txBody>
      </p:sp>
    </p:spTree>
  </p:cSld>
  <p:clrMapOvr>
    <a:masterClrMapping/>
  </p:clrMapOvr>
</p:sld>
</file>

<file path=ppt/slides/slide5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bg>
      <p:bgPr>
        <a:solidFill><a:srgbClr val="1A2E4A"/></a:solidFill>
        <a:effectLst/>
      </p:bgPr>
    </p:bg>
    <p:spTree>
      <p:nvGrpSpPr>
        <p:cNvPr id="1" name=""/>
        <p:cNvGrpSpPr/>
        <p:nvPr/>
      </p:nvGrpSpPr>
      <p:grpSpPr>
        <a:xfrm><a:off x="0" y="0"/><a:ext cx="12192000" cy="6858000"/><a:chOff x="0" y="0"/><a:chExt cx="12192000" cy="6858000"/></a:xfrm>
      </p:grpSpPr>
      
<p:sp>
  <p:nvSpPr>
    <p:cNvPr id="10" name="TopBar"/>
    <p:cNvSpPr><a:spLocks noGrp="1"/></p:cNvSpPr>
    <p:nvPr/>
  </p:nvSpPr>
  <p:spPr>
    <a:xfrm><a:off x="0" y="0"/><a:ext cx="12192000" cy="1143000"/></a:xfrm>
    <a:prstGeom prst="rect"><a:avLst/></a:prstGeom>
    <a:solidFill><a:srgbClr val="112238"/></a:solidFill>
    <a:ln><a:noFill/></a:ln>
  </p:spPr>
  <p:txBody><a:bodyPr/><a:lstStyle/><a:p/></p:txBody>
</p:sp>

<p:sp>
  <p:nvSpPr>
    <p:cNvPr id="11" name="AccentLine"/>
    <p:cNvSpPr><a:spLocks noGrp="1"/></p:cNvSpPr>
    <p:nvPr/>
  </p:nvSpPr>
  <p:spPr>
    <a:xfrm><a:off x="0" y="1143000"/><a:ext cx="12192000" cy="54864"/></a:xfrm>
    <a:prstGeom prst="rect"><a:avLst/></a:prstGeom>
    <a:solidFill><a:srgbClr val="00C9B1"/></a:solidFill>
    <a:ln><a:noFill/></a:ln>
  </p:spPr>
  <p:txBody><a:bodyPr/><a:lstStyle/><a:p/></p:txBody>
</p:sp>

<p:sp>
  <p:nvSpPr>
    <p:cNvPr id="12" name="SlideTitle"/>
    <p:cNvSpPr txBox="1"><a:spLocks noGrp="1"/></p:cNvSpPr>
    <p:nvPr/>
  </p:nvSpPr>
  <p:spPr>
    <a:xfrm><a:off x="365760" y="109728"/><a:ext cx="10515600" cy="82296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3000" b="1" dirty="0">
          <a:solidFill><a:srgbClr val="FFFFFF"/></a:solidFill>
          <a:latin typeface="Calibri"/>
          <a:cs typeface="Nirmala UI"/>
        </a:rPr>
        <a:t>Motivation & Objectives</a:t>
      </a:r>
    </a:p>
  </p:txBody>
</p:sp>

<p:sp>
  <p:nvSpPr>
    <p:cNvPr id="13" name="SlideSubtitle"/>
    <p:cNvSpPr txBox="1"><a:spLocks noGrp="1"/></p:cNvSpPr>
    <p:nvPr/>
  </p:nvSpPr>
  <p:spPr>
    <a:xfrm><a:off x="365760" y="777240"/><a:ext cx="9144000" cy="36576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00C9B1"/></a:solidFill>
          <a:latin typeface="Calibri"/>
          <a:cs typeface="Nirmala UI"/>
        </a:rPr>
        <a:t>Why this project? What do we aim to achieve?</a:t>
      </a:r>
    </a:p>
  </p:txBody>
</p:sp>

<p:sp>
  <p:nvSpPr>
    <p:cNvPr id="14" name="MotDivider"/>
    <p:cNvSpPr><a:spLocks noGrp="1"/></p:cNvSpPr>
    <p:nvPr/>
  </p:nvSpPr>
  <p:spPr>
    <a:xfrm><a:off x="320040" y="1389888"/><a:ext cx="54864" cy="4389120"/></a:xfrm>
    <a:prstGeom prst="rect"><a:avLst/></a:prstGeom>
    <a:solidFill><a:srgbClr val="00C9B1"/></a:solidFill>
    <a:ln><a:noFill/></a:ln>
  </p:spPr>
  <p:txBody><a:bodyPr/><a:lstStyle/><a:p/></p:txBody>
</p:sp>

<p:sp>
  <p:nvSpPr>
    <p:cNvPr id="15" name="MotHeader"/>
    <p:cNvSpPr txBox="1"><a:spLocks noGrp="1"/></p:cNvSpPr>
    <p:nvPr/>
  </p:nvSpPr>
  <p:spPr>
    <a:xfrm><a:off x="502920" y="1389888"/><a:ext cx="484632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700" b="1" dirty="0">
          <a:solidFill><a:srgbClr val="00C9B1"/></a:solidFill>
          <a:latin typeface="Calibri"/>
          <a:cs typeface="Nirmala UI"/>
        </a:rPr>
        <a:t>MOTIVATION</a:t>
      </a:r>
    </a:p>
  </p:txBody>
</p:sp>

<p:sp>
  <p:nvSpPr>
    <p:cNvPr id="16" name="MotBullets"/>
    <p:cNvSpPr txBox="1"><a:spLocks noGrp="1"/></p:cNvSpPr>
    <p:nvPr/>
  </p:nvSpPr>
  <p:spPr>
    <a:xfrm><a:off x="502920" y="1874519"/><a:ext cx="4937760" cy="3657600"/></a:xfrm>
    <a:prstGeom prst="rect"><a:avLst/></a:prstGeom>
    <a:noFill/>
  </p:spPr>
  <p:txBody>
    <a:bodyPr wrap="square" anchor="t"><a:normAutofit/></a:bodyPr>
    <a:lstStyle/>
    
    <a:p>
      <a:pPr indent="-228600" marL="228600">
        <a:spcBef><a:spcPts val="80"/></a:spcBef><a:lnSpc><a:spcPct val="115"/></a:lnSpc>
      </a:pPr>
      <a:r>
        <a:rPr lang="en-IN" sz="1400" b="0" dirty="0">
          <a:solidFill><a:srgbClr val="00C9B1"/></a:solidFill>
          <a:latin typeface="Calibri"/>
        </a:rPr>
        <a:t>▪  </a:t>
      </a:r>
      <a:r>
        <a:rPr lang="en-IN" sz="1400" b="0" dirty="0">
          <a:solidFill><a:srgbClr val="D0E4F7"/></a:solidFill>
          <a:latin typeface="Calibri"/>
          <a:cs typeface="Nirmala UI"/>
        </a:rPr>
        <a:t>Coreference is critical for advanced NLP pipelines (QA, summarization, translation).</a:t>
      </a:r>
    </a:p>
    <a:p>
      <a:pPr indent="-228600" marL="228600">
        <a:spcBef><a:spcPts val="80"/></a:spcBef><a:lnSpc><a:spcPct val="115"/></a:lnSpc>
      </a:pPr>
      <a:r>
        <a:rPr lang="en-IN" sz="1400" b="0" dirty="0">
          <a:solidFill><a:srgbClr val="00C9B1"/></a:solidFill>
          <a:latin typeface="Calibri"/>
        </a:rPr>
        <a:t>▪  </a:t>
      </a:r>
      <a:r>
        <a:rPr lang="en-IN" sz="1400" b="0" dirty="0">
          <a:solidFill><a:srgbClr val="D0E4F7"/></a:solidFill>
          <a:latin typeface="Calibri"/>
          <a:cs typeface="Nirmala UI"/>
        </a:rPr>
        <a:t>Hindi is spoken by 600M+ people, yet severely under-resourced in NLP.</a:t>
      </a:r>
    </a:p>
    <a:p>
      <a:pPr indent="-228600" marL="228600">
        <a:spcBef><a:spcPts val="80"/></a:spcBef><a:lnSpc><a:spcPct val="115"/></a:lnSpc>
      </a:pPr>
      <a:r>
        <a:rPr lang="en-IN" sz="1400" b="0" dirty="0">
          <a:solidFill><a:srgbClr val="00C9B1"/></a:solidFill>
          <a:latin typeface="Calibri"/>
        </a:rPr>
        <a:t>▪  </a:t>
      </a:r>
      <a:r>
        <a:rPr lang="en-IN" sz="1400" b="0" dirty="0">
          <a:solidFill><a:srgbClr val="D0E4F7"/></a:solidFill>
          <a:latin typeface="Calibri"/>
          <a:cs typeface="Nirmala UI"/>
        </a:rPr>
        <a:t>Existing English-focused tools fail on Hindi morphology and script.</a:t>
      </a:r>
    </a:p>
    <a:p>
      <a:pPr indent="-228600" marL="228600">
        <a:spcBef><a:spcPts val="80"/></a:spcBef><a:lnSpc><a:spcPct val="115"/></a:lnSpc>
      </a:pPr>
      <a:r>
        <a:rPr lang="en-IN" sz="1400" b="0" dirty="0">
          <a:solidFill><a:srgbClr val="00C9B1"/></a:solidFill>
          <a:latin typeface="Calibri"/>
        </a:rPr>
        <a:t>▪  </a:t>
      </a:r>
      <a:r>
        <a:rPr lang="en-IN" sz="1400" b="0" dirty="0">
          <a:solidFill><a:srgbClr val="D0E4F7"/></a:solidFill>
          <a:latin typeface="Calibri"/>
          <a:cs typeface="Nirmala UI"/>
        </a:rPr>
        <a:t>Pretrained Indic language models (IndicBERTv2) offer new opportunities.</a:t>
      </a:r>
    </a:p>
    <a:p>
      <a:pPr indent="-228600" marL="228600">
        <a:spcBef><a:spcPts val="80"/></a:spcBef><a:lnSpc><a:spcPct val="115"/></a:lnSpc>
      </a:pPr>
      <a:r>
        <a:rPr lang="en-IN" sz="1400" b="0" dirty="0">
          <a:solidFill><a:srgbClr val="00C9B1"/></a:solidFill>
          <a:latin typeface="Calibri"/>
        </a:rPr>
        <a:t>▪  </a:t>
      </a:r>
      <a:r>
        <a:rPr lang="en-IN" sz="1400" b="0" dirty="0">
          <a:solidFill><a:srgbClr val="D0E4F7"/></a:solidFill>
          <a:latin typeface="Calibri"/>
          <a:cs typeface="Nirmala UI"/>
        </a:rPr>
        <a:t>Research gap: No robust open-source Hindi coreference system exists.</a:t>
      </a:r>
    </a:p>
  </p:txBody>
</p:sp>

<p:sp>
  <p:nvSpPr>
    <p:cNvPr id="17" name="ObjDivider"/>
    <p:cNvSpPr><a:spLocks noGrp="1"/></p:cNvSpPr>
    <p:nvPr/>
  </p:nvSpPr>
  <p:spPr>
    <a:xfrm><a:off x="6035040" y="1389888"/><a:ext cx="54864" cy="4389120"/></a:xfrm>
    <a:prstGeom prst="rect"><a:avLst/></a:prstGeom>
    <a:solidFill><a:srgbClr val="F5A623"/></a:solidFill>
    <a:ln><a:noFill/></a:ln>
  </p:spPr>
  <p:txBody><a:bodyPr/><a:lstStyle/><a:p/></p:txBody>
</p:sp>

<p:sp>
  <p:nvSpPr>
    <p:cNvPr id="18" name="ObjHeader"/>
    <p:cNvSpPr txBox="1"><a:spLocks noGrp="1"/></p:cNvSpPr>
    <p:nvPr/>
  </p:nvSpPr>
  <p:spPr>
    <a:xfrm><a:off x="6217920" y="1389888"/><a:ext cx="484632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700" b="1" dirty="0">
          <a:solidFill><a:srgbClr val="F5A623"/></a:solidFill>
          <a:latin typeface="Calibri"/>
          <a:cs typeface="Nirmala UI"/>
        </a:rPr>
        <a:t>OBJECTIVES</a:t>
      </a:r>
    </a:p>
  </p:txBody>
</p:sp>

<p:sp>
  <p:nvSpPr>
    <p:cNvPr id="19" name="ObjBullets"/>
    <p:cNvSpPr txBox="1"><a:spLocks noGrp="1"/></p:cNvSpPr>
    <p:nvPr/>
  </p:nvSpPr>
  <p:spPr>
    <a:xfrm><a:off x="6217920" y="1874519"/><a:ext cx="4937760" cy="3657600"/></a:xfrm>
    <a:prstGeom prst="rect"><a:avLst/></a:prstGeom>
    <a:noFill/>
  </p:spPr>
  <p:txBody>
    <a:bodyPr wrap="square" anchor="t"><a:normAutofit/></a:bodyPr>
    <a:lstStyle/>
    
    <a:p>
      <a:pPr indent="-228600" marL="228600">
        <a:spcBef><a:spcPts val="80"/></a:spcBef><a:lnSpc><a:spcPct val="115"/></a:lnSpc>
      </a:pPr>
      <a:r>
        <a:rPr lang="en-IN" sz="1400" b="0" dirty="0">
          <a:solidFill><a:srgbClr val="F5A623"/></a:solidFill>
          <a:latin typeface="Calibri"/>
        </a:rPr>
        <a:t>▪  </a:t>
      </a:r>
      <a:r>
        <a:rPr lang="en-IN" sz="1400" b="0" dirty="0">
          <a:solidFill><a:srgbClr val="D0E4F7"/></a:solidFill>
          <a:latin typeface="Calibri"/>
          <a:cs typeface="Nirmala UI"/>
        </a:rPr>
        <a:t>Build an unsupervised and supervised Hindi coreference pipeline.</a:t>
      </a:r>
    </a:p>
    <a:p>
      <a:pPr indent="-228600" marL="228600">
        <a:spcBef><a:spcPts val="80"/></a:spcBef><a:lnSpc><a:spcPct val="115"/></a:lnSpc>
      </a:pPr>
      <a:r>
        <a:rPr lang="en-IN" sz="1400" b="0" dirty="0">
          <a:solidFill><a:srgbClr val="F5A623"/></a:solidFill>
          <a:latin typeface="Calibri"/>
        </a:rPr>
        <a:t>▪  </a:t>
      </a:r>
      <a:r>
        <a:rPr lang="en-IN" sz="1400" b="0" dirty="0">
          <a:solidFill><a:srgbClr val="D0E4F7"/></a:solidFill>
          <a:latin typeface="Calibri"/>
          <a:cs typeface="Nirmala UI"/>
        </a:rPr>
        <a:t>Train or adapt pretrained Indic transformer models for mention encoding.</a:t>
      </a:r>
    </a:p>
    <a:p>
      <a:pPr indent="-228600" marL="228600">
        <a:spcBef><a:spcPts val="80"/></a:spcBef><a:lnSpc><a:spcPct val="115"/></a:lnSpc>
      </a:pPr>
      <a:r>
        <a:rPr lang="en-IN" sz="1400" b="0" dirty="0">
          <a:solidFill><a:srgbClr val="F5A623"/></a:solidFill>
          <a:latin typeface="Calibri"/>
        </a:rPr>
        <a:t>▪  </a:t>
      </a:r>
      <a:r>
        <a:rPr lang="en-IN" sz="1400" b="0" dirty="0">
          <a:solidFill><a:srgbClr val="D0E4F7"/></a:solidFill>
          <a:latin typeface="Calibri"/>
          <a:cs typeface="Nirmala UI"/>
        </a:rPr>
        <a:t>Create a manually annotated Hindi coreference benchmark dataset.</a:t>
      </a:r>
    </a:p>
    <a:p>
      <a:pPr indent="-228600" marL="228600">
        <a:spcBef><a:spcPts val="80"/></a:spcBef><a:lnSpc><a:spcPct val="115"/></a:lnSpc>
      </a:pPr>
      <a:r>
        <a:rPr lang="en-IN" sz="1400" b="0" dirty="0">
          <a:solidFill><a:srgbClr val="F5A623"/></a:solidFill>
          <a:latin typeface="Calibri"/>
        </a:rPr>
        <a:t>▪  </a:t>
      </a:r>
      <a:r>
        <a:rPr lang="en-IN" sz="1400" b="0" dirty="0">
          <a:solidFill><a:srgbClr val="D0E4F7"/></a:solidFill>
          <a:latin typeface="Calibri"/>
          <a:cs typeface="Nirmala UI"/>
        </a:rPr>
        <a:t>Engineer linguistically motivated features for pairwise classification.</a:t>
      </a:r>
    </a:p>
    <a:p>
      <a:pPr indent="-228600" marL="228600">
        <a:spcBef><a:spcPts val="80"/></a:spcBef><a:lnSpc><a:spcPct val="115"/></a:lnSpc>
      </a:pPr>
      <a:r>
        <a:rPr lang="en-IN" sz="1400" b="0" dirty="0">
          <a:solidFill><a:srgbClr val="F5A623"/></a:solidFill>
          <a:latin typeface="Calibri"/>
        </a:rPr>
        <a:t>▪  </a:t>
      </a:r>
      <a:r>
        <a:rPr lang="en-IN" sz="1400" b="0" dirty="0">
          <a:solidFill><a:srgbClr val="D0E4F7"/></a:solidFill>
          <a:latin typeface="Calibri"/>
          <a:cs typeface="Nirmala UI"/>
        </a:rPr>
        <a:t>Evaluate and compare Phase 1 (unsupervised) vs Phase 2 (supervised hybrid).</a:t>
      </a:r>
    </a:p>
  </p:txBody>
</p:sp>

<p:sp>
  <p:nvSpPr>
    <p:cNvPr id="20" name="FooterBar"/>
    <p:cNvSpPr><a:spLocks noGrp="1"/></p:cNvSpPr>
    <p:nvPr/>
  </p:nvSpPr>
  <p:spPr>
    <a:xfrm><a:off x="0" y="6446520"/><a:ext cx="12192000" cy="411480"/></a:xfrm>
    <a:prstGeom prst="rect"><a:avLst/></a:prstGeom>
    <a:solidFill><a:srgbClr val="112238"/></a:solidFill>
    <a:ln><a:noFill/></a:ln>
  </p:spPr>
  <p:txBody><a:bodyPr/><a:lstStyle/><a:p/></p:txBody>
</p:sp>

<p:sp>
  <p:nvSpPr>
    <p:cNvPr id="21" name="FooterLine"/>
    <p:cNvSpPr><a:spLocks noGrp="1"/></p:cNvSpPr>
    <p:nvPr/>
  </p:nvSpPr>
  <p:spPr>
    <a:xfrm><a:off x="0" y="6446520"/><a:ext cx="12192000" cy="36576"/></a:xfrm>
    <a:prstGeom prst="rect"><a:avLst/></a:prstGeom>
    <a:solidFill><a:srgbClr val="00C9B1"/></a:solidFill>
    <a:ln><a:noFill/></a:ln>
  </p:spPr>
  <p:txBody><a:bodyPr/><a:lstStyle/><a:p/></p:txBody>
</p:sp>

<p:sp>
  <p:nvSpPr>
    <p:cNvPr id="22" name="FooterLeft"/>
    <p:cNvSpPr txBox="1"><a:spLocks noGrp="1"/></p:cNvSpPr>
    <p:nvPr/>
  </p:nvSpPr>
  <p:spPr>
    <a:xfrm><a:off x="274320" y="6492240"/><a:ext cx="5486400" cy="32004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000" b="0" dirty="0">
          <a:solidFill><a:srgbClr val="8AAEC8"/></a:solidFill>
          <a:latin typeface="Calibri"/>
          <a:cs typeface="Nirmala UI"/>
        </a:rPr>
        <a:t>Hindi Coreference Resolution | CIT Kokrajhar</a:t>
      </a:r>
    </a:p>
  </p:txBody>
</p:sp>

<p:sp>
  <p:nvSpPr>
    <p:cNvPr id="23" name="FooterRight"/>
    <p:cNvSpPr txBox="1"><a:spLocks noGrp="1"/></p:cNvSpPr>
    <p:nvPr/>
  </p:nvSpPr>
  <p:spPr>
    <a:xfrm><a:off x="8229600" y="6492240"/><a:ext cx="2743200" cy="320040"/></a:xfrm>
    <a:prstGeom prst="rect"><a:avLst/></a:prstGeom>
    <a:noFill/>
  </p:spPr>
  <p:txBody>
    <a:bodyPr wrap="square" anchor="t" autofit=""><a:normAutofit/></a:bodyPr>
    <a:lstStyle/>
    
    <a:p>
      <a:pPr algn="r"></a:pPr>
      <a:r>
        <a:rPr lang="en-IN" sz="1000" b="0" dirty="0">
          <a:solidFill><a:srgbClr val="8AAEC8"/></a:solidFill>
          <a:latin typeface="Calibri"/>
          <a:cs typeface="Nirmala UI"/>
        </a:rPr>
        <a:t>B.Tech Project Presentation  |  2026</a:t>
      </a:r>
    </a:p>
  </p:txBody>
</p:sp>
    </p:spTree>
  </p:cSld>
  <p:clrMapOvr><a:masterClrMapping/></p:clrMapOvr>
</p:sld>
</file>

<file path=ppt/slides/slide6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bg>
      <p:bgPr>
        <a:solidFill><a:srgbClr val="1A2E4A"/></a:solidFill>
        <a:effectLst/>
      </p:bgPr>
    </p:bg>
    <p:spTree>
      <p:nvGrpSpPr>
        <p:cNvPr id="1" name=""/>
        <p:cNvGrpSpPr/>
        <p:nvPr/>
      </p:nvGrpSpPr>
      <p:grpSpPr>
        <a:xfrm><a:off x="0" y="0"/><a:ext cx="12192000" cy="6858000"/><a:chOff x="0" y="0"/><a:chExt cx="12192000" cy="6858000"/></a:xfrm>
      </p:grpSpPr>
      
<p:sp>
  <p:nvSpPr>
    <p:cNvPr id="10" name="TopBar"/>
    <p:cNvSpPr><a:spLocks noGrp="1"/></p:cNvSpPr>
    <p:nvPr/>
  </p:nvSpPr>
  <p:spPr>
    <a:xfrm><a:off x="0" y="0"/><a:ext cx="12192000" cy="1143000"/></a:xfrm>
    <a:prstGeom prst="rect"><a:avLst/></a:prstGeom>
    <a:solidFill><a:srgbClr val="112238"/></a:solidFill>
    <a:ln><a:noFill/></a:ln>
  </p:spPr>
  <p:txBody><a:bodyPr/><a:lstStyle/><a:p/></p:txBody>
</p:sp>

<p:sp>
  <p:nvSpPr>
    <p:cNvPr id="11" name="AccentLine"/>
    <p:cNvSpPr><a:spLocks noGrp="1"/></p:cNvSpPr>
    <p:nvPr/>
  </p:nvSpPr>
  <p:spPr>
    <a:xfrm><a:off x="0" y="1143000"/><a:ext cx="12192000" cy="54864"/></a:xfrm>
    <a:prstGeom prst="rect"><a:avLst/></a:prstGeom>
    <a:solidFill><a:srgbClr val="00C9B1"/></a:solidFill>
    <a:ln><a:noFill/></a:ln>
  </p:spPr>
  <p:txBody><a:bodyPr/><a:lstStyle/><a:p/></p:txBody>
</p:sp>

<p:sp>
  <p:nvSpPr>
    <p:cNvPr id="12" name="SlideTitle"/>
    <p:cNvSpPr txBox="1"><a:spLocks noGrp="1"/></p:cNvSpPr>
    <p:nvPr/>
  </p:nvSpPr>
  <p:spPr>
    <a:xfrm><a:off x="365760" y="109728"/><a:ext cx="10515600" cy="82296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3000" b="1" dirty="0">
          <a:solidFill><a:srgbClr val="FFFFFF"/></a:solidFill>
          <a:latin typeface="Calibri"/>
          <a:cs typeface="Nirmala UI"/>
        </a:rPr>
        <a:t>Literature Review</a:t>
      </a:r>
    </a:p>
  </p:txBody>
</p:sp>

<p:sp>
  <p:nvSpPr>
    <p:cNvPr id="13" name="SlideSubtitle"/>
    <p:cNvSpPr txBox="1"><a:spLocks noGrp="1"/></p:cNvSpPr>
    <p:nvPr/>
  </p:nvSpPr>
  <p:spPr>
    <a:xfrm><a:off x="365760" y="777240"/><a:ext cx="9144000" cy="36576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00C9B1"/></a:solidFill>
          <a:latin typeface="Calibri"/>
          <a:cs typeface="Nirmala UI"/>
        </a:rPr>
        <a:t>Prior work in coreference resolution and Hindi NLP</a:t>
      </a:r>
    </a:p>
  </p:txBody>
</p:sp>

<p:sp>
  <p:nvSpPr>
    <p:cNvPr id="14" name="TH0"/>
    <p:cNvSpPr><a:spLocks noGrp="1"/></p:cNvSpPr>
    <p:nvPr/>
  </p:nvSpPr>
  <p:spPr>
    <a:xfrm><a:off x="320040" y="1417320"/><a:ext cx="2651760" cy="502920"/></a:xfrm>
    <a:prstGeom prst="rect"><a:avLst/></a:prstGeom>
    <a:solidFill><a:srgbClr val="00C9B1"/></a:solidFill>
    <a:ln><a:noFill/></a:ln>
  </p:spPr>
  <p:txBody><a:bodyPr/><a:lstStyle/><a:p/></p:txBody>
</p:sp>

<p:sp>
  <p:nvSpPr>
    <p:cNvPr id="15" name="THT0"/>
    <p:cNvSpPr txBox="1"><a:spLocks noGrp="1"/></p:cNvSpPr>
    <p:nvPr/>
  </p:nvSpPr>
  <p:spPr>
    <a:xfrm><a:off x="411480" y="1490472"/><a:ext cx="25146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500" b="1" dirty="0">
          <a:solidFill><a:srgbClr val="FFFFFF"/></a:solidFill>
          <a:latin typeface="Calibri"/>
          <a:cs typeface="Nirmala UI"/>
        </a:rPr>
        <a:t>Reference</a:t>
      </a:r>
    </a:p>
  </p:txBody>
</p:sp>

<p:sp>
  <p:nvSpPr>
    <p:cNvPr id="16" name="TH1"/>
    <p:cNvSpPr><a:spLocks noGrp="1"/></p:cNvSpPr>
    <p:nvPr/>
  </p:nvSpPr>
  <p:spPr>
    <a:xfrm><a:off x="3017520" y="1417320"/><a:ext cx="2194560" cy="502920"/></a:xfrm>
    <a:prstGeom prst="rect"><a:avLst/></a:prstGeom>
    <a:solidFill><a:srgbClr val="0D1B2E"/></a:solidFill>
    <a:ln><a:noFill/></a:ln>
  </p:spPr>
  <p:txBody><a:bodyPr/><a:lstStyle/><a:p/></p:txBody>
</p:sp>

<p:sp>
  <p:nvSpPr>
    <p:cNvPr id="17" name="THT1"/>
    <p:cNvSpPr txBox="1"><a:spLocks noGrp="1"/></p:cNvSpPr>
    <p:nvPr/>
  </p:nvSpPr>
  <p:spPr>
    <a:xfrm><a:off x="3108960" y="1490472"/><a:ext cx="20574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500" b="1" dirty="0">
          <a:solidFill><a:srgbClr val="FFFFFF"/></a:solidFill>
          <a:latin typeface="Calibri"/>
          <a:cs typeface="Nirmala UI"/>
        </a:rPr>
        <a:t>System / Model</a:t>
      </a:r>
    </a:p>
  </p:txBody>
</p:sp>

<p:sp>
  <p:nvSpPr>
    <p:cNvPr id="18" name="TH2"/>
    <p:cNvSpPr><a:spLocks noGrp="1"/></p:cNvSpPr>
    <p:nvPr/>
  </p:nvSpPr>
  <p:spPr>
    <a:xfrm><a:off x="5303520" y="1417320"/><a:ext cx="5394960" cy="502920"/></a:xfrm>
    <a:prstGeom prst="rect"><a:avLst/></a:prstGeom>
    <a:solidFill><a:srgbClr val="112238"/></a:solidFill>
    <a:ln><a:noFill/></a:ln>
  </p:spPr>
  <p:txBody><a:bodyPr/><a:lstStyle/><a:p/></p:txBody>
</p:sp>

<p:sp>
  <p:nvSpPr>
    <p:cNvPr id="19" name="THT2"/>
    <p:cNvSpPr txBox="1"><a:spLocks noGrp="1"/></p:cNvSpPr>
    <p:nvPr/>
  </p:nvSpPr>
  <p:spPr>
    <a:xfrm><a:off x="5394960" y="1490472"/><a:ext cx="52578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500" b="1" dirty="0">
          <a:solidFill><a:srgbClr val="FFFFFF"/></a:solidFill>
          <a:latin typeface="Calibri"/>
          <a:cs typeface="Nirmala UI"/>
        </a:rPr>
        <a:t>Key Contribution</a:t>
      </a:r>
    </a:p>
  </p:txBody>
</p:sp>

<p:sp>
  <p:nvSpPr>
    <p:cNvPr id="20" name="TC00"/>
    <p:cNvSpPr><a:spLocks noGrp="1"/></p:cNvSpPr>
    <p:nvPr/>
  </p:nvSpPr>
  <p:spPr>
    <a:xfrm><a:off x="320040" y="1920240"/><a:ext cx="2651760" cy="502920"/></a:xfrm>
    <a:prstGeom prst="rect"><a:avLst/></a:prstGeom>
    <a:solidFill><a:srgbClr val="122840"/></a:solidFill>
    <a:ln><a:noFill/></a:ln>
  </p:spPr>
  <p:txBody><a:bodyPr/><a:lstStyle/><a:p/></p:txBody>
</p:sp>

<p:sp>
  <p:nvSpPr>
    <p:cNvPr id="21" name="TCT00"/>
    <p:cNvSpPr txBox="1"><a:spLocks noGrp="1"/></p:cNvSpPr>
    <p:nvPr/>
  </p:nvSpPr>
  <p:spPr>
    <a:xfrm><a:off x="411480" y="1984248"/><a:ext cx="25146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300" b="1" dirty="0">
          <a:solidFill><a:srgbClr val="00C9B1"/></a:solidFill>
          <a:latin typeface="Calibri"/>
          <a:cs typeface="Nirmala UI"/>
        </a:rPr>
        <a:t>Lee et al. (2017)</a:t>
      </a:r>
    </a:p>
  </p:txBody>
</p:sp>

<p:sp>
  <p:nvSpPr>
    <p:cNvPr id="22" name="TC01"/>
    <p:cNvSpPr><a:spLocks noGrp="1"/></p:cNvSpPr>
    <p:nvPr/>
  </p:nvSpPr>
  <p:spPr>
    <a:xfrm><a:off x="3017520" y="1920240"/><a:ext cx="2194560" cy="502920"/></a:xfrm>
    <a:prstGeom prst="rect"><a:avLst/></a:prstGeom>
    <a:solidFill><a:srgbClr val="122840"/></a:solidFill>
    <a:ln><a:noFill/></a:ln>
  </p:spPr>
  <p:txBody><a:bodyPr/><a:lstStyle/><a:p/></p:txBody>
</p:sp>

<p:sp>
  <p:nvSpPr>
    <p:cNvPr id="23" name="TCT01"/>
    <p:cNvSpPr txBox="1"><a:spLocks noGrp="1"/></p:cNvSpPr>
    <p:nvPr/>
  </p:nvSpPr>
  <p:spPr>
    <a:xfrm><a:off x="3108960" y="1984248"/><a:ext cx="20574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300" b="0" dirty="0">
          <a:solidFill><a:srgbClr val="F5A623"/></a:solidFill>
          <a:latin typeface="Calibri"/>
          <a:cs typeface="Nirmala UI"/>
        </a:rPr>
        <a:t>e2e-coref</a:t>
      </a:r>
    </a:p>
  </p:txBody>
</p:sp>

<p:sp>
  <p:nvSpPr>
    <p:cNvPr id="24" name="TC02"/>
    <p:cNvSpPr><a:spLocks noGrp="1"/></p:cNvSpPr>
    <p:nvPr/>
  </p:nvSpPr>
  <p:spPr>
    <a:xfrm><a:off x="5303520" y="1920240"/><a:ext cx="5394960" cy="502920"/></a:xfrm>
    <a:prstGeom prst="rect"><a:avLst/></a:prstGeom>
    <a:solidFill><a:srgbClr val="122840"/></a:solidFill>
    <a:ln><a:noFill/></a:ln>
  </p:spPr>
  <p:txBody><a:bodyPr/><a:lstStyle/><a:p/></p:txBody>
</p:sp>

<p:sp>
  <p:nvSpPr>
    <p:cNvPr id="25" name="TCT02"/>
    <p:cNvSpPr txBox="1"><a:spLocks noGrp="1"/></p:cNvSpPr>
    <p:nvPr/>
  </p:nvSpPr>
  <p:spPr>
    <a:xfrm><a:off x="5394960" y="1984248"/><a:ext cx="52578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300" b="0" dirty="0">
          <a:solidFill><a:srgbClr val="D0E4F7"/></a:solidFill>
          <a:latin typeface="Calibri"/>
          <a:cs typeface="Nirmala UI"/>
        </a:rPr>
        <a:t>End-to-end neural coref. Span representations + attention. English-focused.</a:t>
      </a:r>
    </a:p>
  </p:txBody>
</p:sp>

<p:sp>
  <p:nvSpPr>
    <p:cNvPr id="26" name="TC10"/>
    <p:cNvSpPr><a:spLocks noGrp="1"/></p:cNvSpPr>
    <p:nvPr/>
  </p:nvSpPr>
  <p:spPr>
    <a:xfrm><a:off x="320040" y="2423160"/><a:ext cx="2651760" cy="502920"/></a:xfrm>
    <a:prstGeom prst="rect"><a:avLst/></a:prstGeom>
    <a:solidFill><a:srgbClr val="0D1B2E"/></a:solidFill>
    <a:ln><a:noFill/></a:ln>
  </p:spPr>
  <p:txBody><a:bodyPr/><a:lstStyle/><a:p/></p:txBody>
</p:sp>

<p:sp>
  <p:nvSpPr>
    <p:cNvPr id="27" name="TCT10"/>
    <p:cNvSpPr txBox="1"><a:spLocks noGrp="1"/></p:cNvSpPr>
    <p:nvPr/>
  </p:nvSpPr>
  <p:spPr>
    <a:xfrm><a:off x="411480" y="2487168"/><a:ext cx="25146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300" b="1" dirty="0">
          <a:solidFill><a:srgbClr val="00C9B1"/></a:solidFill>
          <a:latin typeface="Calibri"/>
          <a:cs typeface="Nirmala UI"/>
        </a:rPr>
        <a:t>Clark & Manning (2016)</a:t>
      </a:r>
    </a:p>
  </p:txBody>
</p:sp>

<p:sp>
  <p:nvSpPr>
    <p:cNvPr id="28" name="TC11"/>
    <p:cNvSpPr><a:spLocks noGrp="1"/></p:cNvSpPr>
    <p:nvPr/>
  </p:nvSpPr>
  <p:spPr>
    <a:xfrm><a:off x="3017520" y="2423160"/><a:ext cx="2194560" cy="502920"/></a:xfrm>
    <a:prstGeom prst="rect"><a:avLst/></a:prstGeom>
    <a:solidFill><a:srgbClr val="0D1B2E"/></a:solidFill>
    <a:ln><a:noFill/></a:ln>
  </p:spPr>
  <p:txBody><a:bodyPr/><a:lstStyle/><a:p/></p:txBody>
</p:sp>

<p:sp>
  <p:nvSpPr>
    <p:cNvPr id="29" name="TCT11"/>
    <p:cNvSpPr txBox="1"><a:spLocks noGrp="1"/></p:cNvSpPr>
    <p:nvPr/>
  </p:nvSpPr>
  <p:spPr>
    <a:xfrm><a:off x="3108960" y="2487168"/><a:ext cx="20574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300" b="0" dirty="0">
          <a:solidFill><a:srgbClr val="F5A623"/></a:solidFill>
          <a:latin typeface="Calibri"/>
          <a:cs typeface="Nirmala UI"/>
        </a:rPr>
        <a:t>Deep RL Coref</a:t>
      </a:r>
    </a:p>
  </p:txBody>
</p:sp>

<p:sp>
  <p:nvSpPr>
    <p:cNvPr id="30" name="TC12"/>
    <p:cNvSpPr><a:spLocks noGrp="1"/></p:cNvSpPr>
    <p:nvPr/>
  </p:nvSpPr>
  <p:spPr>
    <a:xfrm><a:off x="5303520" y="2423160"/><a:ext cx="5394960" cy="502920"/></a:xfrm>
    <a:prstGeom prst="rect"><a:avLst/></a:prstGeom>
    <a:solidFill><a:srgbClr val="0D1B2E"/></a:solidFill>
    <a:ln><a:noFill/></a:ln>
  </p:spPr>
  <p:txBody><a:bodyPr/><a:lstStyle/><a:p/></p:txBody>
</p:sp>

<p:sp>
  <p:nvSpPr>
    <p:cNvPr id="31" name="TCT12"/>
    <p:cNvSpPr txBox="1"><a:spLocks noGrp="1"/></p:cNvSpPr>
    <p:nvPr/>
  </p:nvSpPr>
  <p:spPr>
    <a:xfrm><a:off x="5394960" y="2487168"/><a:ext cx="52578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300" b="0" dirty="0">
          <a:solidFill><a:srgbClr val="D0E4F7"/></a:solidFill>
          <a:latin typeface="Calibri"/>
          <a:cs typeface="Nirmala UI"/>
        </a:rPr>
        <a:t>Reinforcement learning for antecedent selection. State-of-art at time.</a:t>
      </a:r>
    </a:p>
  </p:txBody>
</p:sp>

<p:sp>
  <p:nvSpPr>
    <p:cNvPr id="32" name="TC20"/>
    <p:cNvSpPr><a:spLocks noGrp="1"/></p:cNvSpPr>
    <p:nvPr/>
  </p:nvSpPr>
  <p:spPr>
    <a:xfrm><a:off x="320040" y="2926080"/><a:ext cx="2651760" cy="502920"/></a:xfrm>
    <a:prstGeom prst="rect"><a:avLst/></a:prstGeom>
    <a:solidFill><a:srgbClr val="122840"/></a:solidFill>
    <a:ln><a:noFill/></a:ln>
  </p:spPr>
  <p:txBody><a:bodyPr/><a:lstStyle/><a:p/></p:txBody>
</p:sp>

<p:sp>
  <p:nvSpPr>
    <p:cNvPr id="33" name="TCT20"/>
    <p:cNvSpPr txBox="1"><a:spLocks noGrp="1"/></p:cNvSpPr>
    <p:nvPr/>
  </p:nvSpPr>
  <p:spPr>
    <a:xfrm><a:off x="411480" y="2990088"/><a:ext cx="25146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300" b="1" dirty="0">
          <a:solidFill><a:srgbClr val="00C9B1"/></a:solidFill>
          <a:latin typeface="Calibri"/>
          <a:cs typeface="Nirmala UI"/>
        </a:rPr>
        <a:t>Kumar et al. (2020)</a:t>
      </a:r>
    </a:p>
  </p:txBody>
</p:sp>

<p:sp>
  <p:nvSpPr>
    <p:cNvPr id="34" name="TC21"/>
    <p:cNvSpPr><a:spLocks noGrp="1"/></p:cNvSpPr>
    <p:nvPr/>
  </p:nvSpPr>
  <p:spPr>
    <a:xfrm><a:off x="3017520" y="2926080"/><a:ext cx="2194560" cy="502920"/></a:xfrm>
    <a:prstGeom prst="rect"><a:avLst/></a:prstGeom>
    <a:solidFill><a:srgbClr val="122840"/></a:solidFill>
    <a:ln><a:noFill/></a:ln>
  </p:spPr>
  <p:txBody><a:bodyPr/><a:lstStyle/><a:p/></p:txBody>
</p:sp>

<p:sp>
  <p:nvSpPr>
    <p:cNvPr id="35" name="TCT21"/>
    <p:cNvSpPr txBox="1"><a:spLocks noGrp="1"/></p:cNvSpPr>
    <p:nvPr/>
  </p:nvSpPr>
  <p:spPr>
    <a:xfrm><a:off x="3108960" y="2990088"/><a:ext cx="20574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300" b="0" dirty="0">
          <a:solidFill><a:srgbClr val="F5A623"/></a:solidFill>
          <a:latin typeface="Calibri"/>
          <a:cs typeface="Nirmala UI"/>
        </a:rPr>
        <a:t>Hindi Coref</a:t>
      </a:r>
    </a:p>
  </p:txBody>
</p:sp>

<p:sp>
  <p:nvSpPr>
    <p:cNvPr id="36" name="TC22"/>
    <p:cNvSpPr><a:spLocks noGrp="1"/></p:cNvSpPr>
    <p:nvPr/>
  </p:nvSpPr>
  <p:spPr>
    <a:xfrm><a:off x="5303520" y="2926080"/><a:ext cx="5394960" cy="502920"/></a:xfrm>
    <a:prstGeom prst="rect"><a:avLst/></a:prstGeom>
    <a:solidFill><a:srgbClr val="122840"/></a:solidFill>
    <a:ln><a:noFill/></a:ln>
  </p:spPr>
  <p:txBody><a:bodyPr/><a:lstStyle/><a:p/></p:txBody>
</p:sp>

<p:sp>
  <p:nvSpPr>
    <p:cNvPr id="37" name="TCT22"/>
    <p:cNvSpPr txBox="1"><a:spLocks noGrp="1"/></p:cNvSpPr>
    <p:nvPr/>
  </p:nvSpPr>
  <p:spPr>
    <a:xfrm><a:off x="5394960" y="2990088"/><a:ext cx="52578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300" b="0" dirty="0">
          <a:solidFill><a:srgbClr val="D0E4F7"/></a:solidFill>
          <a:latin typeface="Calibri"/>
          <a:cs typeface="Nirmala UI"/>
        </a:rPr>
        <a:t>Rule-based Hindi coreference using morphological constraints and heuristics.</a:t>
      </a:r>
    </a:p>
  </p:txBody>
</p:sp>

<p:sp>
  <p:nvSpPr>
    <p:cNvPr id="38" name="TC30"/>
    <p:cNvSpPr><a:spLocks noGrp="1"/></p:cNvSpPr>
    <p:nvPr/>
  </p:nvSpPr>
  <p:spPr>
    <a:xfrm><a:off x="320040" y="3429000"/><a:ext cx="2651760" cy="502920"/></a:xfrm>
    <a:prstGeom prst="rect"><a:avLst/></a:prstGeom>
    <a:solidFill><a:srgbClr val="0D1B2E"/></a:solidFill>
    <a:ln><a:noFill/></a:ln>
  </p:spPr>
  <p:txBody><a:bodyPr/><a:lstStyle/><a:p/></p:txBody>
</p:sp>

<p:sp>
  <p:nvSpPr>
    <p:cNvPr id="39" name="TCT30"/>
    <p:cNvSpPr txBox="1"><a:spLocks noGrp="1"/></p:cNvSpPr>
    <p:nvPr/>
  </p:nvSpPr>
  <p:spPr>
    <a:xfrm><a:off x="411480" y="3493008"/><a:ext cx="25146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300" b="1" dirty="0">
          <a:solidFill><a:srgbClr val="00C9B1"/></a:solidFill>
          <a:latin typeface="Calibri"/>
          <a:cs typeface="Nirmala UI"/>
        </a:rPr>
        <a:t>Koto et al. (2021)</a:t>
      </a:r>
    </a:p>
  </p:txBody>
</p:sp>

<p:sp>
  <p:nvSpPr>
    <p:cNvPr id="40" name="TC31"/>
    <p:cNvSpPr><a:spLocks noGrp="1"/></p:cNvSpPr>
    <p:nvPr/>
  </p:nvSpPr>
  <p:spPr>
    <a:xfrm><a:off x="3017520" y="3429000"/><a:ext cx="2194560" cy="502920"/></a:xfrm>
    <a:prstGeom prst="rect"><a:avLst/></a:prstGeom>
    <a:solidFill><a:srgbClr val="0D1B2E"/></a:solidFill>
    <a:ln><a:noFill/></a:ln>
  </p:spPr>
  <p:txBody><a:bodyPr/><a:lstStyle/><a:p/></p:txBody>
</p:sp>

<p:sp>
  <p:nvSpPr>
    <p:cNvPr id="41" name="TCT31"/>
    <p:cNvSpPr txBox="1"><a:spLocks noGrp="1"/></p:cNvSpPr>
    <p:nvPr/>
  </p:nvSpPr>
  <p:spPr>
    <a:xfrm><a:off x="3108960" y="3493008"/><a:ext cx="20574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300" b="0" dirty="0">
          <a:solidFill><a:srgbClr val="F5A623"/></a:solidFill>
          <a:latin typeface="Calibri"/>
          <a:cs typeface="Nirmala UI"/>
        </a:rPr>
        <a:t>IndicBERT</a:t>
      </a:r>
    </a:p>
  </p:txBody>
</p:sp>

<p:sp>
  <p:nvSpPr>
    <p:cNvPr id="42" name="TC32"/>
    <p:cNvSpPr><a:spLocks noGrp="1"/></p:cNvSpPr>
    <p:nvPr/>
  </p:nvSpPr>
  <p:spPr>
    <a:xfrm><a:off x="5303520" y="3429000"/><a:ext cx="5394960" cy="502920"/></a:xfrm>
    <a:prstGeom prst="rect"><a:avLst/></a:prstGeom>
    <a:solidFill><a:srgbClr val="0D1B2E"/></a:solidFill>
    <a:ln><a:noFill/></a:ln>
  </p:spPr>
  <p:txBody><a:bodyPr/><a:lstStyle/><a:p/></p:txBody>
</p:sp>

<p:sp>
  <p:nvSpPr>
    <p:cNvPr id="43" name="TCT32"/>
    <p:cNvSpPr txBox="1"><a:spLocks noGrp="1"/></p:cNvSpPr>
    <p:nvPr/>
  </p:nvSpPr>
  <p:spPr>
    <a:xfrm><a:off x="5394960" y="3493008"/><a:ext cx="52578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300" b="0" dirty="0">
          <a:solidFill><a:srgbClr val="D0E4F7"/></a:solidFill>
          <a:latin typeface="Calibri"/>
          <a:cs typeface="Nirmala UI"/>
        </a:rPr>
        <a:t>Multilingual BERT variant trained on 12 Indic languages including Hindi.</a:t>
      </a:r>
    </a:p>
  </p:txBody>
</p:sp>

<p:sp>
  <p:nvSpPr>
    <p:cNvPr id="44" name="TC40"/>
    <p:cNvSpPr><a:spLocks noGrp="1"/></p:cNvSpPr>
    <p:nvPr/>
  </p:nvSpPr>
  <p:spPr>
    <a:xfrm><a:off x="320040" y="3931920"/><a:ext cx="2651760" cy="502920"/></a:xfrm>
    <a:prstGeom prst="rect"><a:avLst/></a:prstGeom>
    <a:solidFill><a:srgbClr val="122840"/></a:solidFill>
    <a:ln><a:noFill/></a:ln>
  </p:spPr>
  <p:txBody><a:bodyPr/><a:lstStyle/><a:p/></p:txBody>
</p:sp>

<p:sp>
  <p:nvSpPr>
    <p:cNvPr id="45" name="TCT40"/>
    <p:cNvSpPr txBox="1"><a:spLocks noGrp="1"/></p:cNvSpPr>
    <p:nvPr/>
  </p:nvSpPr>
  <p:spPr>
    <a:xfrm><a:off x="411480" y="3995928"/><a:ext cx="25146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300" b="1" dirty="0">
          <a:solidFill><a:srgbClr val="00C9B1"/></a:solidFill>
          <a:latin typeface="Calibri"/>
          <a:cs typeface="Nirmala UI"/>
        </a:rPr>
        <a:t>Dobrovolskii (2021)</a:t>
      </a:r>
    </a:p>
  </p:txBody>
</p:sp>

<p:sp>
  <p:nvSpPr>
    <p:cNvPr id="46" name="TC41"/>
    <p:cNvSpPr><a:spLocks noGrp="1"/></p:cNvSpPr>
    <p:nvPr/>
  </p:nvSpPr>
  <p:spPr>
    <a:xfrm><a:off x="3017520" y="3931920"/><a:ext cx="2194560" cy="502920"/></a:xfrm>
    <a:prstGeom prst="rect"><a:avLst/></a:prstGeom>
    <a:solidFill><a:srgbClr val="122840"/></a:solidFill>
    <a:ln><a:noFill/></a:ln>
  </p:spPr>
  <p:txBody><a:bodyPr/><a:lstStyle/><a:p/></p:txBody>
</p:sp>

<p:sp>
  <p:nvSpPr>
    <p:cNvPr id="47" name="TCT41"/>
    <p:cNvSpPr txBox="1"><a:spLocks noGrp="1"/></p:cNvSpPr>
    <p:nvPr/>
  </p:nvSpPr>
  <p:spPr>
    <a:xfrm><a:off x="3108960" y="3995928"/><a:ext cx="20574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300" b="0" dirty="0">
          <a:solidFill><a:srgbClr val="F5A623"/></a:solidFill>
          <a:latin typeface="Calibri"/>
          <a:cs typeface="Nirmala UI"/>
        </a:rPr>
        <a:t>Word-level Coref</a:t>
      </a:r>
    </a:p>
  </p:txBody>
</p:sp>

<p:sp>
  <p:nvSpPr>
    <p:cNvPr id="48" name="TC42"/>
    <p:cNvSpPr><a:spLocks noGrp="1"/></p:cNvSpPr>
    <p:nvPr/>
  </p:nvSpPr>
  <p:spPr>
    <a:xfrm><a:off x="5303520" y="3931920"/><a:ext cx="5394960" cy="502920"/></a:xfrm>
    <a:prstGeom prst="rect"><a:avLst/></a:prstGeom>
    <a:solidFill><a:srgbClr val="122840"/></a:solidFill>
    <a:ln><a:noFill/></a:ln>
  </p:spPr>
  <p:txBody><a:bodyPr/><a:lstStyle/><a:p/></p:txBody>
</p:sp>

<p:sp>
  <p:nvSpPr>
    <p:cNvPr id="49" name="TCT42"/>
    <p:cNvSpPr txBox="1"><a:spLocks noGrp="1"/></p:cNvSpPr>
    <p:nvPr/>
  </p:nvSpPr>
  <p:spPr>
    <a:xfrm><a:off x="5394960" y="3995928"/><a:ext cx="52578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300" b="0" dirty="0">
          <a:solidFill><a:srgbClr val="D0E4F7"/></a:solidFill>
          <a:latin typeface="Calibri"/>
          <a:cs typeface="Nirmala UI"/>
        </a:rPr>
        <a:t>Reformulation avoiding span enumeration. Efficient for long documents.</a:t>
      </a:r>
    </a:p>
  </p:txBody>
</p:sp>

<p:sp>
  <p:nvSpPr>
    <p:cNvPr id="50" name="TC50"/>
    <p:cNvSpPr><a:spLocks noGrp="1"/></p:cNvSpPr>
    <p:nvPr/>
  </p:nvSpPr>
  <p:spPr>
    <a:xfrm><a:off x="320040" y="4434840"/><a:ext cx="2651760" cy="502920"/></a:xfrm>
    <a:prstGeom prst="rect"><a:avLst/></a:prstGeom>
    <a:solidFill><a:srgbClr val="0D1B2E"/></a:solidFill>
    <a:ln><a:noFill/></a:ln>
  </p:spPr>
  <p:txBody><a:bodyPr/><a:lstStyle/><a:p/></p:txBody>
</p:sp>

<p:sp>
  <p:nvSpPr>
    <p:cNvPr id="51" name="TCT50"/>
    <p:cNvSpPr txBox="1"><a:spLocks noGrp="1"/></p:cNvSpPr>
    <p:nvPr/>
  </p:nvSpPr>
  <p:spPr>
    <a:xfrm><a:off x="411480" y="4498848"/><a:ext cx="25146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300" b="1" dirty="0">
          <a:solidFill><a:srgbClr val="00C9B1"/></a:solidFill>
          <a:latin typeface="Calibri"/>
          <a:cs typeface="Nirmala UI"/>
        </a:rPr>
        <a:t>IndicNLP Suite (2022)</a:t>
      </a:r>
    </a:p>
  </p:txBody>
</p:sp>

<p:sp>
  <p:nvSpPr>
    <p:cNvPr id="52" name="TC51"/>
    <p:cNvSpPr><a:spLocks noGrp="1"/></p:cNvSpPr>
    <p:nvPr/>
  </p:nvSpPr>
  <p:spPr>
    <a:xfrm><a:off x="3017520" y="4434840"/><a:ext cx="2194560" cy="502920"/></a:xfrm>
    <a:prstGeom prst="rect"><a:avLst/></a:prstGeom>
    <a:solidFill><a:srgbClr val="0D1B2E"/></a:solidFill>
    <a:ln><a:noFill/></a:ln>
  </p:spPr>
  <p:txBody><a:bodyPr/><a:lstStyle/><a:p/></p:txBody>
</p:sp>

<p:sp>
  <p:nvSpPr>
    <p:cNvPr id="53" name="TCT51"/>
    <p:cNvSpPr txBox="1"><a:spLocks noGrp="1"/></p:cNvSpPr>
    <p:nvPr/>
  </p:nvSpPr>
  <p:spPr>
    <a:xfrm><a:off x="3108960" y="4498848"/><a:ext cx="20574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300" b="0" dirty="0">
          <a:solidFill><a:srgbClr val="F5A623"/></a:solidFill>
          <a:latin typeface="Calibri"/>
          <a:cs typeface="Nirmala UI"/>
        </a:rPr>
        <a:t>AI4Bharat</a:t>
      </a:r>
    </a:p>
  </p:txBody>
</p:sp>

<p:sp>
  <p:nvSpPr>
    <p:cNvPr id="54" name="TC52"/>
    <p:cNvSpPr><a:spLocks noGrp="1"/></p:cNvSpPr>
    <p:nvPr/>
  </p:nvSpPr>
  <p:spPr>
    <a:xfrm><a:off x="5303520" y="4434840"/><a:ext cx="5394960" cy="502920"/></a:xfrm>
    <a:prstGeom prst="rect"><a:avLst/></a:prstGeom>
    <a:solidFill><a:srgbClr val="0D1B2E"/></a:solidFill>
    <a:ln><a:noFill/></a:ln>
  </p:spPr>
  <p:txBody><a:bodyPr/><a:lstStyle/><a:p/></p:txBody>
</p:sp>

<p:sp>
  <p:nvSpPr>
    <p:cNvPr id="55" name="TCT52"/>
    <p:cNvSpPr txBox="1"><a:spLocks noGrp="1"/></p:cNvSpPr>
    <p:nvPr/>
  </p:nvSpPr>
  <p:spPr>
    <a:xfrm><a:off x="5394960" y="4498848"/><a:ext cx="5257800" cy="41148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300" b="0" dirty="0">
          <a:solidFill><a:srgbClr val="D0E4F7"/></a:solidFill>
          <a:latin typeface="Calibri"/>
          <a:cs typeface="Nirmala UI"/>
        </a:rPr>
        <a:t>IndicBERTv2 — state-of-art contextual embeddings for Indic languages.</a:t>
      </a:r>
    </a:p>
  </p:txBody>
</p:sp>

<p:sp>
  <p:nvSpPr>
    <p:cNvPr id="56" name="GapBox"/>
    <p:cNvSpPr><a:spLocks noGrp="1"/></p:cNvSpPr>
    <p:nvPr/>
  </p:nvSpPr>
  <p:spPr>
    <a:xfrm><a:off x="320040" y="5623560"/><a:ext cx="10515600" cy="685800"/></a:xfrm>
    <a:prstGeom prst="roundRect"><a:avLst><a:gd name="adj" fmla="val 16667"/></a:avLst></a:prstGeom>
    <a:solidFill><a:srgbClr val="0D1B2E"/></a:solidFill>
    <a:ln w="12700"><a:solidFill><a:srgbClr val="F5A623"/></a:solidFill></a:ln>
  </p:spPr>
  <p:txBody><a:bodyPr/><a:lstStyle/><a:p/></p:txBody>
</p:sp>

<p:sp>
  <p:nvSpPr>
    <p:cNvPr id="57" name="GapTxt"/>
    <p:cNvSpPr txBox="1"><a:spLocks noGrp="1"/></p:cNvSpPr>
    <p:nvPr/>
  </p:nvSpPr>
  <p:spPr>
    <a:xfrm><a:off x="502920" y="5687568"/><a:ext cx="10058400" cy="54864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D0E4F7"/></a:solidFill>
          <a:latin typeface="Calibri"/>
          <a:cs typeface="Nirmala UI"/>
        </a:rPr>
        <a:t>Research Gap: No end-to-end supervised Hindi coreference system with Indic pretrained models exists in open literature.</a:t>
      </a:r>
    </a:p>
  </p:txBody>
</p:sp>

<p:sp>
  <p:nvSpPr>
    <p:cNvPr id="58" name="FooterBar"/>
    <p:cNvSpPr><a:spLocks noGrp="1"/></p:cNvSpPr>
    <p:nvPr/>
  </p:nvSpPr>
  <p:spPr>
    <a:xfrm><a:off x="0" y="6446520"/><a:ext cx="12192000" cy="411480"/></a:xfrm>
    <a:prstGeom prst="rect"><a:avLst/></a:prstGeom>
    <a:solidFill><a:srgbClr val="112238"/></a:solidFill>
    <a:ln><a:noFill/></a:ln>
  </p:spPr>
  <p:txBody><a:bodyPr/><a:lstStyle/><a:p/></p:txBody>
</p:sp>

<p:sp>
  <p:nvSpPr>
    <p:cNvPr id="59" name="FooterLine"/>
    <p:cNvSpPr><a:spLocks noGrp="1"/></p:cNvSpPr>
    <p:nvPr/>
  </p:nvSpPr>
  <p:spPr>
    <a:xfrm><a:off x="0" y="6446520"/><a:ext cx="12192000" cy="36576"/></a:xfrm>
    <a:prstGeom prst="rect"><a:avLst/></a:prstGeom>
    <a:solidFill><a:srgbClr val="00C9B1"/></a:solidFill>
    <a:ln><a:noFill/></a:ln>
  </p:spPr>
  <p:txBody><a:bodyPr/><a:lstStyle/><a:p/></p:txBody>
</p:sp>

<p:sp>
  <p:nvSpPr>
    <p:cNvPr id="60" name="FooterLeft"/>
    <p:cNvSpPr txBox="1"><a:spLocks noGrp="1"/></p:cNvSpPr>
    <p:nvPr/>
  </p:nvSpPr>
  <p:spPr>
    <a:xfrm><a:off x="274320" y="6492240"/><a:ext cx="5486400" cy="32004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000" b="0" dirty="0">
          <a:solidFill><a:srgbClr val="8AAEC8"/></a:solidFill>
          <a:latin typeface="Calibri"/>
          <a:cs typeface="Nirmala UI"/>
        </a:rPr>
        <a:t>Hindi Coreference Resolution | CIT Kokrajhar</a:t>
      </a:r>
    </a:p>
  </p:txBody>
</p:sp>

<p:sp>
  <p:nvSpPr>
    <p:cNvPr id="61" name="FooterRight"/>
    <p:cNvSpPr txBox="1"><a:spLocks noGrp="1"/></p:cNvSpPr>
    <p:nvPr/>
  </p:nvSpPr>
  <p:spPr>
    <a:xfrm><a:off x="8229600" y="6492240"/><a:ext cx="2743200" cy="320040"/></a:xfrm>
    <a:prstGeom prst="rect"><a:avLst/></a:prstGeom>
    <a:noFill/>
  </p:spPr>
  <p:txBody>
    <a:bodyPr wrap="square" anchor="t" autofit=""><a:normAutofit/></a:bodyPr>
    <a:lstStyle/>
    
    <a:p>
      <a:pPr algn="r"></a:pPr>
      <a:r>
        <a:rPr lang="en-IN" sz="1000" b="0" dirty="0">
          <a:solidFill><a:srgbClr val="8AAEC8"/></a:solidFill>
          <a:latin typeface="Calibri"/>
          <a:cs typeface="Nirmala UI"/>
        </a:rPr>
        <a:t>B.Tech Project Presentation  |  2026</a:t>
      </a:r>
    </a:p>
  </p:txBody>
</p:sp>
    </p:spTree>
  </p:cSld>
  <p:clrMapOvr><a:masterClrMapping/>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opBar"/>
          <p:cNvSpPr>
            <a:spLocks noGrp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Line"/>
          <p:cNvSpPr>
            <a:spLocks noGrp="1"/>
          </p:cNvSpPr>
          <p:nvPr/>
        </p:nvSpPr>
        <p:spPr>
          <a:xfrm>
            <a:off x="0" y="1143000"/>
            <a:ext cx="1219200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lideTitle"/>
          <p:cNvSpPr txBox="1">
            <a:spLocks noGrp="1"/>
          </p:cNvSpPr>
          <p:nvPr/>
        </p:nvSpPr>
        <p:spPr>
          <a:xfrm>
            <a:off x="365760" y="109728"/>
            <a:ext cx="10515600" cy="8229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3000" b="1" dirty="0">
                <a:solidFill>
                  <a:srgbClr val="FFFFFF"/>
                </a:solidFill>
                <a:latin typeface="Calibri"/>
                <a:cs typeface="Nirmala UI"/>
              </a:rPr>
              <a:t>Dataset Description</a:t>
            </a:r>
          </a:p>
        </p:txBody>
      </p:sp>
      <p:sp>
        <p:nvSpPr>
          <p:cNvPr id="13" name="SlideSubtitle"/>
          <p:cNvSpPr txBox="1">
            <a:spLocks noGrp="1"/>
          </p:cNvSpPr>
          <p:nvPr/>
        </p:nvSpPr>
        <p:spPr>
          <a:xfrm>
            <a:off x="365760" y="777240"/>
            <a:ext cx="914400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400" b="0" dirty="0">
                <a:solidFill>
                  <a:srgbClr val="00C9B1"/>
                </a:solidFill>
                <a:latin typeface="Calibri"/>
                <a:cs typeface="Nirmala UI"/>
              </a:rPr>
              <a:t>Training corpus and annotated benchmark</a:t>
            </a:r>
          </a:p>
        </p:txBody>
      </p:sp>
      <p:sp>
        <p:nvSpPr>
          <p:cNvPr id="14" name="P1Box"/>
          <p:cNvSpPr>
            <a:spLocks noGrp="1"/>
          </p:cNvSpPr>
          <p:nvPr/>
        </p:nvSpPr>
        <p:spPr>
          <a:xfrm>
            <a:off x="320040" y="1417320"/>
            <a:ext cx="5074920" cy="4526280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 w="12700">
            <a:solidFill>
              <a:srgbClr val="00C9B1"/>
            </a:solidFill>
          </a:ln>
        </p:spPr>
        <p:txBody>
          <a:bodyPr/>
          <a:lstStyle/>
          <a:p/>
        </p:txBody>
      </p:sp>
      <p:sp>
        <p:nvSpPr>
          <p:cNvPr id="15" name="P1Header"/>
          <p:cNvSpPr>
            <a:spLocks noGrp="1"/>
          </p:cNvSpPr>
          <p:nvPr/>
        </p:nvSpPr>
        <p:spPr>
          <a:xfrm>
            <a:off x="320040" y="1417320"/>
            <a:ext cx="5074920" cy="5029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1HT"/>
          <p:cNvSpPr txBox="1">
            <a:spLocks noGrp="1"/>
          </p:cNvSpPr>
          <p:nvPr/>
        </p:nvSpPr>
        <p:spPr>
          <a:xfrm>
            <a:off x="457200" y="1463040"/>
            <a:ext cx="4846320" cy="41148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600" b="1" dirty="0">
                <a:solidFill>
                  <a:srgbClr val="1A2E4A"/>
                </a:solidFill>
                <a:latin typeface="Calibri"/>
                <a:cs typeface="Nirmala UI"/>
              </a:rPr>
              <a:t>PHASE 1 — Pretraining Corpus</a:t>
            </a:r>
          </a:p>
        </p:txBody>
      </p:sp>
      <p:sp>
        <p:nvSpPr>
          <p:cNvPr id="17" name="P1Bullets"/>
          <p:cNvSpPr txBox="1">
            <a:spLocks noGrp="1"/>
          </p:cNvSpPr>
          <p:nvPr/>
        </p:nvSpPr>
        <p:spPr>
          <a:xfrm>
            <a:off x="457200" y="2057400"/>
            <a:ext cx="4754880" cy="3657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400" b="0" dirty="0">
                <a:solidFill>
                  <a:srgbClr val="00C9B1"/>
                </a:solidFill>
                <a:latin typeface="Calibri"/>
              </a:rPr>
              <a:t>▪  </a:t>
            </a:r>
            <a:r>
              <a:rPr lang="en-IN" sz="1400" b="0" dirty="0">
                <a:solidFill>
                  <a:srgbClr val="D0E4F7"/>
                </a:solidFill>
                <a:latin typeface="Calibri"/>
                <a:cs typeface="Nirmala UI"/>
              </a:rPr>
              <a:t>~172,000 Hindi Wikipedia documents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400" b="0" dirty="0">
                <a:solidFill>
                  <a:srgbClr val="00C9B1"/>
                </a:solidFill>
                <a:latin typeface="Calibri"/>
              </a:rPr>
              <a:t>▪  </a:t>
            </a:r>
            <a:r>
              <a:rPr lang="en-IN" sz="1400" b="0" dirty="0">
                <a:solidFill>
                  <a:srgbClr val="D0E4F7"/>
                </a:solidFill>
                <a:latin typeface="Calibri"/>
                <a:cs typeface="Nirmala UI"/>
              </a:rPr>
              <a:t>Raw text — no coreference annotations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400" b="0" dirty="0">
                <a:solidFill>
                  <a:srgbClr val="00C9B1"/>
                </a:solidFill>
                <a:latin typeface="Calibri"/>
              </a:rPr>
              <a:t>▪  </a:t>
            </a:r>
            <a:r>
              <a:rPr lang="en-IN" sz="1400" b="0" dirty="0">
                <a:solidFill>
                  <a:srgbClr val="D0E4F7"/>
                </a:solidFill>
                <a:latin typeface="Calibri"/>
                <a:cs typeface="Nirmala UI"/>
              </a:rPr>
              <a:t>Used for MLM pretraining of compact BERT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400" b="0" dirty="0">
                <a:solidFill>
                  <a:srgbClr val="00C9B1"/>
                </a:solidFill>
                <a:latin typeface="Calibri"/>
              </a:rPr>
              <a:t>▪  </a:t>
            </a:r>
            <a:r>
              <a:rPr lang="en-IN" sz="1400" b="0" dirty="0">
                <a:solidFill>
                  <a:srgbClr val="D0E4F7"/>
                </a:solidFill>
                <a:latin typeface="Calibri"/>
                <a:cs typeface="Nirmala UI"/>
              </a:rPr>
              <a:t>SentencePiece BPE tokenizer (vocab = 32K)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400" b="0" dirty="0">
                <a:solidFill>
                  <a:srgbClr val="00C9B1"/>
                </a:solidFill>
                <a:latin typeface="Calibri"/>
              </a:rPr>
              <a:t>▪  </a:t>
            </a:r>
            <a:r>
              <a:rPr lang="en-IN" sz="1400" b="0" dirty="0">
                <a:solidFill>
                  <a:srgbClr val="D0E4F7"/>
                </a:solidFill>
                <a:latin typeface="Calibri"/>
                <a:cs typeface="Nirmala UI"/>
              </a:rPr>
              <a:t>Train/Val split: 90% / 10%</a:t>
            </a:r>
          </a:p>
        </p:txBody>
      </p:sp>
      <p:sp>
        <p:nvSpPr>
          <p:cNvPr id="18" name="P2Box"/>
          <p:cNvSpPr>
            <a:spLocks noGrp="1"/>
          </p:cNvSpPr>
          <p:nvPr/>
        </p:nvSpPr>
        <p:spPr>
          <a:xfrm>
            <a:off x="5715000" y="1417320"/>
            <a:ext cx="5074920" cy="4526280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 w="12700">
            <a:solidFill>
              <a:srgbClr val="F5A623"/>
            </a:solidFill>
          </a:ln>
        </p:spPr>
        <p:txBody>
          <a:bodyPr/>
          <a:lstStyle/>
          <a:p/>
        </p:txBody>
      </p:sp>
      <p:sp>
        <p:nvSpPr>
          <p:cNvPr id="19" name="P2Header"/>
          <p:cNvSpPr>
            <a:spLocks noGrp="1"/>
          </p:cNvSpPr>
          <p:nvPr/>
        </p:nvSpPr>
        <p:spPr>
          <a:xfrm>
            <a:off x="5715000" y="1417320"/>
            <a:ext cx="507492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P2HT"/>
          <p:cNvSpPr txBox="1">
            <a:spLocks noGrp="1"/>
          </p:cNvSpPr>
          <p:nvPr/>
        </p:nvSpPr>
        <p:spPr>
          <a:xfrm>
            <a:off x="5852160" y="1463040"/>
            <a:ext cx="4846320" cy="41148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600" b="1" dirty="0">
                <a:solidFill>
                  <a:srgbClr val="1A2E4A"/>
                </a:solidFill>
                <a:latin typeface="Calibri"/>
                <a:cs typeface="Nirmala UI"/>
              </a:rPr>
              <a:t>PHASE 2 — Annotated Benchmark</a:t>
            </a:r>
          </a:p>
        </p:txBody>
      </p:sp>
      <p:sp>
        <p:nvSpPr>
          <p:cNvPr id="21" name="P2Bullets"/>
          <p:cNvSpPr txBox="1">
            <a:spLocks noGrp="1"/>
          </p:cNvSpPr>
          <p:nvPr/>
        </p:nvSpPr>
        <p:spPr>
          <a:xfrm>
            <a:off x="5852160" y="2057400"/>
            <a:ext cx="4754880" cy="3657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400" b="0" dirty="0">
                <a:solidFill>
                  <a:srgbClr val="F5A623"/>
                </a:solidFill>
                <a:latin typeface="Calibri"/>
              </a:rPr>
              <a:t>▪  </a:t>
            </a:r>
            <a:r>
              <a:rPr lang="en-IN" sz="1400" b="0" dirty="0">
                <a:solidFill>
                  <a:srgbClr val="D0E4F7"/>
                </a:solidFill>
                <a:latin typeface="Calibri"/>
                <a:cs typeface="Nirmala UI"/>
              </a:rPr>
              <a:t>1,248 manually annotated mention spans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400" b="0" dirty="0">
                <a:solidFill>
                  <a:srgbClr val="F5A623"/>
                </a:solidFill>
                <a:latin typeface="Calibri"/>
              </a:rPr>
              <a:t>▪  </a:t>
            </a:r>
            <a:r>
              <a:rPr lang="en-IN" sz="1400" b="0" dirty="0">
                <a:solidFill>
                  <a:srgbClr val="D0E4F7"/>
                </a:solidFill>
                <a:latin typeface="Calibri"/>
                <a:cs typeface="Nirmala UI"/>
              </a:rPr>
              <a:t>4 mention types: proper noun, common noun,
  pronoun, nominal phrase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400" b="0" dirty="0">
                <a:solidFill>
                  <a:srgbClr val="F5A623"/>
                </a:solidFill>
                <a:latin typeface="Calibri"/>
              </a:rPr>
              <a:t>▪  </a:t>
            </a:r>
            <a:r>
              <a:rPr lang="en-IN" sz="1400" b="0" dirty="0">
                <a:solidFill>
                  <a:srgbClr val="D0E4F7"/>
                </a:solidFill>
                <a:latin typeface="Calibri"/>
                <a:cs typeface="Nirmala UI"/>
              </a:rPr>
              <a:t>Pairwise positive/negative coreferent labels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400" b="0" dirty="0">
                <a:solidFill>
                  <a:srgbClr val="F5A623"/>
                </a:solidFill>
                <a:latin typeface="Calibri"/>
              </a:rPr>
              <a:t>▪  </a:t>
            </a:r>
            <a:r>
              <a:rPr lang="en-IN" sz="1400" b="0" dirty="0">
                <a:solidFill>
                  <a:srgbClr val="D0E4F7"/>
                </a:solidFill>
                <a:latin typeface="Calibri"/>
                <a:cs typeface="Nirmala UI"/>
              </a:rPr>
              <a:t>Diverse sentence types and domains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400" b="0" dirty="0">
                <a:solidFill>
                  <a:srgbClr val="F5A623"/>
                </a:solidFill>
                <a:latin typeface="Calibri"/>
              </a:rPr>
              <a:t>▪  </a:t>
            </a:r>
            <a:r>
              <a:rPr lang="en-IN" sz="1400" b="0" dirty="0">
                <a:solidFill>
                  <a:srgbClr val="D0E4F7"/>
                </a:solidFill>
                <a:latin typeface="Calibri"/>
                <a:cs typeface="Nirmala UI"/>
              </a:rPr>
              <a:t>Annotated by project team with inter-annotator review</a:t>
            </a:r>
          </a:p>
        </p:txBody>
      </p:sp>
      <p:sp>
        <p:nvSpPr>
          <p:cNvPr id="22" name="FooterBar"/>
          <p:cNvSpPr>
            <a:spLocks noGrp="1"/>
          </p:cNvSpPr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FooterLine"/>
          <p:cNvSpPr>
            <a:spLocks noGrp="1"/>
          </p:cNvSpPr>
          <p:nvPr/>
        </p:nvSpPr>
        <p:spPr>
          <a:xfrm>
            <a:off x="0" y="6446520"/>
            <a:ext cx="1219200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FooterLeft"/>
          <p:cNvSpPr txBox="1">
            <a:spLocks noGrp="1"/>
          </p:cNvSpPr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Hindi Coreference Resolution | CIT Kokrajhar</a:t>
            </a:r>
          </a:p>
        </p:txBody>
      </p:sp>
      <p:sp>
        <p:nvSpPr>
          <p:cNvPr id="25" name="FooterRight"/>
          <p:cNvSpPr txBox="1">
            <a:spLocks noGrp="1"/>
          </p:cNvSpPr>
          <p:nvPr/>
        </p:nvSpPr>
        <p:spPr>
          <a:xfrm>
            <a:off x="8229600" y="6492240"/>
            <a:ext cx="27432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r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B.Tech Project Presentation  |  2026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opBar"/>
          <p:cNvSpPr>
            <a:spLocks noGrp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Line"/>
          <p:cNvSpPr>
            <a:spLocks noGrp="1"/>
          </p:cNvSpPr>
          <p:nvPr/>
        </p:nvSpPr>
        <p:spPr>
          <a:xfrm>
            <a:off x="0" y="1143000"/>
            <a:ext cx="1219200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lideTitle"/>
          <p:cNvSpPr txBox="1">
            <a:spLocks noGrp="1"/>
          </p:cNvSpPr>
          <p:nvPr/>
        </p:nvSpPr>
        <p:spPr>
          <a:xfrm>
            <a:off x="365760" y="109728"/>
            <a:ext cx="10515600" cy="8229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3000" b="1" dirty="0">
                <a:solidFill>
                  <a:srgbClr val="FFFFFF"/>
                </a:solidFill>
                <a:latin typeface="Calibri"/>
                <a:cs typeface="Nirmala UI"/>
              </a:rPr>
              <a:t>Phase 1: Unsupervised BERT + Clustering</a:t>
            </a:r>
          </a:p>
        </p:txBody>
      </p:sp>
      <p:sp>
        <p:nvSpPr>
          <p:cNvPr id="13" name="SlideSubtitle"/>
          <p:cNvSpPr txBox="1">
            <a:spLocks noGrp="1"/>
          </p:cNvSpPr>
          <p:nvPr/>
        </p:nvSpPr>
        <p:spPr>
          <a:xfrm>
            <a:off x="365760" y="777240"/>
            <a:ext cx="914400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400" b="0" dirty="0">
                <a:solidFill>
                  <a:srgbClr val="00C9B1"/>
                </a:solidFill>
                <a:latin typeface="Calibri"/>
                <a:cs typeface="Nirmala UI"/>
              </a:rPr>
              <a:t>Scratch-trained language model with cosine-similarity clustering</a:t>
            </a:r>
          </a:p>
        </p:txBody>
      </p:sp>
      <p:sp>
        <p:nvSpPr>
          <p:cNvPr id="14" name="StepBox0"/>
          <p:cNvSpPr>
            <a:spLocks noGrp="1"/>
          </p:cNvSpPr>
          <p:nvPr/>
        </p:nvSpPr>
        <p:spPr>
          <a:xfrm>
            <a:off x="274320" y="1508760"/>
            <a:ext cx="1554480" cy="1005840"/>
          </a:xfrm>
          <a:prstGeom prst="roundRect">
            <a:avLst>
              <a:gd name="adj" fmla="val 20000"/>
            </a:avLst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StepTxt0"/>
          <p:cNvSpPr txBox="1">
            <a:spLocks noGrp="1"/>
          </p:cNvSpPr>
          <p:nvPr/>
        </p:nvSpPr>
        <p:spPr>
          <a:xfrm>
            <a:off x="274320" y="1508760"/>
            <a:ext cx="1554480" cy="1005840"/>
          </a:xfrm>
          <a:prstGeom prst="rect">
            <a:avLst/>
          </a:prstGeom>
          <a:noFill/>
        </p:spPr>
        <p:txBody>
          <a:bodyPr wrap="square" anchor="ctr" autofit="">
            <a:normAutofit/>
          </a:bodyPr>
          <a:lstStyle/>
          <a:p>
            <a:pPr algn="ctr"/>
            <a:r>
              <a:rPr lang="en-IN" sz="1200" b="1" dirty="0">
                <a:solidFill>
                  <a:srgbClr val="1A2E4A"/>
                </a:solidFill>
                <a:latin typeface="Calibri"/>
                <a:cs typeface="Nirmala UI"/>
              </a:rPr>
              <a:t>1. Hindi Wikipedia
   (~172K docs)</a:t>
            </a:r>
          </a:p>
        </p:txBody>
      </p:sp>
      <p:sp>
        <p:nvSpPr>
          <p:cNvPr id="16" name="Arrow0"/>
          <p:cNvSpPr>
            <a:spLocks noGrp="1"/>
          </p:cNvSpPr>
          <p:nvPr/>
        </p:nvSpPr>
        <p:spPr>
          <a:xfrm>
            <a:off x="1828800" y="1920240"/>
            <a:ext cx="320040" cy="182880"/>
          </a:xfrm>
          <a:prstGeom prst="rect">
            <a:avLst/>
          </a:prstGeom>
          <a:solidFill>
            <a:srgbClr val="8AAE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Arrowhead0"/>
          <p:cNvSpPr txBox="1">
            <a:spLocks noGrp="1"/>
          </p:cNvSpPr>
          <p:nvPr/>
        </p:nvSpPr>
        <p:spPr>
          <a:xfrm>
            <a:off x="1984248" y="1828800"/>
            <a:ext cx="18288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▶</a:t>
            </a:r>
          </a:p>
        </p:txBody>
      </p:sp>
      <p:sp>
        <p:nvSpPr>
          <p:cNvPr id="18" name="StepBox1"/>
          <p:cNvSpPr>
            <a:spLocks noGrp="1"/>
          </p:cNvSpPr>
          <p:nvPr/>
        </p:nvSpPr>
        <p:spPr>
          <a:xfrm>
            <a:off x="2148840" y="1508760"/>
            <a:ext cx="1554480" cy="1005840"/>
          </a:xfrm>
          <a:prstGeom prst="roundRect">
            <a:avLst>
              <a:gd name="adj" fmla="val 20000"/>
            </a:avLst>
          </a:prstGeom>
          <a:solidFill>
            <a:srgbClr val="5C9BD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tepTxt1"/>
          <p:cNvSpPr txBox="1">
            <a:spLocks noGrp="1"/>
          </p:cNvSpPr>
          <p:nvPr/>
        </p:nvSpPr>
        <p:spPr>
          <a:xfrm>
            <a:off x="2148840" y="1508760"/>
            <a:ext cx="1554480" cy="1005840"/>
          </a:xfrm>
          <a:prstGeom prst="rect">
            <a:avLst/>
          </a:prstGeom>
          <a:noFill/>
        </p:spPr>
        <p:txBody>
          <a:bodyPr wrap="square" anchor="ctr" autofit="">
            <a:normAutofit/>
          </a:bodyPr>
          <a:lstStyle/>
          <a:p>
            <a:pPr algn="ctr"/>
            <a:r>
              <a:rPr lang="en-IN" sz="1200" b="1" dirty="0">
                <a:solidFill>
                  <a:srgbClr val="1A2E4A"/>
                </a:solidFill>
                <a:latin typeface="Calibri"/>
                <a:cs typeface="Nirmala UI"/>
              </a:rPr>
              <a:t>2. SentencePiece
   BPE Tokenizer</a:t>
            </a:r>
          </a:p>
        </p:txBody>
      </p:sp>
      <p:sp>
        <p:nvSpPr>
          <p:cNvPr id="20" name="Arrow1"/>
          <p:cNvSpPr>
            <a:spLocks noGrp="1"/>
          </p:cNvSpPr>
          <p:nvPr/>
        </p:nvSpPr>
        <p:spPr>
          <a:xfrm>
            <a:off x="3703320" y="1920240"/>
            <a:ext cx="320040" cy="182880"/>
          </a:xfrm>
          <a:prstGeom prst="rect">
            <a:avLst/>
          </a:prstGeom>
          <a:solidFill>
            <a:srgbClr val="8AAEC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Arrowhead1"/>
          <p:cNvSpPr txBox="1">
            <a:spLocks noGrp="1"/>
          </p:cNvSpPr>
          <p:nvPr/>
        </p:nvSpPr>
        <p:spPr>
          <a:xfrm>
            <a:off x="3858768" y="1828800"/>
            <a:ext cx="18288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▶</a:t>
            </a:r>
          </a:p>
        </p:txBody>
      </p:sp>
      <p:sp>
        <p:nvSpPr>
          <p:cNvPr id="22" name="StepBox2"/>
          <p:cNvSpPr>
            <a:spLocks noGrp="1"/>
          </p:cNvSpPr>
          <p:nvPr/>
        </p:nvSpPr>
        <p:spPr>
          <a:xfrm>
            <a:off x="4023360" y="1508760"/>
            <a:ext cx="1554480" cy="1005840"/>
          </a:xfrm>
          <a:prstGeom prst="roundRect">
            <a:avLst>
              <a:gd name="adj" fmla="val 20000"/>
            </a:avLst>
          </a:prstGeom>
          <a:solidFill>
            <a:srgbClr val="A06BBE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StepTxt2"/>
          <p:cNvSpPr txBox="1">
            <a:spLocks noGrp="1"/>
          </p:cNvSpPr>
          <p:nvPr/>
        </p:nvSpPr>
        <p:spPr>
          <a:xfrm>
            <a:off x="4023360" y="1508760"/>
            <a:ext cx="1554480" cy="1005840"/>
          </a:xfrm>
          <a:prstGeom prst="rect">
            <a:avLst/>
          </a:prstGeom>
          <a:noFill/>
        </p:spPr>
        <p:txBody>
          <a:bodyPr wrap="square" anchor="ctr" autofit="">
            <a:normAutofit/>
          </a:bodyPr>
          <a:lstStyle/>
          <a:p>
            <a:pPr algn="ctr"/>
            <a:r>
              <a:rPr lang="en-IN" sz="1200" b="1" dirty="0">
                <a:solidFill>
                  <a:srgbClr val="1A2E4A"/>
                </a:solidFill>
                <a:latin typeface="Calibri"/>
                <a:cs typeface="Nirmala UI"/>
              </a:rPr>
              <a:t>3. Compact BERT
   (MLM Training)</a:t>
            </a:r>
          </a:p>
        </p:txBody>
      </p:sp>
      <p:sp>
        <p:nvSpPr>
          <p:cNvPr id="24" name="Arrow2"/>
          <p:cNvSpPr>
            <a:spLocks noGrp="1"/>
          </p:cNvSpPr>
          <p:nvPr/>
        </p:nvSpPr>
        <p:spPr>
          <a:xfrm>
            <a:off x="5577840" y="1920240"/>
            <a:ext cx="320040" cy="182880"/>
          </a:xfrm>
          <a:prstGeom prst="rect">
            <a:avLst/>
          </a:prstGeom>
          <a:solidFill>
            <a:srgbClr val="8AAEC8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Arrowhead2"/>
          <p:cNvSpPr txBox="1">
            <a:spLocks noGrp="1"/>
          </p:cNvSpPr>
          <p:nvPr/>
        </p:nvSpPr>
        <p:spPr>
          <a:xfrm>
            <a:off x="5733288" y="1828800"/>
            <a:ext cx="18288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▶</a:t>
            </a:r>
          </a:p>
        </p:txBody>
      </p:sp>
      <p:sp>
        <p:nvSpPr>
          <p:cNvPr id="26" name="StepBox3"/>
          <p:cNvSpPr>
            <a:spLocks noGrp="1"/>
          </p:cNvSpPr>
          <p:nvPr/>
        </p:nvSpPr>
        <p:spPr>
          <a:xfrm>
            <a:off x="5897880" y="1508760"/>
            <a:ext cx="1554480" cy="100584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StepTxt3"/>
          <p:cNvSpPr txBox="1">
            <a:spLocks noGrp="1"/>
          </p:cNvSpPr>
          <p:nvPr/>
        </p:nvSpPr>
        <p:spPr>
          <a:xfrm>
            <a:off x="5897880" y="1508760"/>
            <a:ext cx="1554480" cy="1005840"/>
          </a:xfrm>
          <a:prstGeom prst="rect">
            <a:avLst/>
          </a:prstGeom>
          <a:noFill/>
        </p:spPr>
        <p:txBody>
          <a:bodyPr wrap="square" anchor="ctr" autofit="">
            <a:normAutofit/>
          </a:bodyPr>
          <a:lstStyle/>
          <a:p>
            <a:pPr algn="ctr"/>
            <a:r>
              <a:rPr lang="en-IN" sz="1200" b="1" dirty="0">
                <a:solidFill>
                  <a:srgbClr val="1A2E4A"/>
                </a:solidFill>
                <a:latin typeface="Calibri"/>
                <a:cs typeface="Nirmala UI"/>
              </a:rPr>
              <a:t>4. Mention
   Embeddings</a:t>
            </a:r>
          </a:p>
        </p:txBody>
      </p:sp>
      <p:sp>
        <p:nvSpPr>
          <p:cNvPr id="28" name="Arrow3"/>
          <p:cNvSpPr>
            <a:spLocks noGrp="1"/>
          </p:cNvSpPr>
          <p:nvPr/>
        </p:nvSpPr>
        <p:spPr>
          <a:xfrm>
            <a:off x="7452360" y="1920240"/>
            <a:ext cx="320040" cy="182880"/>
          </a:xfrm>
          <a:prstGeom prst="rect">
            <a:avLst/>
          </a:prstGeom>
          <a:solidFill>
            <a:srgbClr val="8AAEC8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Arrowhead3"/>
          <p:cNvSpPr txBox="1">
            <a:spLocks noGrp="1"/>
          </p:cNvSpPr>
          <p:nvPr/>
        </p:nvSpPr>
        <p:spPr>
          <a:xfrm>
            <a:off x="7607808" y="1828800"/>
            <a:ext cx="18288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▶</a:t>
            </a:r>
          </a:p>
        </p:txBody>
      </p:sp>
      <p:sp>
        <p:nvSpPr>
          <p:cNvPr id="30" name="StepBox4"/>
          <p:cNvSpPr>
            <a:spLocks noGrp="1"/>
          </p:cNvSpPr>
          <p:nvPr/>
        </p:nvSpPr>
        <p:spPr>
          <a:xfrm>
            <a:off x="7772400" y="1508760"/>
            <a:ext cx="1554480" cy="1005840"/>
          </a:xfrm>
          <a:prstGeom prst="roundRect">
            <a:avLst>
              <a:gd name="adj" fmla="val 20000"/>
            </a:avLst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StepTxt4"/>
          <p:cNvSpPr txBox="1">
            <a:spLocks noGrp="1"/>
          </p:cNvSpPr>
          <p:nvPr/>
        </p:nvSpPr>
        <p:spPr>
          <a:xfrm>
            <a:off x="7772400" y="1508760"/>
            <a:ext cx="1554480" cy="1005840"/>
          </a:xfrm>
          <a:prstGeom prst="rect">
            <a:avLst/>
          </a:prstGeom>
          <a:noFill/>
        </p:spPr>
        <p:txBody>
          <a:bodyPr wrap="square" anchor="ctr" autofit="">
            <a:normAutofit/>
          </a:bodyPr>
          <a:lstStyle/>
          <a:p>
            <a:pPr algn="ctr"/>
            <a:r>
              <a:rPr lang="en-IN" sz="1200" b="1" dirty="0">
                <a:solidFill>
                  <a:srgbClr val="1A2E4A"/>
                </a:solidFill>
                <a:latin typeface="Calibri"/>
                <a:cs typeface="Nirmala UI"/>
              </a:rPr>
              <a:t>5. Cosine Similarity
   + Clustering</a:t>
            </a:r>
          </a:p>
        </p:txBody>
      </p:sp>
      <p:sp>
        <p:nvSpPr>
          <p:cNvPr id="32" name="Arrow4"/>
          <p:cNvSpPr>
            <a:spLocks noGrp="1"/>
          </p:cNvSpPr>
          <p:nvPr/>
        </p:nvSpPr>
        <p:spPr>
          <a:xfrm>
            <a:off x="9326880" y="1920240"/>
            <a:ext cx="320040" cy="182880"/>
          </a:xfrm>
          <a:prstGeom prst="rect">
            <a:avLst/>
          </a:prstGeom>
          <a:solidFill>
            <a:srgbClr val="8AAE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Arrowhead4"/>
          <p:cNvSpPr txBox="1">
            <a:spLocks noGrp="1"/>
          </p:cNvSpPr>
          <p:nvPr/>
        </p:nvSpPr>
        <p:spPr>
          <a:xfrm>
            <a:off x="9482328" y="1828800"/>
            <a:ext cx="18288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▶</a:t>
            </a:r>
          </a:p>
        </p:txBody>
      </p:sp>
      <p:sp>
        <p:nvSpPr>
          <p:cNvPr id="34" name="StepBox5"/>
          <p:cNvSpPr>
            <a:spLocks noGrp="1"/>
          </p:cNvSpPr>
          <p:nvPr/>
        </p:nvSpPr>
        <p:spPr>
          <a:xfrm>
            <a:off x="9646920" y="1508760"/>
            <a:ext cx="1554480" cy="1005840"/>
          </a:xfrm>
          <a:prstGeom prst="roundRect">
            <a:avLst>
              <a:gd name="adj" fmla="val 20000"/>
            </a:avLst>
          </a:prstGeom>
          <a:solidFill>
            <a:srgbClr val="E05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StepTxt5"/>
          <p:cNvSpPr txBox="1">
            <a:spLocks noGrp="1"/>
          </p:cNvSpPr>
          <p:nvPr/>
        </p:nvSpPr>
        <p:spPr>
          <a:xfrm>
            <a:off x="9646920" y="1508760"/>
            <a:ext cx="1554480" cy="1005840"/>
          </a:xfrm>
          <a:prstGeom prst="rect">
            <a:avLst/>
          </a:prstGeom>
          <a:noFill/>
        </p:spPr>
        <p:txBody>
          <a:bodyPr wrap="square" anchor="ctr" autofit="">
            <a:normAutofit/>
          </a:bodyPr>
          <a:lstStyle/>
          <a:p>
            <a:pPr algn="ctr"/>
            <a:r>
              <a:rPr lang="en-IN" sz="1200" b="1" dirty="0">
                <a:solidFill>
                  <a:srgbClr val="1A2E4A"/>
                </a:solidFill>
                <a:latin typeface="Calibri"/>
                <a:cs typeface="Nirmala UI"/>
              </a:rPr>
              <a:t>6. Coreference
   Clusters (Output)</a:t>
            </a:r>
          </a:p>
        </p:txBody>
      </p:sp>
      <p:sp>
        <p:nvSpPr>
          <p:cNvPr id="36" name="DetailsDivider"/>
          <p:cNvSpPr>
            <a:spLocks noGrp="1"/>
          </p:cNvSpPr>
          <p:nvPr/>
        </p:nvSpPr>
        <p:spPr>
          <a:xfrm>
            <a:off x="320040" y="2788920"/>
            <a:ext cx="1155192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DL"/>
          <p:cNvSpPr txBox="1">
            <a:spLocks noGrp="1"/>
          </p:cNvSpPr>
          <p:nvPr/>
        </p:nvSpPr>
        <p:spPr>
          <a:xfrm>
            <a:off x="320040" y="2926080"/>
            <a:ext cx="5212080" cy="2926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350" b="0" dirty="0">
                <a:solidFill>
                  <a:srgbClr val="00C9B1"/>
                </a:solidFill>
                <a:latin typeface="Calibri"/>
              </a:rPr>
              <a:t>▪  </a:t>
            </a:r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BERT Architecture: 6 layers, 8 heads, hidden=512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350" b="0" dirty="0">
                <a:solidFill>
                  <a:srgbClr val="00C9B1"/>
                </a:solidFill>
                <a:latin typeface="Calibri"/>
              </a:rPr>
              <a:t>▪  </a:t>
            </a:r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Tokenizer: SentencePiece BPE, vocab size 32,000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350" b="0" dirty="0">
                <a:solidFill>
                  <a:srgbClr val="00C9B1"/>
                </a:solidFill>
                <a:latin typeface="Calibri"/>
              </a:rPr>
              <a:t>▪  </a:t>
            </a:r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Training objective: Masked Language Model (MLM)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350" b="0" dirty="0">
                <a:solidFill>
                  <a:srgbClr val="00C9B1"/>
                </a:solidFill>
                <a:latin typeface="Calibri"/>
              </a:rPr>
              <a:t>▪  </a:t>
            </a:r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Pretraining dataset: Hindi Wikipedia (~172K docs)</a:t>
            </a:r>
          </a:p>
        </p:txBody>
      </p:sp>
      <p:sp>
        <p:nvSpPr>
          <p:cNvPr id="38" name="DR"/>
          <p:cNvSpPr txBox="1">
            <a:spLocks noGrp="1"/>
          </p:cNvSpPr>
          <p:nvPr/>
        </p:nvSpPr>
        <p:spPr>
          <a:xfrm>
            <a:off x="5669280" y="2926080"/>
            <a:ext cx="5212080" cy="2926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350" b="0" dirty="0">
                <a:solidFill>
                  <a:srgbClr val="F5A623"/>
                </a:solidFill>
                <a:latin typeface="Calibri"/>
              </a:rPr>
              <a:t>▪  </a:t>
            </a:r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Embedding extraction: [CLS] + mean-pool strategy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350" b="0" dirty="0">
                <a:solidFill>
                  <a:srgbClr val="F5A623"/>
                </a:solidFill>
                <a:latin typeface="Calibri"/>
              </a:rPr>
              <a:t>▪  </a:t>
            </a:r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Similarity metric: Cosine similarity between mention embeddings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350" b="0" dirty="0">
                <a:solidFill>
                  <a:srgbClr val="F5A623"/>
                </a:solidFill>
                <a:latin typeface="Calibri"/>
              </a:rPr>
              <a:t>▪  </a:t>
            </a:r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Clustering threshold: Tuned empirically (0.75–0.85)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350" b="0" dirty="0">
                <a:solidFill>
                  <a:srgbClr val="F5A623"/>
                </a:solidFill>
                <a:latin typeface="Calibri"/>
              </a:rPr>
              <a:t>▪  </a:t>
            </a:r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No annotated coreference data used in Phase 1</a:t>
            </a:r>
          </a:p>
        </p:txBody>
      </p:sp>
      <p:sp>
        <p:nvSpPr>
          <p:cNvPr id="39" name="FooterBar"/>
          <p:cNvSpPr>
            <a:spLocks noGrp="1"/>
          </p:cNvSpPr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FooterLine"/>
          <p:cNvSpPr>
            <a:spLocks noGrp="1"/>
          </p:cNvSpPr>
          <p:nvPr/>
        </p:nvSpPr>
        <p:spPr>
          <a:xfrm>
            <a:off x="0" y="6446520"/>
            <a:ext cx="1219200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FooterLeft"/>
          <p:cNvSpPr txBox="1">
            <a:spLocks noGrp="1"/>
          </p:cNvSpPr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Hindi Coreference Resolution | CIT Kokrajhar</a:t>
            </a:r>
          </a:p>
        </p:txBody>
      </p:sp>
      <p:sp>
        <p:nvSpPr>
          <p:cNvPr id="42" name="FooterRight"/>
          <p:cNvSpPr txBox="1">
            <a:spLocks noGrp="1"/>
          </p:cNvSpPr>
          <p:nvPr/>
        </p:nvSpPr>
        <p:spPr>
          <a:xfrm>
            <a:off x="8229600" y="6492240"/>
            <a:ext cx="27432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r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B.Tech Project Presentation  |  2026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opBar"/>
          <p:cNvSpPr>
            <a:spLocks noGrp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Line"/>
          <p:cNvSpPr>
            <a:spLocks noGrp="1"/>
          </p:cNvSpPr>
          <p:nvPr/>
        </p:nvSpPr>
        <p:spPr>
          <a:xfrm>
            <a:off x="0" y="1143000"/>
            <a:ext cx="12192000" cy="54864"/>
          </a:xfrm>
          <a:prstGeom prst="rect">
            <a:avLst/>
          </a:prstGeom>
          <a:solidFill>
            <a:srgbClr val="E05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lideTitle"/>
          <p:cNvSpPr txBox="1">
            <a:spLocks noGrp="1"/>
          </p:cNvSpPr>
          <p:nvPr/>
        </p:nvSpPr>
        <p:spPr>
          <a:xfrm>
            <a:off x="365760" y="109728"/>
            <a:ext cx="10515600" cy="8229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3000" b="1" dirty="0">
                <a:solidFill>
                  <a:srgbClr val="FFFFFF"/>
                </a:solidFill>
                <a:latin typeface="Calibri"/>
                <a:cs typeface="Nirmala UI"/>
              </a:rPr>
              <a:t>Why Phase 1 Failed</a:t>
            </a:r>
          </a:p>
        </p:txBody>
      </p:sp>
      <p:sp>
        <p:nvSpPr>
          <p:cNvPr id="13" name="SlideSubtitle"/>
          <p:cNvSpPr txBox="1">
            <a:spLocks noGrp="1"/>
          </p:cNvSpPr>
          <p:nvPr/>
        </p:nvSpPr>
        <p:spPr>
          <a:xfrm>
            <a:off x="365760" y="777240"/>
            <a:ext cx="914400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400" b="0" dirty="0">
                <a:solidFill>
                  <a:srgbClr val="00C9B1"/>
                </a:solidFill>
                <a:latin typeface="Calibri"/>
                <a:cs typeface="Nirmala UI"/>
              </a:rPr>
              <a:t>Critical analysis and research insight</a:t>
            </a:r>
          </a:p>
        </p:txBody>
      </p:sp>
      <p:sp>
        <p:nvSpPr>
          <p:cNvPr id="14" name="InsightBanner"/>
          <p:cNvSpPr>
            <a:spLocks noGrp="1"/>
          </p:cNvSpPr>
          <p:nvPr/>
        </p:nvSpPr>
        <p:spPr>
          <a:xfrm>
            <a:off x="320040" y="1417320"/>
            <a:ext cx="10515600" cy="731520"/>
          </a:xfrm>
          <a:prstGeom prst="roundRect">
            <a:avLst>
              <a:gd name="adj" fmla="val 16667"/>
            </a:avLst>
          </a:prstGeom>
          <a:solidFill>
            <a:srgbClr val="E05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InsightTxt"/>
          <p:cNvSpPr txBox="1">
            <a:spLocks noGrp="1"/>
          </p:cNvSpPr>
          <p:nvPr/>
        </p:nvSpPr>
        <p:spPr>
          <a:xfrm>
            <a:off x="502920" y="1508760"/>
            <a:ext cx="10058400" cy="5486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2200" b="1" dirty="0">
                <a:solidFill>
                  <a:srgbClr val="FFFFFF"/>
                </a:solidFill>
                <a:latin typeface="Calibri"/>
                <a:cs typeface="Nirmala UI"/>
              </a:rPr>
              <a:t>KEY INSIGHT:  Semantic Similarity  ≠  Coreference</a:t>
            </a:r>
          </a:p>
        </p:txBody>
      </p:sp>
      <p:sp>
        <p:nvSpPr>
          <p:cNvPr id="16" name="FBar0"/>
          <p:cNvSpPr>
            <a:spLocks noGrp="1"/>
          </p:cNvSpPr>
          <p:nvPr/>
        </p:nvSpPr>
        <p:spPr>
          <a:xfrm>
            <a:off x="320040" y="2331720"/>
            <a:ext cx="64008" cy="749808"/>
          </a:xfrm>
          <a:prstGeom prst="rect">
            <a:avLst/>
          </a:prstGeom>
          <a:solidFill>
            <a:srgbClr val="E05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FCard0"/>
          <p:cNvSpPr>
            <a:spLocks noGrp="1"/>
          </p:cNvSpPr>
          <p:nvPr/>
        </p:nvSpPr>
        <p:spPr>
          <a:xfrm>
            <a:off x="429768" y="2331720"/>
            <a:ext cx="10405872" cy="749808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FTitle0"/>
          <p:cNvSpPr txBox="1">
            <a:spLocks noGrp="1"/>
          </p:cNvSpPr>
          <p:nvPr/>
        </p:nvSpPr>
        <p:spPr>
          <a:xfrm>
            <a:off x="594360" y="2395728"/>
            <a:ext cx="292608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550" b="1" dirty="0">
                <a:solidFill>
                  <a:srgbClr val="E05C5C"/>
                </a:solidFill>
                <a:latin typeface="Calibri"/>
                <a:cs typeface="Nirmala UI"/>
              </a:rPr>
              <a:t>Semantic ≠ Coreference</a:t>
            </a:r>
          </a:p>
        </p:txBody>
      </p:sp>
      <p:sp>
        <p:nvSpPr>
          <p:cNvPr id="19" name="FDesc0"/>
          <p:cNvSpPr txBox="1">
            <a:spLocks noGrp="1"/>
          </p:cNvSpPr>
          <p:nvPr/>
        </p:nvSpPr>
        <p:spPr>
          <a:xfrm>
            <a:off x="594360" y="2734056"/>
            <a:ext cx="10058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300" b="0" dirty="0">
                <a:solidFill>
                  <a:srgbClr val="D0E4F7"/>
                </a:solidFill>
                <a:latin typeface="Calibri"/>
                <a:cs typeface="Nirmala UI"/>
              </a:rPr>
              <a:t>'राम' and 'विद्यालय' may have similar embeddings in some contexts, but they are not coreferent.</a:t>
            </a:r>
          </a:p>
        </p:txBody>
      </p:sp>
      <p:sp>
        <p:nvSpPr>
          <p:cNvPr id="20" name="FBar1"/>
          <p:cNvSpPr>
            <a:spLocks noGrp="1"/>
          </p:cNvSpPr>
          <p:nvPr/>
        </p:nvSpPr>
        <p:spPr>
          <a:xfrm>
            <a:off x="320040" y="3172968"/>
            <a:ext cx="64008" cy="74980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Card1"/>
          <p:cNvSpPr>
            <a:spLocks noGrp="1"/>
          </p:cNvSpPr>
          <p:nvPr/>
        </p:nvSpPr>
        <p:spPr>
          <a:xfrm>
            <a:off x="429768" y="3172968"/>
            <a:ext cx="10405872" cy="749808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FTitle1"/>
          <p:cNvSpPr txBox="1">
            <a:spLocks noGrp="1"/>
          </p:cNvSpPr>
          <p:nvPr/>
        </p:nvSpPr>
        <p:spPr>
          <a:xfrm>
            <a:off x="594360" y="3236976"/>
            <a:ext cx="292608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550" b="1" dirty="0">
                <a:solidFill>
                  <a:srgbClr val="E07B39"/>
                </a:solidFill>
                <a:latin typeface="Calibri"/>
                <a:cs typeface="Nirmala UI"/>
              </a:rPr>
              <a:t>Pronoun-Antecedent Gap</a:t>
            </a:r>
          </a:p>
        </p:txBody>
      </p:sp>
      <p:sp>
        <p:nvSpPr>
          <p:cNvPr id="23" name="FDesc1"/>
          <p:cNvSpPr txBox="1">
            <a:spLocks noGrp="1"/>
          </p:cNvSpPr>
          <p:nvPr/>
        </p:nvSpPr>
        <p:spPr>
          <a:xfrm>
            <a:off x="594360" y="3575304"/>
            <a:ext cx="10058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300" b="0" dirty="0">
                <a:solidFill>
                  <a:srgbClr val="D0E4F7"/>
                </a:solidFill>
                <a:latin typeface="Calibri"/>
                <a:cs typeface="Nirmala UI"/>
              </a:rPr>
              <a:t>Pronouns like 'वह' and 'उसने' lack strong lexical similarity to their antecedents, causing missed links.</a:t>
            </a:r>
          </a:p>
        </p:txBody>
      </p:sp>
      <p:sp>
        <p:nvSpPr>
          <p:cNvPr id="24" name="FBar2"/>
          <p:cNvSpPr>
            <a:spLocks noGrp="1"/>
          </p:cNvSpPr>
          <p:nvPr/>
        </p:nvSpPr>
        <p:spPr>
          <a:xfrm>
            <a:off x="320040" y="4014216"/>
            <a:ext cx="64008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FCard2"/>
          <p:cNvSpPr>
            <a:spLocks noGrp="1"/>
          </p:cNvSpPr>
          <p:nvPr/>
        </p:nvSpPr>
        <p:spPr>
          <a:xfrm>
            <a:off x="429768" y="4014216"/>
            <a:ext cx="10405872" cy="749808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FTitle2"/>
          <p:cNvSpPr txBox="1">
            <a:spLocks noGrp="1"/>
          </p:cNvSpPr>
          <p:nvPr/>
        </p:nvSpPr>
        <p:spPr>
          <a:xfrm>
            <a:off x="594360" y="4078224"/>
            <a:ext cx="292608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550" b="1" dirty="0">
                <a:solidFill>
                  <a:srgbClr val="F5A623"/>
                </a:solidFill>
                <a:latin typeface="Calibri"/>
                <a:cs typeface="Nirmala UI"/>
              </a:rPr>
              <a:t>Spurious Clusters</a:t>
            </a:r>
          </a:p>
        </p:txBody>
      </p:sp>
      <p:sp>
        <p:nvSpPr>
          <p:cNvPr id="27" name="FDesc2"/>
          <p:cNvSpPr txBox="1">
            <a:spLocks noGrp="1"/>
          </p:cNvSpPr>
          <p:nvPr/>
        </p:nvSpPr>
        <p:spPr>
          <a:xfrm>
            <a:off x="594360" y="4416552"/>
            <a:ext cx="10058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300" b="0" dirty="0">
                <a:solidFill>
                  <a:srgbClr val="D0E4F7"/>
                </a:solidFill>
                <a:latin typeface="Calibri"/>
                <a:cs typeface="Nirmala UI"/>
              </a:rPr>
              <a:t>Low similarity thresholds merged semantically related but non-coreferent mentions into wrong clusters.</a:t>
            </a:r>
          </a:p>
        </p:txBody>
      </p:sp>
      <p:sp>
        <p:nvSpPr>
          <p:cNvPr id="28" name="FBar3"/>
          <p:cNvSpPr>
            <a:spLocks noGrp="1"/>
          </p:cNvSpPr>
          <p:nvPr/>
        </p:nvSpPr>
        <p:spPr>
          <a:xfrm>
            <a:off x="320040" y="4855464"/>
            <a:ext cx="64008" cy="749808"/>
          </a:xfrm>
          <a:prstGeom prst="rect">
            <a:avLst/>
          </a:prstGeom>
          <a:solidFill>
            <a:srgbClr val="5C9BD6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FCard3"/>
          <p:cNvSpPr>
            <a:spLocks noGrp="1"/>
          </p:cNvSpPr>
          <p:nvPr/>
        </p:nvSpPr>
        <p:spPr>
          <a:xfrm>
            <a:off x="429768" y="4855464"/>
            <a:ext cx="10405872" cy="749808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FTitle3"/>
          <p:cNvSpPr txBox="1">
            <a:spLocks noGrp="1"/>
          </p:cNvSpPr>
          <p:nvPr/>
        </p:nvSpPr>
        <p:spPr>
          <a:xfrm>
            <a:off x="594360" y="4919472"/>
            <a:ext cx="292608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550" b="1" dirty="0">
                <a:solidFill>
                  <a:srgbClr val="5C9BD6"/>
                </a:solidFill>
                <a:latin typeface="Calibri"/>
                <a:cs typeface="Nirmala UI"/>
              </a:rPr>
              <a:t>No Discourse Modeling</a:t>
            </a:r>
          </a:p>
        </p:txBody>
      </p:sp>
      <p:sp>
        <p:nvSpPr>
          <p:cNvPr id="31" name="FDesc3"/>
          <p:cNvSpPr txBox="1">
            <a:spLocks noGrp="1"/>
          </p:cNvSpPr>
          <p:nvPr/>
        </p:nvSpPr>
        <p:spPr>
          <a:xfrm>
            <a:off x="594360" y="5257800"/>
            <a:ext cx="10058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300" b="0" dirty="0">
                <a:solidFill>
                  <a:srgbClr val="D0E4F7"/>
                </a:solidFill>
                <a:latin typeface="Calibri"/>
                <a:cs typeface="Nirmala UI"/>
              </a:rPr>
              <a:t>Embedding similarity ignores sentence distance, grammatical role, and entity salience — all crucial cues.</a:t>
            </a:r>
          </a:p>
        </p:txBody>
      </p:sp>
      <p:sp>
        <p:nvSpPr>
          <p:cNvPr id="32" name="FBar4"/>
          <p:cNvSpPr>
            <a:spLocks noGrp="1"/>
          </p:cNvSpPr>
          <p:nvPr/>
        </p:nvSpPr>
        <p:spPr>
          <a:xfrm>
            <a:off x="320040" y="5696712"/>
            <a:ext cx="64008" cy="749808"/>
          </a:xfrm>
          <a:prstGeom prst="rect">
            <a:avLst/>
          </a:prstGeom>
          <a:solidFill>
            <a:srgbClr val="8AAE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FCard4"/>
          <p:cNvSpPr>
            <a:spLocks noGrp="1"/>
          </p:cNvSpPr>
          <p:nvPr/>
        </p:nvSpPr>
        <p:spPr>
          <a:xfrm>
            <a:off x="429768" y="5696712"/>
            <a:ext cx="10405872" cy="749808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FTitle4"/>
          <p:cNvSpPr txBox="1">
            <a:spLocks noGrp="1"/>
          </p:cNvSpPr>
          <p:nvPr/>
        </p:nvSpPr>
        <p:spPr>
          <a:xfrm>
            <a:off x="594360" y="5760720"/>
            <a:ext cx="292608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550" b="1" dirty="0">
                <a:solidFill>
                  <a:srgbClr val="8AAEC8"/>
                </a:solidFill>
                <a:latin typeface="Calibri"/>
                <a:cs typeface="Nirmala UI"/>
              </a:rPr>
              <a:t>No Antecedent Ranking</a:t>
            </a:r>
          </a:p>
        </p:txBody>
      </p:sp>
      <p:sp>
        <p:nvSpPr>
          <p:cNvPr id="35" name="FDesc4"/>
          <p:cNvSpPr txBox="1">
            <a:spLocks noGrp="1"/>
          </p:cNvSpPr>
          <p:nvPr/>
        </p:nvSpPr>
        <p:spPr>
          <a:xfrm>
            <a:off x="594360" y="6099048"/>
            <a:ext cx="10058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300" b="0" dirty="0">
                <a:solidFill>
                  <a:srgbClr val="D0E4F7"/>
                </a:solidFill>
                <a:latin typeface="Calibri"/>
                <a:cs typeface="Nirmala UI"/>
              </a:rPr>
              <a:t>All mention pairs were treated equally; no mechanism to prefer the most recent or salient antecedent.</a:t>
            </a:r>
          </a:p>
        </p:txBody>
      </p:sp>
      <p:sp>
        <p:nvSpPr>
          <p:cNvPr id="36" name="FooterBar"/>
          <p:cNvSpPr>
            <a:spLocks noGrp="1"/>
          </p:cNvSpPr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FooterLine"/>
          <p:cNvSpPr>
            <a:spLocks noGrp="1"/>
          </p:cNvSpPr>
          <p:nvPr/>
        </p:nvSpPr>
        <p:spPr>
          <a:xfrm>
            <a:off x="0" y="6446520"/>
            <a:ext cx="1219200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FooterLeft"/>
          <p:cNvSpPr txBox="1">
            <a:spLocks noGrp="1"/>
          </p:cNvSpPr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Hindi Coreference Resolution | CIT Kokrajhar</a:t>
            </a:r>
          </a:p>
        </p:txBody>
      </p:sp>
      <p:sp>
        <p:nvSpPr>
          <p:cNvPr id="39" name="FooterRight"/>
          <p:cNvSpPr txBox="1">
            <a:spLocks noGrp="1"/>
          </p:cNvSpPr>
          <p:nvPr/>
        </p:nvSpPr>
        <p:spPr>
          <a:xfrm>
            <a:off x="8229600" y="6492240"/>
            <a:ext cx="27432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r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B.Tech Project Presentation  |  2026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opBar"/>
          <p:cNvSpPr>
            <a:spLocks noGrp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Line"/>
          <p:cNvSpPr>
            <a:spLocks noGrp="1"/>
          </p:cNvSpPr>
          <p:nvPr/>
        </p:nvSpPr>
        <p:spPr>
          <a:xfrm>
            <a:off x="0" y="1143000"/>
            <a:ext cx="1219200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lideTitle"/>
          <p:cNvSpPr txBox="1">
            <a:spLocks noGrp="1"/>
          </p:cNvSpPr>
          <p:nvPr/>
        </p:nvSpPr>
        <p:spPr>
          <a:xfrm>
            <a:off x="365760" y="109728"/>
            <a:ext cx="10515600" cy="8229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3000" b="1" dirty="0">
                <a:solidFill>
                  <a:srgbClr val="FFFFFF"/>
                </a:solidFill>
                <a:latin typeface="Calibri"/>
                <a:cs typeface="Nirmala UI"/>
              </a:rPr>
              <a:t>Phase 2: Hybrid Supervised Architecture</a:t>
            </a:r>
          </a:p>
        </p:txBody>
      </p:sp>
      <p:sp>
        <p:nvSpPr>
          <p:cNvPr id="13" name="SlideSubtitle"/>
          <p:cNvSpPr txBox="1">
            <a:spLocks noGrp="1"/>
          </p:cNvSpPr>
          <p:nvPr/>
        </p:nvSpPr>
        <p:spPr>
          <a:xfrm>
            <a:off x="365760" y="777240"/>
            <a:ext cx="914400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400" b="0" dirty="0">
                <a:solidFill>
                  <a:srgbClr val="00C9B1"/>
                </a:solidFill>
                <a:latin typeface="Calibri"/>
                <a:cs typeface="Nirmala UI"/>
              </a:rPr>
              <a:t>IndicBERTv2 embeddings + linguistic features + pairwise classification</a:t>
            </a:r>
          </a:p>
        </p:txBody>
      </p:sp>
      <p:sp>
        <p:nvSpPr>
          <p:cNvPr id="14" name="CompBox0"/>
          <p:cNvSpPr>
            <a:spLocks noGrp="1"/>
          </p:cNvSpPr>
          <p:nvPr/>
        </p:nvSpPr>
        <p:spPr>
          <a:xfrm>
            <a:off x="457200" y="1463040"/>
            <a:ext cx="2286000" cy="2011680"/>
          </a:xfrm>
          <a:prstGeom prst="roundRect">
            <a:avLst>
              <a:gd name="adj" fmla="val 15000"/>
            </a:avLst>
          </a:prstGeom>
          <a:solidFill>
            <a:srgbClr val="0D1B2E"/>
          </a:solidFill>
          <a:ln w="20000">
            <a:solidFill>
              <a:srgbClr val="00C9B1"/>
            </a:solidFill>
          </a:ln>
        </p:spPr>
        <p:txBody>
          <a:bodyPr/>
          <a:lstStyle/>
          <a:p/>
        </p:txBody>
      </p:sp>
      <p:sp>
        <p:nvSpPr>
          <p:cNvPr id="15" name="CompTop0"/>
          <p:cNvSpPr>
            <a:spLocks noGrp="1"/>
          </p:cNvSpPr>
          <p:nvPr/>
        </p:nvSpPr>
        <p:spPr>
          <a:xfrm>
            <a:off x="457200" y="1463040"/>
            <a:ext cx="2286000" cy="7315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ompTitle0"/>
          <p:cNvSpPr txBox="1">
            <a:spLocks noGrp="1"/>
          </p:cNvSpPr>
          <p:nvPr/>
        </p:nvSpPr>
        <p:spPr>
          <a:xfrm>
            <a:off x="457200" y="1600200"/>
            <a:ext cx="2286000" cy="5486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600" b="1" dirty="0">
                <a:solidFill>
                  <a:srgbClr val="00C9B1"/>
                </a:solidFill>
                <a:latin typeface="Calibri"/>
                <a:cs typeface="Nirmala UI"/>
              </a:rPr>
              <a:t>IndicBERTv2
Encoder</a:t>
            </a:r>
          </a:p>
        </p:txBody>
      </p:sp>
      <p:sp>
        <p:nvSpPr>
          <p:cNvPr id="17" name="CompDesc0"/>
          <p:cNvSpPr txBox="1">
            <a:spLocks noGrp="1"/>
          </p:cNvSpPr>
          <p:nvPr/>
        </p:nvSpPr>
        <p:spPr>
          <a:xfrm>
            <a:off x="457200" y="2286000"/>
            <a:ext cx="2286000" cy="109728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00" b="0" dirty="0">
                <a:solidFill>
                  <a:srgbClr val="D0E4F7"/>
                </a:solidFill>
                <a:latin typeface="Calibri"/>
                <a:cs typeface="Nirmala UI"/>
              </a:rPr>
              <a:t>State-of-art Indic language model.
Generates contextual mention embeddings.</a:t>
            </a:r>
          </a:p>
        </p:txBody>
      </p:sp>
      <p:sp>
        <p:nvSpPr>
          <p:cNvPr id="18" name="CompArrow0"/>
          <p:cNvSpPr txBox="1">
            <a:spLocks noGrp="1"/>
          </p:cNvSpPr>
          <p:nvPr/>
        </p:nvSpPr>
        <p:spPr>
          <a:xfrm>
            <a:off x="2788920" y="2331720"/>
            <a:ext cx="274320" cy="27432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800" b="0" dirty="0">
                <a:solidFill>
                  <a:srgbClr val="8AAEC8"/>
                </a:solidFill>
                <a:latin typeface="Calibri"/>
                <a:cs typeface="Nirmala UI"/>
              </a:rPr>
              <a:t>▶</a:t>
            </a:r>
          </a:p>
        </p:txBody>
      </p:sp>
      <p:sp>
        <p:nvSpPr>
          <p:cNvPr id="19" name="CompBox1"/>
          <p:cNvSpPr>
            <a:spLocks noGrp="1"/>
          </p:cNvSpPr>
          <p:nvPr/>
        </p:nvSpPr>
        <p:spPr>
          <a:xfrm>
            <a:off x="3108960" y="1463040"/>
            <a:ext cx="2286000" cy="2011680"/>
          </a:xfrm>
          <a:prstGeom prst="roundRect">
            <a:avLst>
              <a:gd name="adj" fmla="val 15000"/>
            </a:avLst>
          </a:prstGeom>
          <a:solidFill>
            <a:srgbClr val="0D1B2E"/>
          </a:solidFill>
          <a:ln w="20000">
            <a:solidFill>
              <a:srgbClr val="F5A623"/>
            </a:solidFill>
          </a:ln>
        </p:spPr>
        <p:txBody>
          <a:bodyPr/>
          <a:lstStyle/>
          <a:p/>
        </p:txBody>
      </p:sp>
      <p:sp>
        <p:nvSpPr>
          <p:cNvPr id="20" name="CompTop1"/>
          <p:cNvSpPr>
            <a:spLocks noGrp="1"/>
          </p:cNvSpPr>
          <p:nvPr/>
        </p:nvSpPr>
        <p:spPr>
          <a:xfrm>
            <a:off x="3108960" y="1463040"/>
            <a:ext cx="228600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CompTitle1"/>
          <p:cNvSpPr txBox="1">
            <a:spLocks noGrp="1"/>
          </p:cNvSpPr>
          <p:nvPr/>
        </p:nvSpPr>
        <p:spPr>
          <a:xfrm>
            <a:off x="3108960" y="1600200"/>
            <a:ext cx="2286000" cy="5486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600" b="1" dirty="0">
                <a:solidFill>
                  <a:srgbClr val="F5A623"/>
                </a:solidFill>
                <a:latin typeface="Calibri"/>
                <a:cs typeface="Nirmala UI"/>
              </a:rPr>
              <a:t>Feature
Engineering</a:t>
            </a:r>
          </a:p>
        </p:txBody>
      </p:sp>
      <p:sp>
        <p:nvSpPr>
          <p:cNvPr id="22" name="CompDesc1"/>
          <p:cNvSpPr txBox="1">
            <a:spLocks noGrp="1"/>
          </p:cNvSpPr>
          <p:nvPr/>
        </p:nvSpPr>
        <p:spPr>
          <a:xfrm>
            <a:off x="3108960" y="2286000"/>
            <a:ext cx="2286000" cy="109728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00" b="0" dirty="0">
                <a:solidFill>
                  <a:srgbClr val="D0E4F7"/>
                </a:solidFill>
                <a:latin typeface="Calibri"/>
                <a:cs typeface="Nirmala UI"/>
              </a:rPr>
              <a:t>Pronoun flags, plurality, sentence
distance, clause heuristics.</a:t>
            </a:r>
          </a:p>
        </p:txBody>
      </p:sp>
      <p:sp>
        <p:nvSpPr>
          <p:cNvPr id="23" name="CompArrow1"/>
          <p:cNvSpPr txBox="1">
            <a:spLocks noGrp="1"/>
          </p:cNvSpPr>
          <p:nvPr/>
        </p:nvSpPr>
        <p:spPr>
          <a:xfrm>
            <a:off x="5440680" y="2331720"/>
            <a:ext cx="274320" cy="27432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800" b="0" dirty="0">
                <a:solidFill>
                  <a:srgbClr val="8AAEC8"/>
                </a:solidFill>
                <a:latin typeface="Calibri"/>
                <a:cs typeface="Nirmala UI"/>
              </a:rPr>
              <a:t>▶</a:t>
            </a:r>
          </a:p>
        </p:txBody>
      </p:sp>
      <p:sp>
        <p:nvSpPr>
          <p:cNvPr id="24" name="CompBox2"/>
          <p:cNvSpPr>
            <a:spLocks noGrp="1"/>
          </p:cNvSpPr>
          <p:nvPr/>
        </p:nvSpPr>
        <p:spPr>
          <a:xfrm>
            <a:off x="5760720" y="1463040"/>
            <a:ext cx="2286000" cy="2011680"/>
          </a:xfrm>
          <a:prstGeom prst="roundRect">
            <a:avLst>
              <a:gd name="adj" fmla="val 15000"/>
            </a:avLst>
          </a:prstGeom>
          <a:solidFill>
            <a:srgbClr val="0D1B2E"/>
          </a:solidFill>
          <a:ln w="20000">
            <a:solidFill>
              <a:srgbClr val="A06BBE"/>
            </a:solidFill>
          </a:ln>
        </p:spPr>
        <p:txBody>
          <a:bodyPr/>
          <a:lstStyle/>
          <a:p/>
        </p:txBody>
      </p:sp>
      <p:sp>
        <p:nvSpPr>
          <p:cNvPr id="25" name="CompTop2"/>
          <p:cNvSpPr>
            <a:spLocks noGrp="1"/>
          </p:cNvSpPr>
          <p:nvPr/>
        </p:nvSpPr>
        <p:spPr>
          <a:xfrm>
            <a:off x="5760720" y="1463040"/>
            <a:ext cx="2286000" cy="73152"/>
          </a:xfrm>
          <a:prstGeom prst="rect">
            <a:avLst/>
          </a:prstGeom>
          <a:solidFill>
            <a:srgbClr val="A06BBE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CompTitle2"/>
          <p:cNvSpPr txBox="1">
            <a:spLocks noGrp="1"/>
          </p:cNvSpPr>
          <p:nvPr/>
        </p:nvSpPr>
        <p:spPr>
          <a:xfrm>
            <a:off x="5760720" y="1600200"/>
            <a:ext cx="2286000" cy="5486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600" b="1" dirty="0">
                <a:solidFill>
                  <a:srgbClr val="A06BBE"/>
                </a:solidFill>
                <a:latin typeface="Calibri"/>
                <a:cs typeface="Nirmala UI"/>
              </a:rPr>
              <a:t>Pairwise
Classifier</a:t>
            </a:r>
          </a:p>
        </p:txBody>
      </p:sp>
      <p:sp>
        <p:nvSpPr>
          <p:cNvPr id="27" name="CompDesc2"/>
          <p:cNvSpPr txBox="1">
            <a:spLocks noGrp="1"/>
          </p:cNvSpPr>
          <p:nvPr/>
        </p:nvSpPr>
        <p:spPr>
          <a:xfrm>
            <a:off x="5760720" y="2286000"/>
            <a:ext cx="2286000" cy="109728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00" b="0" dirty="0">
                <a:solidFill>
                  <a:srgbClr val="D0E4F7"/>
                </a:solidFill>
                <a:latin typeface="Calibri"/>
                <a:cs typeface="Nirmala UI"/>
              </a:rPr>
              <a:t>Logistic Regression trained on
positive/negative mention pairs.</a:t>
            </a:r>
          </a:p>
        </p:txBody>
      </p:sp>
      <p:sp>
        <p:nvSpPr>
          <p:cNvPr id="28" name="CompArrow2"/>
          <p:cNvSpPr txBox="1">
            <a:spLocks noGrp="1"/>
          </p:cNvSpPr>
          <p:nvPr/>
        </p:nvSpPr>
        <p:spPr>
          <a:xfrm>
            <a:off x="8092440" y="2331720"/>
            <a:ext cx="274320" cy="27432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800" b="0" dirty="0">
                <a:solidFill>
                  <a:srgbClr val="8AAEC8"/>
                </a:solidFill>
                <a:latin typeface="Calibri"/>
                <a:cs typeface="Nirmala UI"/>
              </a:rPr>
              <a:t>▶</a:t>
            </a:r>
          </a:p>
        </p:txBody>
      </p:sp>
      <p:sp>
        <p:nvSpPr>
          <p:cNvPr id="29" name="CompBox3"/>
          <p:cNvSpPr>
            <a:spLocks noGrp="1"/>
          </p:cNvSpPr>
          <p:nvPr/>
        </p:nvSpPr>
        <p:spPr>
          <a:xfrm>
            <a:off x="8412480" y="1463040"/>
            <a:ext cx="2286000" cy="2011680"/>
          </a:xfrm>
          <a:prstGeom prst="roundRect">
            <a:avLst>
              <a:gd name="adj" fmla="val 15000"/>
            </a:avLst>
          </a:prstGeom>
          <a:solidFill>
            <a:srgbClr val="0D1B2E"/>
          </a:solidFill>
          <a:ln w="20000">
            <a:solidFill>
              <a:srgbClr val="5C9BD6"/>
            </a:solidFill>
          </a:ln>
        </p:spPr>
        <p:txBody>
          <a:bodyPr/>
          <a:lstStyle/>
          <a:p/>
        </p:txBody>
      </p:sp>
      <p:sp>
        <p:nvSpPr>
          <p:cNvPr id="30" name="CompTop3"/>
          <p:cNvSpPr>
            <a:spLocks noGrp="1"/>
          </p:cNvSpPr>
          <p:nvPr/>
        </p:nvSpPr>
        <p:spPr>
          <a:xfrm>
            <a:off x="8412480" y="1463040"/>
            <a:ext cx="2286000" cy="73152"/>
          </a:xfrm>
          <a:prstGeom prst="rect">
            <a:avLst/>
          </a:prstGeom>
          <a:solidFill>
            <a:srgbClr val="5C9BD6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CompTitle3"/>
          <p:cNvSpPr txBox="1">
            <a:spLocks noGrp="1"/>
          </p:cNvSpPr>
          <p:nvPr/>
        </p:nvSpPr>
        <p:spPr>
          <a:xfrm>
            <a:off x="8412480" y="1600200"/>
            <a:ext cx="2286000" cy="5486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600" b="1" dirty="0">
                <a:solidFill>
                  <a:srgbClr val="5C9BD6"/>
                </a:solidFill>
                <a:latin typeface="Calibri"/>
                <a:cs typeface="Nirmala UI"/>
              </a:rPr>
              <a:t>Union-Find
Clustering</a:t>
            </a:r>
          </a:p>
        </p:txBody>
      </p:sp>
      <p:sp>
        <p:nvSpPr>
          <p:cNvPr id="32" name="CompDesc3"/>
          <p:cNvSpPr txBox="1">
            <a:spLocks noGrp="1"/>
          </p:cNvSpPr>
          <p:nvPr/>
        </p:nvSpPr>
        <p:spPr>
          <a:xfrm>
            <a:off x="8412480" y="2286000"/>
            <a:ext cx="2286000" cy="109728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00" b="0" dirty="0">
                <a:solidFill>
                  <a:srgbClr val="D0E4F7"/>
                </a:solidFill>
                <a:latin typeface="Calibri"/>
                <a:cs typeface="Nirmala UI"/>
              </a:rPr>
              <a:t>Transitively merges coreferent
pairs into entity clusters.</a:t>
            </a:r>
          </a:p>
        </p:txBody>
      </p:sp>
      <p:sp>
        <p:nvSpPr>
          <p:cNvPr id="33" name="AdvDivider"/>
          <p:cNvSpPr>
            <a:spLocks noGrp="1"/>
          </p:cNvSpPr>
          <p:nvPr/>
        </p:nvSpPr>
        <p:spPr>
          <a:xfrm>
            <a:off x="320040" y="3749039"/>
            <a:ext cx="1155192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AdvHeader"/>
          <p:cNvSpPr txBox="1">
            <a:spLocks noGrp="1"/>
          </p:cNvSpPr>
          <p:nvPr/>
        </p:nvSpPr>
        <p:spPr>
          <a:xfrm>
            <a:off x="320040" y="3840480"/>
            <a:ext cx="1051560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500" b="1" dirty="0">
                <a:solidFill>
                  <a:srgbClr val="F5A623"/>
                </a:solidFill>
                <a:latin typeface="Calibri"/>
                <a:cs typeface="Nirmala UI"/>
              </a:rPr>
              <a:t>KEY ADVANTAGES OF HYBRID APPROACH</a:t>
            </a:r>
          </a:p>
        </p:txBody>
      </p:sp>
      <p:sp>
        <p:nvSpPr>
          <p:cNvPr id="35" name="AdvBullets"/>
          <p:cNvSpPr txBox="1">
            <a:spLocks noGrp="1"/>
          </p:cNvSpPr>
          <p:nvPr/>
        </p:nvSpPr>
        <p:spPr>
          <a:xfrm>
            <a:off x="320040" y="4297680"/>
            <a:ext cx="10515600" cy="1828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400" b="0" dirty="0">
                <a:solidFill>
                  <a:srgbClr val="F5A623"/>
                </a:solidFill>
                <a:latin typeface="Calibri"/>
              </a:rPr>
              <a:t>▪  </a:t>
            </a:r>
            <a:r>
              <a:rPr lang="en-IN" sz="1400" b="0" dirty="0">
                <a:solidFill>
                  <a:srgbClr val="D0E4F7"/>
                </a:solidFill>
                <a:latin typeface="Calibri"/>
                <a:cs typeface="Nirmala UI"/>
              </a:rPr>
              <a:t>Leverages powerful pretrained Indic language model — no scratch training needed.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400" b="0" dirty="0">
                <a:solidFill>
                  <a:srgbClr val="F5A623"/>
                </a:solidFill>
                <a:latin typeface="Calibri"/>
              </a:rPr>
              <a:t>▪  </a:t>
            </a:r>
            <a:r>
              <a:rPr lang="en-IN" sz="1400" b="0" dirty="0">
                <a:solidFill>
                  <a:srgbClr val="D0E4F7"/>
                </a:solidFill>
                <a:latin typeface="Calibri"/>
                <a:cs typeface="Nirmala UI"/>
              </a:rPr>
              <a:t>Linguistic features capture morphological and discourse properties missed by neural embeddings alone.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400" b="0" dirty="0">
                <a:solidFill>
                  <a:srgbClr val="F5A623"/>
                </a:solidFill>
                <a:latin typeface="Calibri"/>
              </a:rPr>
              <a:t>▪  </a:t>
            </a:r>
            <a:r>
              <a:rPr lang="en-IN" sz="1400" b="0" dirty="0">
                <a:solidFill>
                  <a:srgbClr val="D0E4F7"/>
                </a:solidFill>
                <a:latin typeface="Calibri"/>
                <a:cs typeface="Nirmala UI"/>
              </a:rPr>
              <a:t>Pairwise classification is interpretable and trainable on small datasets.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400" b="0" dirty="0">
                <a:solidFill>
                  <a:srgbClr val="F5A623"/>
                </a:solidFill>
                <a:latin typeface="Calibri"/>
              </a:rPr>
              <a:t>▪  </a:t>
            </a:r>
            <a:r>
              <a:rPr lang="en-IN" sz="1400" b="0" dirty="0">
                <a:solidFill>
                  <a:srgbClr val="D0E4F7"/>
                </a:solidFill>
                <a:latin typeface="Calibri"/>
                <a:cs typeface="Nirmala UI"/>
              </a:rPr>
              <a:t>Union-Find ensures globally consistent entity clusters with O(α) efficiency.</a:t>
            </a:r>
          </a:p>
        </p:txBody>
      </p:sp>
      <p:sp>
        <p:nvSpPr>
          <p:cNvPr id="36" name="FooterBar"/>
          <p:cNvSpPr>
            <a:spLocks noGrp="1"/>
          </p:cNvSpPr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FooterLine"/>
          <p:cNvSpPr>
            <a:spLocks noGrp="1"/>
          </p:cNvSpPr>
          <p:nvPr/>
        </p:nvSpPr>
        <p:spPr>
          <a:xfrm>
            <a:off x="0" y="6446520"/>
            <a:ext cx="1219200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FooterLeft"/>
          <p:cNvSpPr txBox="1">
            <a:spLocks noGrp="1"/>
          </p:cNvSpPr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Hindi Coreference Resolution | CIT Kokrajhar</a:t>
            </a:r>
          </a:p>
        </p:txBody>
      </p:sp>
      <p:sp>
        <p:nvSpPr>
          <p:cNvPr id="39" name="FooterRight"/>
          <p:cNvSpPr txBox="1">
            <a:spLocks noGrp="1"/>
          </p:cNvSpPr>
          <p:nvPr/>
        </p:nvSpPr>
        <p:spPr>
          <a:xfrm>
            <a:off x="8229600" y="6492240"/>
            <a:ext cx="27432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r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B.Tech Project Presentation  |  2026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opBar"/>
          <p:cNvSpPr>
            <a:spLocks noGrp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Line"/>
          <p:cNvSpPr>
            <a:spLocks noGrp="1"/>
          </p:cNvSpPr>
          <p:nvPr/>
        </p:nvSpPr>
        <p:spPr>
          <a:xfrm>
            <a:off x="0" y="1143000"/>
            <a:ext cx="1219200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lideTitle"/>
          <p:cNvSpPr txBox="1">
            <a:spLocks noGrp="1"/>
          </p:cNvSpPr>
          <p:nvPr/>
        </p:nvSpPr>
        <p:spPr>
          <a:xfrm>
            <a:off x="365760" y="109728"/>
            <a:ext cx="10515600" cy="8229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3000" b="1" dirty="0">
                <a:solidFill>
                  <a:srgbClr val="FFFFFF"/>
                </a:solidFill>
                <a:latin typeface="Calibri"/>
                <a:cs typeface="Nirmala UI"/>
              </a:rPr>
              <a:t>System Pipeline</a:t>
            </a:r>
          </a:p>
        </p:txBody>
      </p:sp>
      <p:sp>
        <p:nvSpPr>
          <p:cNvPr id="13" name="SlideSubtitle"/>
          <p:cNvSpPr txBox="1">
            <a:spLocks noGrp="1"/>
          </p:cNvSpPr>
          <p:nvPr/>
        </p:nvSpPr>
        <p:spPr>
          <a:xfrm>
            <a:off x="365760" y="777240"/>
            <a:ext cx="914400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400" b="0" dirty="0">
                <a:solidFill>
                  <a:srgbClr val="00C9B1"/>
                </a:solidFill>
                <a:latin typeface="Calibri"/>
                <a:cs typeface="Nirmala UI"/>
              </a:rPr>
              <a:t>End-to-end architecture for Hindi coreference resolution</a:t>
            </a:r>
          </a:p>
        </p:txBody>
      </p:sp>
      <p:sp>
        <p:nvSpPr>
          <p:cNvPr id="14" name="PBox00"/>
          <p:cNvSpPr>
            <a:spLocks noGrp="1"/>
          </p:cNvSpPr>
          <p:nvPr/>
        </p:nvSpPr>
        <p:spPr>
          <a:xfrm>
            <a:off x="2103120" y="1417320"/>
            <a:ext cx="1508760" cy="1051560"/>
          </a:xfrm>
          <a:prstGeom prst="roundRect">
            <a:avLst>
              <a:gd name="adj" fmla="val 15000"/>
            </a:avLst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Stage00"/>
          <p:cNvSpPr txBox="1">
            <a:spLocks noGrp="1"/>
          </p:cNvSpPr>
          <p:nvPr/>
        </p:nvSpPr>
        <p:spPr>
          <a:xfrm>
            <a:off x="2103120" y="1490472"/>
            <a:ext cx="150876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100" b="1" dirty="0">
                <a:solidFill>
                  <a:srgbClr val="1A2E4A"/>
                </a:solidFill>
                <a:latin typeface="Calibri"/>
                <a:cs typeface="Nirmala UI"/>
              </a:rPr>
              <a:t>INPUT</a:t>
            </a:r>
          </a:p>
        </p:txBody>
      </p:sp>
      <p:sp>
        <p:nvSpPr>
          <p:cNvPr id="16" name="PDesc00"/>
          <p:cNvSpPr txBox="1">
            <a:spLocks noGrp="1"/>
          </p:cNvSpPr>
          <p:nvPr/>
        </p:nvSpPr>
        <p:spPr>
          <a:xfrm>
            <a:off x="2103120" y="1828800"/>
            <a:ext cx="1508760" cy="5943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200" b="0" dirty="0">
                <a:solidFill>
                  <a:srgbClr val="1A2E4A"/>
                </a:solidFill>
                <a:latin typeface="Calibri"/>
                <a:cs typeface="Nirmala UI"/>
              </a:rPr>
              <a:t>Hindi Text with
Mention Spans</a:t>
            </a:r>
          </a:p>
        </p:txBody>
      </p:sp>
      <p:sp>
        <p:nvSpPr>
          <p:cNvPr id="17" name="PArrow00"/>
          <p:cNvSpPr txBox="1">
            <a:spLocks noGrp="1"/>
          </p:cNvSpPr>
          <p:nvPr/>
        </p:nvSpPr>
        <p:spPr>
          <a:xfrm>
            <a:off x="2720340" y="2487168"/>
            <a:ext cx="274320" cy="29260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400" b="0" dirty="0">
                <a:solidFill>
                  <a:srgbClr val="00C9B1"/>
                </a:solidFill>
                <a:latin typeface="Calibri"/>
                <a:cs typeface="Nirmala UI"/>
              </a:rPr>
              <a:t>▼</a:t>
            </a:r>
          </a:p>
        </p:txBody>
      </p:sp>
      <p:sp>
        <p:nvSpPr>
          <p:cNvPr id="18" name="PBox01"/>
          <p:cNvSpPr>
            <a:spLocks noGrp="1"/>
          </p:cNvSpPr>
          <p:nvPr/>
        </p:nvSpPr>
        <p:spPr>
          <a:xfrm>
            <a:off x="2103120" y="2852928"/>
            <a:ext cx="1508760" cy="1051560"/>
          </a:xfrm>
          <a:prstGeom prst="roundRect">
            <a:avLst>
              <a:gd name="adj" fmla="val 15000"/>
            </a:avLst>
          </a:prstGeom>
          <a:solidFill>
            <a:srgbClr val="5C9BD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PStage01"/>
          <p:cNvSpPr txBox="1">
            <a:spLocks noGrp="1"/>
          </p:cNvSpPr>
          <p:nvPr/>
        </p:nvSpPr>
        <p:spPr>
          <a:xfrm>
            <a:off x="2103120" y="2926080"/>
            <a:ext cx="150876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100" b="1" dirty="0">
                <a:solidFill>
                  <a:srgbClr val="1A2E4A"/>
                </a:solidFill>
                <a:latin typeface="Calibri"/>
                <a:cs typeface="Nirmala UI"/>
              </a:rPr>
              <a:t>ENCODE</a:t>
            </a:r>
          </a:p>
        </p:txBody>
      </p:sp>
      <p:sp>
        <p:nvSpPr>
          <p:cNvPr id="20" name="PDesc01"/>
          <p:cNvSpPr txBox="1">
            <a:spLocks noGrp="1"/>
          </p:cNvSpPr>
          <p:nvPr/>
        </p:nvSpPr>
        <p:spPr>
          <a:xfrm>
            <a:off x="2103120" y="3264408"/>
            <a:ext cx="1508760" cy="5943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200" b="0" dirty="0">
                <a:solidFill>
                  <a:srgbClr val="1A2E4A"/>
                </a:solidFill>
                <a:latin typeface="Calibri"/>
                <a:cs typeface="Nirmala UI"/>
              </a:rPr>
              <a:t>IndicBERTv2
Mention Embeddings</a:t>
            </a:r>
          </a:p>
        </p:txBody>
      </p:sp>
      <p:sp>
        <p:nvSpPr>
          <p:cNvPr id="21" name="PArrow01"/>
          <p:cNvSpPr txBox="1">
            <a:spLocks noGrp="1"/>
          </p:cNvSpPr>
          <p:nvPr/>
        </p:nvSpPr>
        <p:spPr>
          <a:xfrm>
            <a:off x="2720340" y="3922776"/>
            <a:ext cx="274320" cy="29260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400" b="0" dirty="0">
                <a:solidFill>
                  <a:srgbClr val="5C9BD6"/>
                </a:solidFill>
                <a:latin typeface="Calibri"/>
                <a:cs typeface="Nirmala UI"/>
              </a:rPr>
              <a:t>▼</a:t>
            </a:r>
          </a:p>
        </p:txBody>
      </p:sp>
      <p:sp>
        <p:nvSpPr>
          <p:cNvPr id="22" name="PBox02"/>
          <p:cNvSpPr>
            <a:spLocks noGrp="1"/>
          </p:cNvSpPr>
          <p:nvPr/>
        </p:nvSpPr>
        <p:spPr>
          <a:xfrm>
            <a:off x="2103120" y="4288536"/>
            <a:ext cx="1508760" cy="10515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PStage02"/>
          <p:cNvSpPr txBox="1">
            <a:spLocks noGrp="1"/>
          </p:cNvSpPr>
          <p:nvPr/>
        </p:nvSpPr>
        <p:spPr>
          <a:xfrm>
            <a:off x="2103120" y="4361688"/>
            <a:ext cx="150876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100" b="1" dirty="0">
                <a:solidFill>
                  <a:srgbClr val="1A2E4A"/>
                </a:solidFill>
                <a:latin typeface="Calibri"/>
                <a:cs typeface="Nirmala UI"/>
              </a:rPr>
              <a:t>FEATURES</a:t>
            </a:r>
          </a:p>
        </p:txBody>
      </p:sp>
      <p:sp>
        <p:nvSpPr>
          <p:cNvPr id="24" name="PDesc02"/>
          <p:cNvSpPr txBox="1">
            <a:spLocks noGrp="1"/>
          </p:cNvSpPr>
          <p:nvPr/>
        </p:nvSpPr>
        <p:spPr>
          <a:xfrm>
            <a:off x="2103120" y="4700016"/>
            <a:ext cx="1508760" cy="5943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200" b="0" dirty="0">
                <a:solidFill>
                  <a:srgbClr val="1A2E4A"/>
                </a:solidFill>
                <a:latin typeface="Calibri"/>
                <a:cs typeface="Nirmala UI"/>
              </a:rPr>
              <a:t>Linguistic
Feature Engineering</a:t>
            </a:r>
          </a:p>
        </p:txBody>
      </p:sp>
      <p:sp>
        <p:nvSpPr>
          <p:cNvPr id="25" name="PBox10"/>
          <p:cNvSpPr>
            <a:spLocks noGrp="1"/>
          </p:cNvSpPr>
          <p:nvPr/>
        </p:nvSpPr>
        <p:spPr>
          <a:xfrm>
            <a:off x="7498079" y="1417320"/>
            <a:ext cx="1508760" cy="1051560"/>
          </a:xfrm>
          <a:prstGeom prst="roundRect">
            <a:avLst>
              <a:gd name="adj" fmla="val 15000"/>
            </a:avLst>
          </a:prstGeom>
          <a:solidFill>
            <a:srgbClr val="A06BBE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PStage10"/>
          <p:cNvSpPr txBox="1">
            <a:spLocks noGrp="1"/>
          </p:cNvSpPr>
          <p:nvPr/>
        </p:nvSpPr>
        <p:spPr>
          <a:xfrm>
            <a:off x="7498079" y="1490472"/>
            <a:ext cx="150876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100" b="1" dirty="0">
                <a:solidFill>
                  <a:srgbClr val="1A2E4A"/>
                </a:solidFill>
                <a:latin typeface="Calibri"/>
                <a:cs typeface="Nirmala UI"/>
              </a:rPr>
              <a:t>CLASSIFY</a:t>
            </a:r>
          </a:p>
        </p:txBody>
      </p:sp>
      <p:sp>
        <p:nvSpPr>
          <p:cNvPr id="27" name="PDesc10"/>
          <p:cNvSpPr txBox="1">
            <a:spLocks noGrp="1"/>
          </p:cNvSpPr>
          <p:nvPr/>
        </p:nvSpPr>
        <p:spPr>
          <a:xfrm>
            <a:off x="7498079" y="1828800"/>
            <a:ext cx="1508760" cy="5943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200" b="0" dirty="0">
                <a:solidFill>
                  <a:srgbClr val="1A2E4A"/>
                </a:solidFill>
                <a:latin typeface="Calibri"/>
                <a:cs typeface="Nirmala UI"/>
              </a:rPr>
              <a:t>Logistic Regression
Pairwise Scorer</a:t>
            </a:r>
          </a:p>
        </p:txBody>
      </p:sp>
      <p:sp>
        <p:nvSpPr>
          <p:cNvPr id="28" name="PArrow10"/>
          <p:cNvSpPr txBox="1">
            <a:spLocks noGrp="1"/>
          </p:cNvSpPr>
          <p:nvPr/>
        </p:nvSpPr>
        <p:spPr>
          <a:xfrm>
            <a:off x="8115299" y="2487168"/>
            <a:ext cx="274320" cy="29260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400" b="0" dirty="0">
                <a:solidFill>
                  <a:srgbClr val="A06BBE"/>
                </a:solidFill>
                <a:latin typeface="Calibri"/>
                <a:cs typeface="Nirmala UI"/>
              </a:rPr>
              <a:t>▼</a:t>
            </a:r>
          </a:p>
        </p:txBody>
      </p:sp>
      <p:sp>
        <p:nvSpPr>
          <p:cNvPr id="29" name="PBox11"/>
          <p:cNvSpPr>
            <a:spLocks noGrp="1"/>
          </p:cNvSpPr>
          <p:nvPr/>
        </p:nvSpPr>
        <p:spPr>
          <a:xfrm>
            <a:off x="7498079" y="2852928"/>
            <a:ext cx="1508760" cy="1051560"/>
          </a:xfrm>
          <a:prstGeom prst="roundRect">
            <a:avLst>
              <a:gd name="adj" fmla="val 15000"/>
            </a:avLst>
          </a:prstGeom>
          <a:solidFill>
            <a:srgbClr val="6BBE8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PStage11"/>
          <p:cNvSpPr txBox="1">
            <a:spLocks noGrp="1"/>
          </p:cNvSpPr>
          <p:nvPr/>
        </p:nvSpPr>
        <p:spPr>
          <a:xfrm>
            <a:off x="7498079" y="2926080"/>
            <a:ext cx="150876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100" b="1" dirty="0">
                <a:solidFill>
                  <a:srgbClr val="1A2E4A"/>
                </a:solidFill>
                <a:latin typeface="Calibri"/>
                <a:cs typeface="Nirmala UI"/>
              </a:rPr>
              <a:t>CLUSTER</a:t>
            </a:r>
          </a:p>
        </p:txBody>
      </p:sp>
      <p:sp>
        <p:nvSpPr>
          <p:cNvPr id="31" name="PDesc11"/>
          <p:cNvSpPr txBox="1">
            <a:spLocks noGrp="1"/>
          </p:cNvSpPr>
          <p:nvPr/>
        </p:nvSpPr>
        <p:spPr>
          <a:xfrm>
            <a:off x="7498079" y="3264408"/>
            <a:ext cx="1508760" cy="5943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200" b="0" dirty="0">
                <a:solidFill>
                  <a:srgbClr val="1A2E4A"/>
                </a:solidFill>
                <a:latin typeface="Calibri"/>
                <a:cs typeface="Nirmala UI"/>
              </a:rPr>
              <a:t>Union-Find
Cluster Reconstruction</a:t>
            </a:r>
          </a:p>
        </p:txBody>
      </p:sp>
      <p:sp>
        <p:nvSpPr>
          <p:cNvPr id="32" name="PArrow11"/>
          <p:cNvSpPr txBox="1">
            <a:spLocks noGrp="1"/>
          </p:cNvSpPr>
          <p:nvPr/>
        </p:nvSpPr>
        <p:spPr>
          <a:xfrm>
            <a:off x="8115299" y="3922776"/>
            <a:ext cx="274320" cy="29260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400" b="0" dirty="0">
                <a:solidFill>
                  <a:srgbClr val="6BBE8C"/>
                </a:solidFill>
                <a:latin typeface="Calibri"/>
                <a:cs typeface="Nirmala UI"/>
              </a:rPr>
              <a:t>▼</a:t>
            </a:r>
          </a:p>
        </p:txBody>
      </p:sp>
      <p:sp>
        <p:nvSpPr>
          <p:cNvPr id="33" name="PBox12"/>
          <p:cNvSpPr>
            <a:spLocks noGrp="1"/>
          </p:cNvSpPr>
          <p:nvPr/>
        </p:nvSpPr>
        <p:spPr>
          <a:xfrm>
            <a:off x="7498079" y="4288536"/>
            <a:ext cx="1508760" cy="1051560"/>
          </a:xfrm>
          <a:prstGeom prst="roundRect">
            <a:avLst>
              <a:gd name="adj" fmla="val 15000"/>
            </a:avLst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PStage12"/>
          <p:cNvSpPr txBox="1">
            <a:spLocks noGrp="1"/>
          </p:cNvSpPr>
          <p:nvPr/>
        </p:nvSpPr>
        <p:spPr>
          <a:xfrm>
            <a:off x="7498079" y="4361688"/>
            <a:ext cx="150876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100" b="1" dirty="0">
                <a:solidFill>
                  <a:srgbClr val="1A2E4A"/>
                </a:solidFill>
                <a:latin typeface="Calibri"/>
                <a:cs typeface="Nirmala UI"/>
              </a:rPr>
              <a:t>OUTPUT</a:t>
            </a:r>
          </a:p>
        </p:txBody>
      </p:sp>
      <p:sp>
        <p:nvSpPr>
          <p:cNvPr id="35" name="PDesc12"/>
          <p:cNvSpPr txBox="1">
            <a:spLocks noGrp="1"/>
          </p:cNvSpPr>
          <p:nvPr/>
        </p:nvSpPr>
        <p:spPr>
          <a:xfrm>
            <a:off x="7498079" y="4700016"/>
            <a:ext cx="1508760" cy="5943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200" b="0" dirty="0">
                <a:solidFill>
                  <a:srgbClr val="1A2E4A"/>
                </a:solidFill>
                <a:latin typeface="Calibri"/>
                <a:cs typeface="Nirmala UI"/>
              </a:rPr>
              <a:t>Entity Coreference
Clusters</a:t>
            </a:r>
          </a:p>
        </p:txBody>
      </p:sp>
      <p:sp>
        <p:nvSpPr>
          <p:cNvPr id="36" name="ColConnector"/>
          <p:cNvSpPr txBox="1">
            <a:spLocks noGrp="1"/>
          </p:cNvSpPr>
          <p:nvPr/>
        </p:nvSpPr>
        <p:spPr>
          <a:xfrm>
            <a:off x="3840480" y="3611880"/>
            <a:ext cx="356616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400" b="0" dirty="0">
                <a:solidFill>
                  <a:srgbClr val="8AAEC8"/>
                </a:solidFill>
                <a:latin typeface="Calibri"/>
                <a:cs typeface="Nirmala UI"/>
              </a:rPr>
              <a:t>─────────────────── ▶</a:t>
            </a:r>
          </a:p>
        </p:txBody>
      </p:sp>
      <p:sp>
        <p:nvSpPr>
          <p:cNvPr id="37" name="FeatBox"/>
          <p:cNvSpPr>
            <a:spLocks noGrp="1"/>
          </p:cNvSpPr>
          <p:nvPr/>
        </p:nvSpPr>
        <p:spPr>
          <a:xfrm>
            <a:off x="3657600" y="1417320"/>
            <a:ext cx="3291840" cy="3520440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 w="12700">
            <a:solidFill>
              <a:srgbClr val="00C9B1"/>
            </a:solidFill>
          </a:ln>
        </p:spPr>
        <p:txBody>
          <a:bodyPr/>
          <a:lstStyle/>
          <a:p/>
        </p:txBody>
      </p:sp>
      <p:sp>
        <p:nvSpPr>
          <p:cNvPr id="38" name="FeatHeader"/>
          <p:cNvSpPr txBox="1">
            <a:spLocks noGrp="1"/>
          </p:cNvSpPr>
          <p:nvPr/>
        </p:nvSpPr>
        <p:spPr>
          <a:xfrm>
            <a:off x="3749039" y="1463040"/>
            <a:ext cx="310896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00" b="1" dirty="0">
                <a:solidFill>
                  <a:srgbClr val="00C9B1"/>
                </a:solidFill>
                <a:latin typeface="Calibri"/>
                <a:cs typeface="Nirmala UI"/>
              </a:rPr>
              <a:t>FEATURE VECTOR</a:t>
            </a:r>
          </a:p>
        </p:txBody>
      </p:sp>
      <p:sp>
        <p:nvSpPr>
          <p:cNvPr id="39" name="FeatList"/>
          <p:cNvSpPr txBox="1">
            <a:spLocks noGrp="1"/>
          </p:cNvSpPr>
          <p:nvPr/>
        </p:nvSpPr>
        <p:spPr>
          <a:xfrm>
            <a:off x="3749039" y="1920240"/>
            <a:ext cx="3108960" cy="2834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200" b="0" dirty="0">
                <a:solidFill>
                  <a:srgbClr val="00C9B1"/>
                </a:solidFill>
                <a:latin typeface="Calibri"/>
              </a:rPr>
              <a:t>▪  </a:t>
            </a:r>
            <a:r>
              <a:rPr lang="en-IN" sz="1200" b="0" dirty="0">
                <a:solidFill>
                  <a:srgbClr val="D0E4F7"/>
                </a:solidFill>
                <a:latin typeface="Calibri"/>
                <a:cs typeface="Nirmala UI"/>
              </a:rPr>
              <a:t>cos_sim: embedding cosine similarity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200" b="0" dirty="0">
                <a:solidFill>
                  <a:srgbClr val="00C9B1"/>
                </a:solidFill>
                <a:latin typeface="Calibri"/>
              </a:rPr>
              <a:t>▪  </a:t>
            </a:r>
            <a:r>
              <a:rPr lang="en-IN" sz="1200" b="0" dirty="0">
                <a:solidFill>
                  <a:srgbClr val="D0E4F7"/>
                </a:solidFill>
                <a:latin typeface="Calibri"/>
                <a:cs typeface="Nirmala UI"/>
              </a:rPr>
              <a:t>is_pronoun_1 / is_pronoun_2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200" b="0" dirty="0">
                <a:solidFill>
                  <a:srgbClr val="00C9B1"/>
                </a:solidFill>
                <a:latin typeface="Calibri"/>
              </a:rPr>
              <a:t>▪  </a:t>
            </a:r>
            <a:r>
              <a:rPr lang="en-IN" sz="1200" b="0" dirty="0">
                <a:solidFill>
                  <a:srgbClr val="D0E4F7"/>
                </a:solidFill>
                <a:latin typeface="Calibri"/>
                <a:cs typeface="Nirmala UI"/>
              </a:rPr>
              <a:t>is_plural_1 / is_plural_2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200" b="0" dirty="0">
                <a:solidFill>
                  <a:srgbClr val="00C9B1"/>
                </a:solidFill>
                <a:latin typeface="Calibri"/>
              </a:rPr>
              <a:t>▪  </a:t>
            </a:r>
            <a:r>
              <a:rPr lang="en-IN" sz="1200" b="0" dirty="0">
                <a:solidFill>
                  <a:srgbClr val="D0E4F7"/>
                </a:solidFill>
                <a:latin typeface="Calibri"/>
                <a:cs typeface="Nirmala UI"/>
              </a:rPr>
              <a:t>sent_distance: sentence gap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200" b="0" dirty="0">
                <a:solidFill>
                  <a:srgbClr val="00C9B1"/>
                </a:solidFill>
                <a:latin typeface="Calibri"/>
              </a:rPr>
              <a:t>▪  </a:t>
            </a:r>
            <a:r>
              <a:rPr lang="en-IN" sz="1200" b="0" dirty="0">
                <a:solidFill>
                  <a:srgbClr val="D0E4F7"/>
                </a:solidFill>
                <a:latin typeface="Calibri"/>
                <a:cs typeface="Nirmala UI"/>
              </a:rPr>
              <a:t>same_clause: clause heuristic</a:t>
            </a:r>
          </a:p>
          <a:p>
            <a:pPr indent="-228600" marL="228600">
              <a:spcBef>
                <a:spcPts val="80"/>
              </a:spcBef>
              <a:lnSpc>
                <a:spcPct val="115"/>
              </a:lnSpc>
            </a:pPr>
            <a:r>
              <a:rPr lang="en-IN" sz="1200" b="0" dirty="0">
                <a:solidFill>
                  <a:srgbClr val="00C9B1"/>
                </a:solidFill>
                <a:latin typeface="Calibri"/>
              </a:rPr>
              <a:t>▪  </a:t>
            </a:r>
            <a:r>
              <a:rPr lang="en-IN" sz="1200" b="0" dirty="0">
                <a:solidFill>
                  <a:srgbClr val="D0E4F7"/>
                </a:solidFill>
                <a:latin typeface="Calibri"/>
                <a:cs typeface="Nirmala UI"/>
              </a:rPr>
              <a:t>mention_type_match flag</a:t>
            </a:r>
          </a:p>
        </p:txBody>
      </p:sp>
      <p:sp>
        <p:nvSpPr>
          <p:cNvPr id="40" name="FooterBar"/>
          <p:cNvSpPr>
            <a:spLocks noGrp="1"/>
          </p:cNvSpPr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FooterLine"/>
          <p:cNvSpPr>
            <a:spLocks noGrp="1"/>
          </p:cNvSpPr>
          <p:nvPr/>
        </p:nvSpPr>
        <p:spPr>
          <a:xfrm>
            <a:off x="0" y="6446520"/>
            <a:ext cx="1219200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FooterLeft"/>
          <p:cNvSpPr txBox="1">
            <a:spLocks noGrp="1"/>
          </p:cNvSpPr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Hindi Coreference Resolution | CIT Kokrajhar</a:t>
            </a:r>
          </a:p>
        </p:txBody>
      </p:sp>
      <p:sp>
        <p:nvSpPr>
          <p:cNvPr id="43" name="FooterRight"/>
          <p:cNvSpPr txBox="1">
            <a:spLocks noGrp="1"/>
          </p:cNvSpPr>
          <p:nvPr/>
        </p:nvSpPr>
        <p:spPr>
          <a:xfrm>
            <a:off x="8229600" y="6492240"/>
            <a:ext cx="27432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r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B.Tech Project Presentation  |  2026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opBar"/>
          <p:cNvSpPr>
            <a:spLocks noGrp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Line"/>
          <p:cNvSpPr>
            <a:spLocks noGrp="1"/>
          </p:cNvSpPr>
          <p:nvPr/>
        </p:nvSpPr>
        <p:spPr>
          <a:xfrm>
            <a:off x="0" y="1143000"/>
            <a:ext cx="1219200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lideTitle"/>
          <p:cNvSpPr txBox="1">
            <a:spLocks noGrp="1"/>
          </p:cNvSpPr>
          <p:nvPr/>
        </p:nvSpPr>
        <p:spPr>
          <a:xfrm>
            <a:off x="365760" y="109728"/>
            <a:ext cx="10515600" cy="8229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3000" b="1" dirty="0">
                <a:solidFill>
                  <a:srgbClr val="FFFFFF"/>
                </a:solidFill>
                <a:latin typeface="Calibri"/>
                <a:cs typeface="Nirmala UI"/>
              </a:rPr>
              <a:t>Experimental Results</a:t>
            </a:r>
          </a:p>
        </p:txBody>
      </p:sp>
      <p:sp>
        <p:nvSpPr>
          <p:cNvPr id="13" name="SlideSubtitle"/>
          <p:cNvSpPr txBox="1">
            <a:spLocks noGrp="1"/>
          </p:cNvSpPr>
          <p:nvPr/>
        </p:nvSpPr>
        <p:spPr>
          <a:xfrm>
            <a:off x="365760" y="777240"/>
            <a:ext cx="914400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400" b="0" dirty="0">
                <a:solidFill>
                  <a:srgbClr val="00C9B1"/>
                </a:solidFill>
                <a:latin typeface="Calibri"/>
                <a:cs typeface="Nirmala UI"/>
              </a:rPr>
              <a:t>Quantitative evaluation of Phase 1 vs Phase 2</a:t>
            </a:r>
          </a:p>
        </p:txBody>
      </p:sp>
      <p:sp>
        <p:nvSpPr>
          <p:cNvPr id="14" name="StatCard0"/>
          <p:cNvSpPr>
            <a:spLocks noGrp="1"/>
          </p:cNvSpPr>
          <p:nvPr/>
        </p:nvSpPr>
        <p:spPr>
          <a:xfrm>
            <a:off x="320040" y="1444752"/>
            <a:ext cx="2423160" cy="1234440"/>
          </a:xfrm>
          <a:prstGeom prst="roundRect">
            <a:avLst>
              <a:gd name="adj" fmla="val 10000"/>
            </a:avLst>
          </a:prstGeom>
          <a:solidFill>
            <a:srgbClr val="0D1B2E"/>
          </a:solidFill>
          <a:ln w="15000">
            <a:solidFill>
              <a:srgbClr val="00C9B1"/>
            </a:solidFill>
          </a:ln>
        </p:spPr>
        <p:txBody>
          <a:bodyPr/>
          <a:lstStyle/>
          <a:p/>
        </p:txBody>
      </p:sp>
      <p:sp>
        <p:nvSpPr>
          <p:cNvPr id="15" name="StatVal0"/>
          <p:cNvSpPr txBox="1">
            <a:spLocks noGrp="1"/>
          </p:cNvSpPr>
          <p:nvPr/>
        </p:nvSpPr>
        <p:spPr>
          <a:xfrm>
            <a:off x="320040" y="1536192"/>
            <a:ext cx="2423160" cy="5943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3600" b="1" dirty="0">
                <a:solidFill>
                  <a:srgbClr val="00C9B1"/>
                </a:solidFill>
                <a:latin typeface="Calibri"/>
                <a:cs typeface="Nirmala UI"/>
              </a:rPr>
              <a:t>82%</a:t>
            </a:r>
          </a:p>
        </p:txBody>
      </p:sp>
      <p:sp>
        <p:nvSpPr>
          <p:cNvPr id="16" name="StatLbl0"/>
          <p:cNvSpPr txBox="1">
            <a:spLocks noGrp="1"/>
          </p:cNvSpPr>
          <p:nvPr/>
        </p:nvSpPr>
        <p:spPr>
          <a:xfrm>
            <a:off x="320040" y="2157984"/>
            <a:ext cx="2423160" cy="47548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200" b="0" dirty="0">
                <a:solidFill>
                  <a:srgbClr val="D0E4F7"/>
                </a:solidFill>
                <a:latin typeface="Calibri"/>
                <a:cs typeface="Nirmala UI"/>
              </a:rPr>
              <a:t>Phase 2 Pairwise
Accuracy</a:t>
            </a:r>
          </a:p>
        </p:txBody>
      </p:sp>
      <p:sp>
        <p:nvSpPr>
          <p:cNvPr id="17" name="StatCard1"/>
          <p:cNvSpPr>
            <a:spLocks noGrp="1"/>
          </p:cNvSpPr>
          <p:nvPr/>
        </p:nvSpPr>
        <p:spPr>
          <a:xfrm>
            <a:off x="2962656" y="1444752"/>
            <a:ext cx="2423160" cy="1234440"/>
          </a:xfrm>
          <a:prstGeom prst="roundRect">
            <a:avLst>
              <a:gd name="adj" fmla="val 10000"/>
            </a:avLst>
          </a:prstGeom>
          <a:solidFill>
            <a:srgbClr val="0D1B2E"/>
          </a:solidFill>
          <a:ln w="15000">
            <a:solidFill>
              <a:srgbClr val="F5A623"/>
            </a:solidFill>
          </a:ln>
        </p:spPr>
        <p:txBody>
          <a:bodyPr/>
          <a:lstStyle/>
          <a:p/>
        </p:txBody>
      </p:sp>
      <p:sp>
        <p:nvSpPr>
          <p:cNvPr id="18" name="StatVal1"/>
          <p:cNvSpPr txBox="1">
            <a:spLocks noGrp="1"/>
          </p:cNvSpPr>
          <p:nvPr/>
        </p:nvSpPr>
        <p:spPr>
          <a:xfrm>
            <a:off x="2962656" y="1536192"/>
            <a:ext cx="2423160" cy="5943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3600" b="1" dirty="0">
                <a:solidFill>
                  <a:srgbClr val="F5A623"/>
                </a:solidFill>
                <a:latin typeface="Calibri"/>
                <a:cs typeface="Nirmala UI"/>
              </a:rPr>
              <a:t>71%</a:t>
            </a:r>
          </a:p>
        </p:txBody>
      </p:sp>
      <p:sp>
        <p:nvSpPr>
          <p:cNvPr id="19" name="StatLbl1"/>
          <p:cNvSpPr txBox="1">
            <a:spLocks noGrp="1"/>
          </p:cNvSpPr>
          <p:nvPr/>
        </p:nvSpPr>
        <p:spPr>
          <a:xfrm>
            <a:off x="2962656" y="2157984"/>
            <a:ext cx="2423160" cy="47548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200" b="0" dirty="0">
                <a:solidFill>
                  <a:srgbClr val="D0E4F7"/>
                </a:solidFill>
                <a:latin typeface="Calibri"/>
                <a:cs typeface="Nirmala UI"/>
              </a:rPr>
              <a:t>Embedding-only
Baseline</a:t>
            </a:r>
          </a:p>
        </p:txBody>
      </p:sp>
      <p:sp>
        <p:nvSpPr>
          <p:cNvPr id="20" name="StatCard2"/>
          <p:cNvSpPr>
            <a:spLocks noGrp="1"/>
          </p:cNvSpPr>
          <p:nvPr/>
        </p:nvSpPr>
        <p:spPr>
          <a:xfrm>
            <a:off x="5605272" y="1444752"/>
            <a:ext cx="2423160" cy="1234440"/>
          </a:xfrm>
          <a:prstGeom prst="roundRect">
            <a:avLst>
              <a:gd name="adj" fmla="val 10000"/>
            </a:avLst>
          </a:prstGeom>
          <a:solidFill>
            <a:srgbClr val="0D1B2E"/>
          </a:solidFill>
          <a:ln w="15000">
            <a:solidFill>
              <a:srgbClr val="5C9BD6"/>
            </a:solidFill>
          </a:ln>
        </p:spPr>
        <p:txBody>
          <a:bodyPr/>
          <a:lstStyle/>
          <a:p/>
        </p:txBody>
      </p:sp>
      <p:sp>
        <p:nvSpPr>
          <p:cNvPr id="21" name="StatVal2"/>
          <p:cNvSpPr txBox="1">
            <a:spLocks noGrp="1"/>
          </p:cNvSpPr>
          <p:nvPr/>
        </p:nvSpPr>
        <p:spPr>
          <a:xfrm>
            <a:off x="5605272" y="1536192"/>
            <a:ext cx="2423160" cy="5943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3600" b="1" dirty="0">
                <a:solidFill>
                  <a:srgbClr val="5C9BD6"/>
                </a:solidFill>
                <a:latin typeface="Calibri"/>
                <a:cs typeface="Nirmala UI"/>
              </a:rPr>
              <a:t>+11%</a:t>
            </a:r>
          </a:p>
        </p:txBody>
      </p:sp>
      <p:sp>
        <p:nvSpPr>
          <p:cNvPr id="22" name="StatLbl2"/>
          <p:cNvSpPr txBox="1">
            <a:spLocks noGrp="1"/>
          </p:cNvSpPr>
          <p:nvPr/>
        </p:nvSpPr>
        <p:spPr>
          <a:xfrm>
            <a:off x="5605272" y="2157984"/>
            <a:ext cx="2423160" cy="47548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200" b="0" dirty="0">
                <a:solidFill>
                  <a:srgbClr val="D0E4F7"/>
                </a:solidFill>
                <a:latin typeface="Calibri"/>
                <a:cs typeface="Nirmala UI"/>
              </a:rPr>
              <a:t>Improvement from
Linguistic Features</a:t>
            </a:r>
          </a:p>
        </p:txBody>
      </p:sp>
      <p:sp>
        <p:nvSpPr>
          <p:cNvPr id="23" name="StatCard3"/>
          <p:cNvSpPr>
            <a:spLocks noGrp="1"/>
          </p:cNvSpPr>
          <p:nvPr/>
        </p:nvSpPr>
        <p:spPr>
          <a:xfrm>
            <a:off x="8247888" y="1444752"/>
            <a:ext cx="2423160" cy="1234440"/>
          </a:xfrm>
          <a:prstGeom prst="roundRect">
            <a:avLst>
              <a:gd name="adj" fmla="val 10000"/>
            </a:avLst>
          </a:prstGeom>
          <a:solidFill>
            <a:srgbClr val="0D1B2E"/>
          </a:solidFill>
          <a:ln w="15000">
            <a:solidFill>
              <a:srgbClr val="E05C5C"/>
            </a:solidFill>
          </a:ln>
        </p:spPr>
        <p:txBody>
          <a:bodyPr/>
          <a:lstStyle/>
          <a:p/>
        </p:txBody>
      </p:sp>
      <p:sp>
        <p:nvSpPr>
          <p:cNvPr id="24" name="StatVal3"/>
          <p:cNvSpPr txBox="1">
            <a:spLocks noGrp="1"/>
          </p:cNvSpPr>
          <p:nvPr/>
        </p:nvSpPr>
        <p:spPr>
          <a:xfrm>
            <a:off x="8247888" y="1536192"/>
            <a:ext cx="2423160" cy="5943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3600" b="1" dirty="0">
                <a:solidFill>
                  <a:srgbClr val="E05C5C"/>
                </a:solidFill>
                <a:latin typeface="Calibri"/>
                <a:cs typeface="Nirmala UI"/>
              </a:rPr>
              <a:t>~43%</a:t>
            </a:r>
          </a:p>
        </p:txBody>
      </p:sp>
      <p:sp>
        <p:nvSpPr>
          <p:cNvPr id="25" name="StatLbl3"/>
          <p:cNvSpPr txBox="1">
            <a:spLocks noGrp="1"/>
          </p:cNvSpPr>
          <p:nvPr/>
        </p:nvSpPr>
        <p:spPr>
          <a:xfrm>
            <a:off x="8247888" y="2157984"/>
            <a:ext cx="2423160" cy="47548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200" b="0" dirty="0">
                <a:solidFill>
                  <a:srgbClr val="D0E4F7"/>
                </a:solidFill>
                <a:latin typeface="Calibri"/>
                <a:cs typeface="Nirmala UI"/>
              </a:rPr>
              <a:t>Phase 1 Accuracy
(Clustering-based)</a:t>
            </a:r>
          </a:p>
        </p:txBody>
      </p:sp>
      <p:sp>
        <p:nvSpPr>
          <p:cNvPr id="26" name="TH0"/>
          <p:cNvSpPr>
            <a:spLocks noGrp="1"/>
          </p:cNvSpPr>
          <p:nvPr/>
        </p:nvSpPr>
        <p:spPr>
          <a:xfrm>
            <a:off x="320040" y="2880360"/>
            <a:ext cx="3154680" cy="47548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HT0"/>
          <p:cNvSpPr txBox="1">
            <a:spLocks noGrp="1"/>
          </p:cNvSpPr>
          <p:nvPr/>
        </p:nvSpPr>
        <p:spPr>
          <a:xfrm>
            <a:off x="411480" y="2953512"/>
            <a:ext cx="30175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Calibri"/>
                <a:cs typeface="Nirmala UI"/>
              </a:rPr>
              <a:t>System</a:t>
            </a:r>
          </a:p>
        </p:txBody>
      </p:sp>
      <p:sp>
        <p:nvSpPr>
          <p:cNvPr id="28" name="TH1"/>
          <p:cNvSpPr>
            <a:spLocks noGrp="1"/>
          </p:cNvSpPr>
          <p:nvPr/>
        </p:nvSpPr>
        <p:spPr>
          <a:xfrm>
            <a:off x="3520440" y="2880360"/>
            <a:ext cx="1783080" cy="475488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HT1"/>
          <p:cNvSpPr txBox="1">
            <a:spLocks noGrp="1"/>
          </p:cNvSpPr>
          <p:nvPr/>
        </p:nvSpPr>
        <p:spPr>
          <a:xfrm>
            <a:off x="3611880" y="2953512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Calibri"/>
                <a:cs typeface="Nirmala UI"/>
              </a:rPr>
              <a:t>Precision</a:t>
            </a:r>
          </a:p>
        </p:txBody>
      </p:sp>
      <p:sp>
        <p:nvSpPr>
          <p:cNvPr id="30" name="TH2"/>
          <p:cNvSpPr>
            <a:spLocks noGrp="1"/>
          </p:cNvSpPr>
          <p:nvPr/>
        </p:nvSpPr>
        <p:spPr>
          <a:xfrm>
            <a:off x="5349240" y="2880360"/>
            <a:ext cx="1783080" cy="475488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HT2"/>
          <p:cNvSpPr txBox="1">
            <a:spLocks noGrp="1"/>
          </p:cNvSpPr>
          <p:nvPr/>
        </p:nvSpPr>
        <p:spPr>
          <a:xfrm>
            <a:off x="5440680" y="2953512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Calibri"/>
                <a:cs typeface="Nirmala UI"/>
              </a:rPr>
              <a:t>Recall</a:t>
            </a:r>
          </a:p>
        </p:txBody>
      </p:sp>
      <p:sp>
        <p:nvSpPr>
          <p:cNvPr id="32" name="TH3"/>
          <p:cNvSpPr>
            <a:spLocks noGrp="1"/>
          </p:cNvSpPr>
          <p:nvPr/>
        </p:nvSpPr>
        <p:spPr>
          <a:xfrm>
            <a:off x="7178040" y="2880360"/>
            <a:ext cx="1783080" cy="475488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HT3"/>
          <p:cNvSpPr txBox="1">
            <a:spLocks noGrp="1"/>
          </p:cNvSpPr>
          <p:nvPr/>
        </p:nvSpPr>
        <p:spPr>
          <a:xfrm>
            <a:off x="7269480" y="2953512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Calibri"/>
                <a:cs typeface="Nirmala UI"/>
              </a:rPr>
              <a:t>Accuracy</a:t>
            </a:r>
          </a:p>
        </p:txBody>
      </p:sp>
      <p:sp>
        <p:nvSpPr>
          <p:cNvPr id="34" name="TH4"/>
          <p:cNvSpPr>
            <a:spLocks noGrp="1"/>
          </p:cNvSpPr>
          <p:nvPr/>
        </p:nvSpPr>
        <p:spPr>
          <a:xfrm>
            <a:off x="9006840" y="2880360"/>
            <a:ext cx="1783080" cy="475488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HT4"/>
          <p:cNvSpPr txBox="1">
            <a:spLocks noGrp="1"/>
          </p:cNvSpPr>
          <p:nvPr/>
        </p:nvSpPr>
        <p:spPr>
          <a:xfrm>
            <a:off x="9098280" y="2953512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400" b="1" dirty="0">
                <a:solidFill>
                  <a:srgbClr val="FFFFFF"/>
                </a:solidFill>
                <a:latin typeface="Calibri"/>
                <a:cs typeface="Nirmala UI"/>
              </a:rPr>
              <a:t>Improvement</a:t>
            </a:r>
          </a:p>
        </p:txBody>
      </p:sp>
      <p:sp>
        <p:nvSpPr>
          <p:cNvPr id="36" name="TC00"/>
          <p:cNvSpPr>
            <a:spLocks noGrp="1"/>
          </p:cNvSpPr>
          <p:nvPr/>
        </p:nvSpPr>
        <p:spPr>
          <a:xfrm>
            <a:off x="320040" y="3355848"/>
            <a:ext cx="3154680" cy="475488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CT00"/>
          <p:cNvSpPr txBox="1">
            <a:spLocks noGrp="1"/>
          </p:cNvSpPr>
          <p:nvPr/>
        </p:nvSpPr>
        <p:spPr>
          <a:xfrm>
            <a:off x="411480" y="3429000"/>
            <a:ext cx="30175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Phase 1 (BERT Clustering)</a:t>
            </a:r>
          </a:p>
        </p:txBody>
      </p:sp>
      <p:sp>
        <p:nvSpPr>
          <p:cNvPr id="38" name="TC01"/>
          <p:cNvSpPr>
            <a:spLocks noGrp="1"/>
          </p:cNvSpPr>
          <p:nvPr/>
        </p:nvSpPr>
        <p:spPr>
          <a:xfrm>
            <a:off x="3520440" y="3355848"/>
            <a:ext cx="1783080" cy="475488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CT01"/>
          <p:cNvSpPr txBox="1">
            <a:spLocks noGrp="1"/>
          </p:cNvSpPr>
          <p:nvPr/>
        </p:nvSpPr>
        <p:spPr>
          <a:xfrm>
            <a:off x="3611880" y="3429000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~38%</a:t>
            </a:r>
          </a:p>
        </p:txBody>
      </p:sp>
      <p:sp>
        <p:nvSpPr>
          <p:cNvPr id="40" name="TC02"/>
          <p:cNvSpPr>
            <a:spLocks noGrp="1"/>
          </p:cNvSpPr>
          <p:nvPr/>
        </p:nvSpPr>
        <p:spPr>
          <a:xfrm>
            <a:off x="5349240" y="3355848"/>
            <a:ext cx="1783080" cy="475488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CT02"/>
          <p:cNvSpPr txBox="1">
            <a:spLocks noGrp="1"/>
          </p:cNvSpPr>
          <p:nvPr/>
        </p:nvSpPr>
        <p:spPr>
          <a:xfrm>
            <a:off x="5440680" y="3429000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~51%</a:t>
            </a:r>
          </a:p>
        </p:txBody>
      </p:sp>
      <p:sp>
        <p:nvSpPr>
          <p:cNvPr id="42" name="TC03"/>
          <p:cNvSpPr>
            <a:spLocks noGrp="1"/>
          </p:cNvSpPr>
          <p:nvPr/>
        </p:nvSpPr>
        <p:spPr>
          <a:xfrm>
            <a:off x="7178040" y="3355848"/>
            <a:ext cx="1783080" cy="475488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CT03"/>
          <p:cNvSpPr txBox="1">
            <a:spLocks noGrp="1"/>
          </p:cNvSpPr>
          <p:nvPr/>
        </p:nvSpPr>
        <p:spPr>
          <a:xfrm>
            <a:off x="7269480" y="3429000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0" dirty="0">
                <a:solidFill>
                  <a:srgbClr val="E05C5C"/>
                </a:solidFill>
                <a:latin typeface="Calibri"/>
                <a:cs typeface="Nirmala UI"/>
              </a:rPr>
              <a:t>~43%</a:t>
            </a:r>
          </a:p>
        </p:txBody>
      </p:sp>
      <p:sp>
        <p:nvSpPr>
          <p:cNvPr id="44" name="TC04"/>
          <p:cNvSpPr>
            <a:spLocks noGrp="1"/>
          </p:cNvSpPr>
          <p:nvPr/>
        </p:nvSpPr>
        <p:spPr>
          <a:xfrm>
            <a:off x="9006840" y="3355848"/>
            <a:ext cx="1783080" cy="475488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CT04"/>
          <p:cNvSpPr txBox="1">
            <a:spLocks noGrp="1"/>
          </p:cNvSpPr>
          <p:nvPr/>
        </p:nvSpPr>
        <p:spPr>
          <a:xfrm>
            <a:off x="9098280" y="3429000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0" dirty="0">
                <a:solidFill>
                  <a:srgbClr val="8AAEC8"/>
                </a:solidFill>
                <a:latin typeface="Calibri"/>
                <a:cs typeface="Nirmala UI"/>
              </a:rPr>
              <a:t>Baseline</a:t>
            </a:r>
          </a:p>
        </p:txBody>
      </p:sp>
      <p:sp>
        <p:nvSpPr>
          <p:cNvPr id="46" name="TC10"/>
          <p:cNvSpPr>
            <a:spLocks noGrp="1"/>
          </p:cNvSpPr>
          <p:nvPr/>
        </p:nvSpPr>
        <p:spPr>
          <a:xfrm>
            <a:off x="320040" y="3831336"/>
            <a:ext cx="3154680" cy="475488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CT10"/>
          <p:cNvSpPr txBox="1">
            <a:spLocks noGrp="1"/>
          </p:cNvSpPr>
          <p:nvPr/>
        </p:nvSpPr>
        <p:spPr>
          <a:xfrm>
            <a:off x="411480" y="3904488"/>
            <a:ext cx="30175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Phase 2 (Embedding only)</a:t>
            </a:r>
          </a:p>
        </p:txBody>
      </p:sp>
      <p:sp>
        <p:nvSpPr>
          <p:cNvPr id="48" name="TC11"/>
          <p:cNvSpPr>
            <a:spLocks noGrp="1"/>
          </p:cNvSpPr>
          <p:nvPr/>
        </p:nvSpPr>
        <p:spPr>
          <a:xfrm>
            <a:off x="3520440" y="3831336"/>
            <a:ext cx="1783080" cy="475488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CT11"/>
          <p:cNvSpPr txBox="1">
            <a:spLocks noGrp="1"/>
          </p:cNvSpPr>
          <p:nvPr/>
        </p:nvSpPr>
        <p:spPr>
          <a:xfrm>
            <a:off x="3611880" y="3904488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~68%</a:t>
            </a:r>
          </a:p>
        </p:txBody>
      </p:sp>
      <p:sp>
        <p:nvSpPr>
          <p:cNvPr id="50" name="TC12"/>
          <p:cNvSpPr>
            <a:spLocks noGrp="1"/>
          </p:cNvSpPr>
          <p:nvPr/>
        </p:nvSpPr>
        <p:spPr>
          <a:xfrm>
            <a:off x="5349240" y="3831336"/>
            <a:ext cx="1783080" cy="475488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CT12"/>
          <p:cNvSpPr txBox="1">
            <a:spLocks noGrp="1"/>
          </p:cNvSpPr>
          <p:nvPr/>
        </p:nvSpPr>
        <p:spPr>
          <a:xfrm>
            <a:off x="5440680" y="3904488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~74%</a:t>
            </a:r>
          </a:p>
        </p:txBody>
      </p:sp>
      <p:sp>
        <p:nvSpPr>
          <p:cNvPr id="52" name="TC13"/>
          <p:cNvSpPr>
            <a:spLocks noGrp="1"/>
          </p:cNvSpPr>
          <p:nvPr/>
        </p:nvSpPr>
        <p:spPr>
          <a:xfrm>
            <a:off x="7178040" y="3831336"/>
            <a:ext cx="1783080" cy="475488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CT13"/>
          <p:cNvSpPr txBox="1">
            <a:spLocks noGrp="1"/>
          </p:cNvSpPr>
          <p:nvPr/>
        </p:nvSpPr>
        <p:spPr>
          <a:xfrm>
            <a:off x="7269480" y="3904488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0" dirty="0">
                <a:solidFill>
                  <a:srgbClr val="8AAEC8"/>
                </a:solidFill>
                <a:latin typeface="Calibri"/>
                <a:cs typeface="Nirmala UI"/>
              </a:rPr>
              <a:t>~71%</a:t>
            </a:r>
          </a:p>
        </p:txBody>
      </p:sp>
      <p:sp>
        <p:nvSpPr>
          <p:cNvPr id="54" name="TC14"/>
          <p:cNvSpPr>
            <a:spLocks noGrp="1"/>
          </p:cNvSpPr>
          <p:nvPr/>
        </p:nvSpPr>
        <p:spPr>
          <a:xfrm>
            <a:off x="9006840" y="3831336"/>
            <a:ext cx="1783080" cy="475488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CT14"/>
          <p:cNvSpPr txBox="1">
            <a:spLocks noGrp="1"/>
          </p:cNvSpPr>
          <p:nvPr/>
        </p:nvSpPr>
        <p:spPr>
          <a:xfrm>
            <a:off x="9098280" y="3904488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+28pp</a:t>
            </a:r>
          </a:p>
        </p:txBody>
      </p:sp>
      <p:sp>
        <p:nvSpPr>
          <p:cNvPr id="56" name="TC20"/>
          <p:cNvSpPr>
            <a:spLocks noGrp="1"/>
          </p:cNvSpPr>
          <p:nvPr/>
        </p:nvSpPr>
        <p:spPr>
          <a:xfrm>
            <a:off x="320040" y="4306824"/>
            <a:ext cx="3154680" cy="475488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CT20"/>
          <p:cNvSpPr txBox="1">
            <a:spLocks noGrp="1"/>
          </p:cNvSpPr>
          <p:nvPr/>
        </p:nvSpPr>
        <p:spPr>
          <a:xfrm>
            <a:off x="411480" y="4379976"/>
            <a:ext cx="30175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Phase 2 (Full Hybrid)</a:t>
            </a:r>
          </a:p>
        </p:txBody>
      </p:sp>
      <p:sp>
        <p:nvSpPr>
          <p:cNvPr id="58" name="TC21"/>
          <p:cNvSpPr>
            <a:spLocks noGrp="1"/>
          </p:cNvSpPr>
          <p:nvPr/>
        </p:nvSpPr>
        <p:spPr>
          <a:xfrm>
            <a:off x="3520440" y="4306824"/>
            <a:ext cx="1783080" cy="475488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CT21"/>
          <p:cNvSpPr txBox="1">
            <a:spLocks noGrp="1"/>
          </p:cNvSpPr>
          <p:nvPr/>
        </p:nvSpPr>
        <p:spPr>
          <a:xfrm>
            <a:off x="3611880" y="4379976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~78%</a:t>
            </a:r>
          </a:p>
        </p:txBody>
      </p:sp>
      <p:sp>
        <p:nvSpPr>
          <p:cNvPr id="60" name="TC22"/>
          <p:cNvSpPr>
            <a:spLocks noGrp="1"/>
          </p:cNvSpPr>
          <p:nvPr/>
        </p:nvSpPr>
        <p:spPr>
          <a:xfrm>
            <a:off x="5349240" y="4306824"/>
            <a:ext cx="1783080" cy="475488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CT22"/>
          <p:cNvSpPr txBox="1">
            <a:spLocks noGrp="1"/>
          </p:cNvSpPr>
          <p:nvPr/>
        </p:nvSpPr>
        <p:spPr>
          <a:xfrm>
            <a:off x="5440680" y="4379976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~79%</a:t>
            </a:r>
          </a:p>
        </p:txBody>
      </p:sp>
      <p:sp>
        <p:nvSpPr>
          <p:cNvPr id="62" name="TC23"/>
          <p:cNvSpPr>
            <a:spLocks noGrp="1"/>
          </p:cNvSpPr>
          <p:nvPr/>
        </p:nvSpPr>
        <p:spPr>
          <a:xfrm>
            <a:off x="7178040" y="4306824"/>
            <a:ext cx="1783080" cy="475488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CT23"/>
          <p:cNvSpPr txBox="1">
            <a:spLocks noGrp="1"/>
          </p:cNvSpPr>
          <p:nvPr/>
        </p:nvSpPr>
        <p:spPr>
          <a:xfrm>
            <a:off x="7269480" y="4379976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~79%</a:t>
            </a:r>
          </a:p>
        </p:txBody>
      </p:sp>
      <p:sp>
        <p:nvSpPr>
          <p:cNvPr id="64" name="TC24"/>
          <p:cNvSpPr>
            <a:spLocks noGrp="1"/>
          </p:cNvSpPr>
          <p:nvPr/>
        </p:nvSpPr>
        <p:spPr>
          <a:xfrm>
            <a:off x="9006840" y="4306824"/>
            <a:ext cx="1783080" cy="475488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TCT24"/>
          <p:cNvSpPr txBox="1">
            <a:spLocks noGrp="1"/>
          </p:cNvSpPr>
          <p:nvPr/>
        </p:nvSpPr>
        <p:spPr>
          <a:xfrm>
            <a:off x="9098280" y="4379976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0" dirty="0">
                <a:solidFill>
                  <a:srgbClr val="D0E4F7"/>
                </a:solidFill>
                <a:latin typeface="Calibri"/>
                <a:cs typeface="Nirmala UI"/>
              </a:rPr>
              <a:t>+36pp</a:t>
            </a:r>
          </a:p>
        </p:txBody>
      </p:sp>
      <p:sp>
        <p:nvSpPr>
          <p:cNvPr id="66" name="TC30"/>
          <p:cNvSpPr>
            <a:spLocks noGrp="1"/>
          </p:cNvSpPr>
          <p:nvPr/>
        </p:nvSpPr>
        <p:spPr>
          <a:xfrm>
            <a:off x="320040" y="4782312"/>
            <a:ext cx="3154680" cy="475488"/>
          </a:xfrm>
          <a:prstGeom prst="rect">
            <a:avLst/>
          </a:prstGeom>
          <a:solidFill>
            <a:srgbClr val="1A2E4A"/>
          </a:solidFill>
          <a:ln w="8000">
            <a:solidFill>
              <a:srgbClr val="F5A623"/>
            </a:solidFill>
          </a:ln>
        </p:spPr>
        <p:txBody>
          <a:bodyPr/>
          <a:lstStyle/>
          <a:p/>
        </p:txBody>
      </p:sp>
      <p:sp>
        <p:nvSpPr>
          <p:cNvPr id="67" name="TCT30"/>
          <p:cNvSpPr txBox="1">
            <a:spLocks noGrp="1"/>
          </p:cNvSpPr>
          <p:nvPr/>
        </p:nvSpPr>
        <p:spPr>
          <a:xfrm>
            <a:off x="411480" y="4855464"/>
            <a:ext cx="30175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1" dirty="0">
                <a:solidFill>
                  <a:srgbClr val="FFFFFF"/>
                </a:solidFill>
                <a:latin typeface="Calibri"/>
                <a:cs typeface="Nirmala UI"/>
              </a:rPr>
              <a:t>Phase 2 + Linguistic Feats</a:t>
            </a:r>
          </a:p>
        </p:txBody>
      </p:sp>
      <p:sp>
        <p:nvSpPr>
          <p:cNvPr id="68" name="TC31"/>
          <p:cNvSpPr>
            <a:spLocks noGrp="1"/>
          </p:cNvSpPr>
          <p:nvPr/>
        </p:nvSpPr>
        <p:spPr>
          <a:xfrm>
            <a:off x="3520440" y="4782312"/>
            <a:ext cx="1783080" cy="475488"/>
          </a:xfrm>
          <a:prstGeom prst="rect">
            <a:avLst/>
          </a:prstGeom>
          <a:solidFill>
            <a:srgbClr val="1A2E4A"/>
          </a:solidFill>
          <a:ln w="8000">
            <a:solidFill>
              <a:srgbClr val="F5A623"/>
            </a:solidFill>
          </a:ln>
        </p:spPr>
        <p:txBody>
          <a:bodyPr/>
          <a:lstStyle/>
          <a:p/>
        </p:txBody>
      </p:sp>
      <p:sp>
        <p:nvSpPr>
          <p:cNvPr id="69" name="TCT31"/>
          <p:cNvSpPr txBox="1">
            <a:spLocks noGrp="1"/>
          </p:cNvSpPr>
          <p:nvPr/>
        </p:nvSpPr>
        <p:spPr>
          <a:xfrm>
            <a:off x="3611880" y="4855464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1" dirty="0">
                <a:solidFill>
                  <a:srgbClr val="FFFFFF"/>
                </a:solidFill>
                <a:latin typeface="Calibri"/>
                <a:cs typeface="Nirmala UI"/>
              </a:rPr>
              <a:t>~80%</a:t>
            </a:r>
          </a:p>
        </p:txBody>
      </p:sp>
      <p:sp>
        <p:nvSpPr>
          <p:cNvPr id="70" name="TC32"/>
          <p:cNvSpPr>
            <a:spLocks noGrp="1"/>
          </p:cNvSpPr>
          <p:nvPr/>
        </p:nvSpPr>
        <p:spPr>
          <a:xfrm>
            <a:off x="5349240" y="4782312"/>
            <a:ext cx="1783080" cy="475488"/>
          </a:xfrm>
          <a:prstGeom prst="rect">
            <a:avLst/>
          </a:prstGeom>
          <a:solidFill>
            <a:srgbClr val="1A2E4A"/>
          </a:solidFill>
          <a:ln w="8000">
            <a:solidFill>
              <a:srgbClr val="F5A623"/>
            </a:solidFill>
          </a:ln>
        </p:spPr>
        <p:txBody>
          <a:bodyPr/>
          <a:lstStyle/>
          <a:p/>
        </p:txBody>
      </p:sp>
      <p:sp>
        <p:nvSpPr>
          <p:cNvPr id="71" name="TCT32"/>
          <p:cNvSpPr txBox="1">
            <a:spLocks noGrp="1"/>
          </p:cNvSpPr>
          <p:nvPr/>
        </p:nvSpPr>
        <p:spPr>
          <a:xfrm>
            <a:off x="5440680" y="4855464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1" dirty="0">
                <a:solidFill>
                  <a:srgbClr val="FFFFFF"/>
                </a:solidFill>
                <a:latin typeface="Calibri"/>
                <a:cs typeface="Nirmala UI"/>
              </a:rPr>
              <a:t>~84%</a:t>
            </a:r>
          </a:p>
        </p:txBody>
      </p:sp>
      <p:sp>
        <p:nvSpPr>
          <p:cNvPr id="72" name="TC33"/>
          <p:cNvSpPr>
            <a:spLocks noGrp="1"/>
          </p:cNvSpPr>
          <p:nvPr/>
        </p:nvSpPr>
        <p:spPr>
          <a:xfrm>
            <a:off x="7178040" y="4782312"/>
            <a:ext cx="1783080" cy="475488"/>
          </a:xfrm>
          <a:prstGeom prst="rect">
            <a:avLst/>
          </a:prstGeom>
          <a:solidFill>
            <a:srgbClr val="1A2E4A"/>
          </a:solidFill>
          <a:ln w="8000">
            <a:solidFill>
              <a:srgbClr val="F5A623"/>
            </a:solidFill>
          </a:ln>
        </p:spPr>
        <p:txBody>
          <a:bodyPr/>
          <a:lstStyle/>
          <a:p/>
        </p:txBody>
      </p:sp>
      <p:sp>
        <p:nvSpPr>
          <p:cNvPr id="73" name="TCT33"/>
          <p:cNvSpPr txBox="1">
            <a:spLocks noGrp="1"/>
          </p:cNvSpPr>
          <p:nvPr/>
        </p:nvSpPr>
        <p:spPr>
          <a:xfrm>
            <a:off x="7269480" y="4855464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1" dirty="0">
                <a:solidFill>
                  <a:srgbClr val="00C9B1"/>
                </a:solidFill>
                <a:latin typeface="Calibri"/>
                <a:cs typeface="Nirmala UI"/>
              </a:rPr>
              <a:t>~82%</a:t>
            </a:r>
          </a:p>
        </p:txBody>
      </p:sp>
      <p:sp>
        <p:nvSpPr>
          <p:cNvPr id="74" name="TC34"/>
          <p:cNvSpPr>
            <a:spLocks noGrp="1"/>
          </p:cNvSpPr>
          <p:nvPr/>
        </p:nvSpPr>
        <p:spPr>
          <a:xfrm>
            <a:off x="9006840" y="4782312"/>
            <a:ext cx="1783080" cy="475488"/>
          </a:xfrm>
          <a:prstGeom prst="rect">
            <a:avLst/>
          </a:prstGeom>
          <a:solidFill>
            <a:srgbClr val="1A2E4A"/>
          </a:solidFill>
          <a:ln w="8000">
            <a:solidFill>
              <a:srgbClr val="F5A623"/>
            </a:solidFill>
          </a:ln>
        </p:spPr>
        <p:txBody>
          <a:bodyPr/>
          <a:lstStyle/>
          <a:p/>
        </p:txBody>
      </p:sp>
      <p:sp>
        <p:nvSpPr>
          <p:cNvPr id="75" name="TCT34"/>
          <p:cNvSpPr txBox="1">
            <a:spLocks noGrp="1"/>
          </p:cNvSpPr>
          <p:nvPr/>
        </p:nvSpPr>
        <p:spPr>
          <a:xfrm>
            <a:off x="9098280" y="4855464"/>
            <a:ext cx="16459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350" b="1" dirty="0">
                <a:solidFill>
                  <a:srgbClr val="F5A623"/>
                </a:solidFill>
                <a:latin typeface="Calibri"/>
                <a:cs typeface="Nirmala UI"/>
              </a:rPr>
              <a:t>+39pp</a:t>
            </a:r>
          </a:p>
        </p:txBody>
      </p:sp>
      <p:sp>
        <p:nvSpPr>
          <p:cNvPr id="76" name="FooterBar"/>
          <p:cNvSpPr>
            <a:spLocks noGrp="1"/>
          </p:cNvSpPr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FooterLine"/>
          <p:cNvSpPr>
            <a:spLocks noGrp="1"/>
          </p:cNvSpPr>
          <p:nvPr/>
        </p:nvSpPr>
        <p:spPr>
          <a:xfrm>
            <a:off x="0" y="6446520"/>
            <a:ext cx="1219200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FooterLeft"/>
          <p:cNvSpPr txBox="1">
            <a:spLocks noGrp="1"/>
          </p:cNvSpPr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Hindi Coreference Resolution | CIT Kokrajhar</a:t>
            </a:r>
          </a:p>
        </p:txBody>
      </p:sp>
      <p:sp>
        <p:nvSpPr>
          <p:cNvPr id="79" name="FooterRight"/>
          <p:cNvSpPr txBox="1">
            <a:spLocks noGrp="1"/>
          </p:cNvSpPr>
          <p:nvPr/>
        </p:nvSpPr>
        <p:spPr>
          <a:xfrm>
            <a:off x="8229600" y="6492240"/>
            <a:ext cx="27432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r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B.Tech Project Presentation  |  2026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opBar"/>
          <p:cNvSpPr>
            <a:spLocks noGrp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Line"/>
          <p:cNvSpPr>
            <a:spLocks noGrp="1"/>
          </p:cNvSpPr>
          <p:nvPr/>
        </p:nvSpPr>
        <p:spPr>
          <a:xfrm>
            <a:off x="0" y="1143000"/>
            <a:ext cx="1219200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lideTitle"/>
          <p:cNvSpPr txBox="1">
            <a:spLocks noGrp="1"/>
          </p:cNvSpPr>
          <p:nvPr/>
        </p:nvSpPr>
        <p:spPr>
          <a:xfrm>
            <a:off x="365760" y="109728"/>
            <a:ext cx="10515600" cy="8229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3000" b="1" dirty="0">
                <a:solidFill>
                  <a:srgbClr val="FFFFFF"/>
                </a:solidFill>
                <a:latin typeface="Calibri"/>
                <a:cs typeface="Nirmala UI"/>
              </a:rPr>
              <a:t>Example Output</a:t>
            </a:r>
          </a:p>
        </p:txBody>
      </p:sp>
      <p:sp>
        <p:nvSpPr>
          <p:cNvPr id="13" name="SlideSubtitle"/>
          <p:cNvSpPr txBox="1">
            <a:spLocks noGrp="1"/>
          </p:cNvSpPr>
          <p:nvPr/>
        </p:nvSpPr>
        <p:spPr>
          <a:xfrm>
            <a:off x="365760" y="777240"/>
            <a:ext cx="914400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400" b="0" dirty="0">
                <a:solidFill>
                  <a:srgbClr val="00C9B1"/>
                </a:solidFill>
                <a:latin typeface="Calibri"/>
                <a:cs typeface="Nirmala UI"/>
              </a:rPr>
              <a:t>Demonstrating pronoun-antecedent coreference resolution</a:t>
            </a:r>
          </a:p>
        </p:txBody>
      </p:sp>
      <p:sp>
        <p:nvSpPr>
          <p:cNvPr id="14" name="InpBox"/>
          <p:cNvSpPr>
            <a:spLocks noGrp="1"/>
          </p:cNvSpPr>
          <p:nvPr/>
        </p:nvSpPr>
        <p:spPr>
          <a:xfrm>
            <a:off x="320040" y="1444752"/>
            <a:ext cx="10515600" cy="1005840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 w="12700">
            <a:solidFill>
              <a:srgbClr val="00C9B1"/>
            </a:solidFill>
          </a:ln>
        </p:spPr>
        <p:txBody>
          <a:bodyPr/>
          <a:lstStyle/>
          <a:p/>
        </p:txBody>
      </p:sp>
      <p:sp>
        <p:nvSpPr>
          <p:cNvPr id="15" name="InpLabel"/>
          <p:cNvSpPr txBox="1">
            <a:spLocks noGrp="1"/>
          </p:cNvSpPr>
          <p:nvPr/>
        </p:nvSpPr>
        <p:spPr>
          <a:xfrm>
            <a:off x="502920" y="1490472"/>
            <a:ext cx="1005840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100" b="1" dirty="0">
                <a:solidFill>
                  <a:srgbClr val="00C9B1"/>
                </a:solidFill>
                <a:latin typeface="Calibri"/>
                <a:cs typeface="Nirmala UI"/>
              </a:rPr>
              <a:t>INPUT TEXT</a:t>
            </a:r>
          </a:p>
        </p:txBody>
      </p:sp>
      <p:sp>
        <p:nvSpPr>
          <p:cNvPr id="16" name="InpText"/>
          <p:cNvSpPr txBox="1">
            <a:spLocks noGrp="1"/>
          </p:cNvSpPr>
          <p:nvPr/>
        </p:nvSpPr>
        <p:spPr>
          <a:xfrm>
            <a:off x="502920" y="1828800"/>
            <a:ext cx="10058400" cy="5486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700" b="0" dirty="0">
                <a:solidFill>
                  <a:srgbClr val="FFFFFF"/>
                </a:solidFill>
                <a:latin typeface="Calibri"/>
                <a:cs typeface="Nirmala UI"/>
              </a:rPr>
              <a:t>'राम विद्यालय गया।  वह बहुत प्रसन्न था।  उसने अपने मित्रों से बात की।'</a:t>
            </a:r>
          </a:p>
        </p:txBody>
      </p:sp>
      <p:sp>
        <p:nvSpPr>
          <p:cNvPr id="17" name="MentionDivider"/>
          <p:cNvSpPr>
            <a:spLocks noGrp="1"/>
          </p:cNvSpPr>
          <p:nvPr/>
        </p:nvSpPr>
        <p:spPr>
          <a:xfrm>
            <a:off x="320040" y="2633472"/>
            <a:ext cx="11551920" cy="36576"/>
          </a:xfrm>
          <a:prstGeom prst="rect">
            <a:avLst/>
          </a:prstGeom>
          <a:solidFill>
            <a:srgbClr val="8AAE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MentionHeader"/>
          <p:cNvSpPr txBox="1">
            <a:spLocks noGrp="1"/>
          </p:cNvSpPr>
          <p:nvPr/>
        </p:nvSpPr>
        <p:spPr>
          <a:xfrm>
            <a:off x="320040" y="2724912"/>
            <a:ext cx="1051560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500" b="1" dirty="0">
                <a:solidFill>
                  <a:srgbClr val="F5A623"/>
                </a:solidFill>
                <a:latin typeface="Calibri"/>
                <a:cs typeface="Nirmala UI"/>
              </a:rPr>
              <a:t>IDENTIFIED MENTIONS  →  Resolved Entity Cluster</a:t>
            </a:r>
          </a:p>
        </p:txBody>
      </p:sp>
      <p:sp>
        <p:nvSpPr>
          <p:cNvPr id="19" name="MBox0"/>
          <p:cNvSpPr>
            <a:spLocks noGrp="1"/>
          </p:cNvSpPr>
          <p:nvPr/>
        </p:nvSpPr>
        <p:spPr>
          <a:xfrm>
            <a:off x="320040" y="3246120"/>
            <a:ext cx="2560320" cy="1234440"/>
          </a:xfrm>
          <a:prstGeom prst="roundRect">
            <a:avLst>
              <a:gd name="adj" fmla="val 15000"/>
            </a:avLst>
          </a:prstGeom>
          <a:solidFill>
            <a:srgbClr val="0D1B2E"/>
          </a:solidFill>
          <a:ln w="18000">
            <a:solidFill>
              <a:srgbClr val="00C9B1"/>
            </a:solidFill>
          </a:ln>
        </p:spPr>
        <p:txBody>
          <a:bodyPr/>
          <a:lstStyle/>
          <a:p/>
        </p:txBody>
      </p:sp>
      <p:sp>
        <p:nvSpPr>
          <p:cNvPr id="20" name="MWord0"/>
          <p:cNvSpPr txBox="1">
            <a:spLocks noGrp="1"/>
          </p:cNvSpPr>
          <p:nvPr/>
        </p:nvSpPr>
        <p:spPr>
          <a:xfrm>
            <a:off x="320040" y="3383280"/>
            <a:ext cx="2560320" cy="5943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2800" b="1" dirty="0">
                <a:solidFill>
                  <a:srgbClr val="00C9B1"/>
                </a:solidFill>
                <a:latin typeface="Calibri"/>
                <a:cs typeface="Nirmala UI"/>
              </a:rPr>
              <a:t>राम</a:t>
            </a:r>
          </a:p>
        </p:txBody>
      </p:sp>
      <p:sp>
        <p:nvSpPr>
          <p:cNvPr id="21" name="MType0"/>
          <p:cNvSpPr txBox="1">
            <a:spLocks noGrp="1"/>
          </p:cNvSpPr>
          <p:nvPr/>
        </p:nvSpPr>
        <p:spPr>
          <a:xfrm>
            <a:off x="320040" y="4023360"/>
            <a:ext cx="25603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200" b="0" dirty="0">
                <a:solidFill>
                  <a:srgbClr val="8AAEC8"/>
                </a:solidFill>
                <a:latin typeface="Calibri"/>
                <a:cs typeface="Nirmala UI"/>
              </a:rPr>
              <a:t>Proper Noun</a:t>
            </a:r>
          </a:p>
        </p:txBody>
      </p:sp>
      <p:sp>
        <p:nvSpPr>
          <p:cNvPr id="22" name="MArrow0"/>
          <p:cNvSpPr txBox="1">
            <a:spLocks noGrp="1"/>
          </p:cNvSpPr>
          <p:nvPr/>
        </p:nvSpPr>
        <p:spPr>
          <a:xfrm>
            <a:off x="2930652.0" y="3726180"/>
            <a:ext cx="402336.0" cy="27432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200" b="0" dirty="0">
                <a:solidFill>
                  <a:srgbClr val="8AAEC8"/>
                </a:solidFill>
                <a:latin typeface="Calibri"/>
                <a:cs typeface="Nirmala UI"/>
              </a:rPr>
              <a:t>═══►</a:t>
            </a:r>
          </a:p>
        </p:txBody>
      </p:sp>
      <p:sp>
        <p:nvSpPr>
          <p:cNvPr id="23" name="MBox1"/>
          <p:cNvSpPr>
            <a:spLocks noGrp="1"/>
          </p:cNvSpPr>
          <p:nvPr/>
        </p:nvSpPr>
        <p:spPr>
          <a:xfrm>
            <a:off x="3383280" y="3246120"/>
            <a:ext cx="2560320" cy="1234440"/>
          </a:xfrm>
          <a:prstGeom prst="roundRect">
            <a:avLst>
              <a:gd name="adj" fmla="val 15000"/>
            </a:avLst>
          </a:prstGeom>
          <a:solidFill>
            <a:srgbClr val="0D1B2E"/>
          </a:solidFill>
          <a:ln w="18000">
            <a:solidFill>
              <a:srgbClr val="F5A623"/>
            </a:solidFill>
          </a:ln>
        </p:spPr>
        <p:txBody>
          <a:bodyPr/>
          <a:lstStyle/>
          <a:p/>
        </p:txBody>
      </p:sp>
      <p:sp>
        <p:nvSpPr>
          <p:cNvPr id="24" name="MWord1"/>
          <p:cNvSpPr txBox="1">
            <a:spLocks noGrp="1"/>
          </p:cNvSpPr>
          <p:nvPr/>
        </p:nvSpPr>
        <p:spPr>
          <a:xfrm>
            <a:off x="3383280" y="3383280"/>
            <a:ext cx="2560320" cy="5943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2800" b="1" dirty="0">
                <a:solidFill>
                  <a:srgbClr val="F5A623"/>
                </a:solidFill>
                <a:latin typeface="Calibri"/>
                <a:cs typeface="Nirmala UI"/>
              </a:rPr>
              <a:t>वह</a:t>
            </a:r>
          </a:p>
        </p:txBody>
      </p:sp>
      <p:sp>
        <p:nvSpPr>
          <p:cNvPr id="25" name="MType1"/>
          <p:cNvSpPr txBox="1">
            <a:spLocks noGrp="1"/>
          </p:cNvSpPr>
          <p:nvPr/>
        </p:nvSpPr>
        <p:spPr>
          <a:xfrm>
            <a:off x="3383280" y="4023360"/>
            <a:ext cx="25603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200" b="0" dirty="0">
                <a:solidFill>
                  <a:srgbClr val="8AAEC8"/>
                </a:solidFill>
                <a:latin typeface="Calibri"/>
                <a:cs typeface="Nirmala UI"/>
              </a:rPr>
              <a:t>Pronoun</a:t>
            </a:r>
          </a:p>
        </p:txBody>
      </p:sp>
      <p:sp>
        <p:nvSpPr>
          <p:cNvPr id="26" name="MArrow1"/>
          <p:cNvSpPr txBox="1">
            <a:spLocks noGrp="1"/>
          </p:cNvSpPr>
          <p:nvPr/>
        </p:nvSpPr>
        <p:spPr>
          <a:xfrm>
            <a:off x="5993892.0" y="3726180"/>
            <a:ext cx="402336.0" cy="27432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200" b="0" dirty="0">
                <a:solidFill>
                  <a:srgbClr val="8AAEC8"/>
                </a:solidFill>
                <a:latin typeface="Calibri"/>
                <a:cs typeface="Nirmala UI"/>
              </a:rPr>
              <a:t>═══►</a:t>
            </a:r>
          </a:p>
        </p:txBody>
      </p:sp>
      <p:sp>
        <p:nvSpPr>
          <p:cNvPr id="27" name="MBox2"/>
          <p:cNvSpPr>
            <a:spLocks noGrp="1"/>
          </p:cNvSpPr>
          <p:nvPr/>
        </p:nvSpPr>
        <p:spPr>
          <a:xfrm>
            <a:off x="6446520" y="3246120"/>
            <a:ext cx="2560320" cy="1234440"/>
          </a:xfrm>
          <a:prstGeom prst="roundRect">
            <a:avLst>
              <a:gd name="adj" fmla="val 15000"/>
            </a:avLst>
          </a:prstGeom>
          <a:solidFill>
            <a:srgbClr val="0D1B2E"/>
          </a:solidFill>
          <a:ln w="18000">
            <a:solidFill>
              <a:srgbClr val="A06BBE"/>
            </a:solidFill>
          </a:ln>
        </p:spPr>
        <p:txBody>
          <a:bodyPr/>
          <a:lstStyle/>
          <a:p/>
        </p:txBody>
      </p:sp>
      <p:sp>
        <p:nvSpPr>
          <p:cNvPr id="28" name="MWord2"/>
          <p:cNvSpPr txBox="1">
            <a:spLocks noGrp="1"/>
          </p:cNvSpPr>
          <p:nvPr/>
        </p:nvSpPr>
        <p:spPr>
          <a:xfrm>
            <a:off x="6446520" y="3383280"/>
            <a:ext cx="2560320" cy="5943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2800" b="1" dirty="0">
                <a:solidFill>
                  <a:srgbClr val="A06BBE"/>
                </a:solidFill>
                <a:latin typeface="Calibri"/>
                <a:cs typeface="Nirmala UI"/>
              </a:rPr>
              <a:t>उसने</a:t>
            </a:r>
          </a:p>
        </p:txBody>
      </p:sp>
      <p:sp>
        <p:nvSpPr>
          <p:cNvPr id="29" name="MType2"/>
          <p:cNvSpPr txBox="1">
            <a:spLocks noGrp="1"/>
          </p:cNvSpPr>
          <p:nvPr/>
        </p:nvSpPr>
        <p:spPr>
          <a:xfrm>
            <a:off x="6446520" y="4023360"/>
            <a:ext cx="2560320" cy="384048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200" b="0" dirty="0">
                <a:solidFill>
                  <a:srgbClr val="8AAEC8"/>
                </a:solidFill>
                <a:latin typeface="Calibri"/>
                <a:cs typeface="Nirmala UI"/>
              </a:rPr>
              <a:t>Pronoun</a:t>
            </a:r>
          </a:p>
        </p:txBody>
      </p:sp>
      <p:sp>
        <p:nvSpPr>
          <p:cNvPr id="30" name="ClusterBox"/>
          <p:cNvSpPr>
            <a:spLocks noGrp="1"/>
          </p:cNvSpPr>
          <p:nvPr/>
        </p:nvSpPr>
        <p:spPr>
          <a:xfrm>
            <a:off x="320040" y="4709160"/>
            <a:ext cx="10515600" cy="777240"/>
          </a:xfrm>
          <a:prstGeom prst="roundRect">
            <a:avLst>
              <a:gd name="adj" fmla="val 16667"/>
            </a:avLst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ClusterLabel"/>
          <p:cNvSpPr txBox="1">
            <a:spLocks noGrp="1"/>
          </p:cNvSpPr>
          <p:nvPr/>
        </p:nvSpPr>
        <p:spPr>
          <a:xfrm>
            <a:off x="502920" y="4754880"/>
            <a:ext cx="274320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400" b="1" dirty="0">
                <a:solidFill>
                  <a:srgbClr val="1A2E4A"/>
                </a:solidFill>
                <a:latin typeface="Calibri"/>
                <a:cs typeface="Nirmala UI"/>
              </a:rPr>
              <a:t>PREDICTED CLUSTER:</a:t>
            </a:r>
          </a:p>
        </p:txBody>
      </p:sp>
      <p:sp>
        <p:nvSpPr>
          <p:cNvPr id="32" name="ClusterValue"/>
          <p:cNvSpPr txBox="1">
            <a:spLocks noGrp="1"/>
          </p:cNvSpPr>
          <p:nvPr/>
        </p:nvSpPr>
        <p:spPr>
          <a:xfrm>
            <a:off x="3474720" y="4754880"/>
            <a:ext cx="713232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700" b="1" dirty="0">
                <a:solidFill>
                  <a:srgbClr val="1A2E4A"/>
                </a:solidFill>
                <a:latin typeface="Calibri"/>
                <a:cs typeface="Nirmala UI"/>
              </a:rPr>
              <a:t>{  राम  ,  वह  ,  उसने  }  →  Single Entity</a:t>
            </a:r>
          </a:p>
        </p:txBody>
      </p:sp>
      <p:sp>
        <p:nvSpPr>
          <p:cNvPr id="33" name="Note"/>
          <p:cNvSpPr txBox="1">
            <a:spLocks noGrp="1"/>
          </p:cNvSpPr>
          <p:nvPr/>
        </p:nvSpPr>
        <p:spPr>
          <a:xfrm>
            <a:off x="320040" y="5623560"/>
            <a:ext cx="1051560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300" b="0" dirty="0">
                <a:solidFill>
                  <a:srgbClr val="8AAEC8"/>
                </a:solidFill>
                <a:latin typeface="Calibri"/>
                <a:cs typeface="Nirmala UI"/>
              </a:rPr>
              <a:t>Note: Some ambiguity cases (pro-drop, zero-anaphora) remain challenging for the current model.</a:t>
            </a:r>
          </a:p>
        </p:txBody>
      </p:sp>
      <p:sp>
        <p:nvSpPr>
          <p:cNvPr id="34" name="FooterBar"/>
          <p:cNvSpPr>
            <a:spLocks noGrp="1"/>
          </p:cNvSpPr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FooterLine"/>
          <p:cNvSpPr>
            <a:spLocks noGrp="1"/>
          </p:cNvSpPr>
          <p:nvPr/>
        </p:nvSpPr>
        <p:spPr>
          <a:xfrm>
            <a:off x="0" y="6446520"/>
            <a:ext cx="1219200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FooterLeft"/>
          <p:cNvSpPr txBox="1">
            <a:spLocks noGrp="1"/>
          </p:cNvSpPr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Hindi Coreference Resolution | CIT Kokrajhar</a:t>
            </a:r>
          </a:p>
        </p:txBody>
      </p:sp>
      <p:sp>
        <p:nvSpPr>
          <p:cNvPr id="37" name="FooterRight"/>
          <p:cNvSpPr txBox="1">
            <a:spLocks noGrp="1"/>
          </p:cNvSpPr>
          <p:nvPr/>
        </p:nvSpPr>
        <p:spPr>
          <a:xfrm>
            <a:off x="8229600" y="6492240"/>
            <a:ext cx="27432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r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B.Tech Project Presentation  |  2026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opBar"/>
          <p:cNvSpPr>
            <a:spLocks noGrp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Line"/>
          <p:cNvSpPr>
            <a:spLocks noGrp="1"/>
          </p:cNvSpPr>
          <p:nvPr/>
        </p:nvSpPr>
        <p:spPr>
          <a:xfrm>
            <a:off x="0" y="1143000"/>
            <a:ext cx="12192000" cy="54864"/>
          </a:xfrm>
          <a:prstGeom prst="rect">
            <a:avLst/>
          </a:prstGeom>
          <a:solidFill>
            <a:srgbClr val="E05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lideTitle"/>
          <p:cNvSpPr txBox="1">
            <a:spLocks noGrp="1"/>
          </p:cNvSpPr>
          <p:nvPr/>
        </p:nvSpPr>
        <p:spPr>
          <a:xfrm>
            <a:off x="365760" y="109728"/>
            <a:ext cx="10515600" cy="8229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3000" b="1" dirty="0">
                <a:solidFill>
                  <a:srgbClr val="FFFFFF"/>
                </a:solidFill>
                <a:latin typeface="Calibri"/>
                <a:cs typeface="Nirmala UI"/>
              </a:rPr>
              <a:t>Limitations</a:t>
            </a:r>
          </a:p>
        </p:txBody>
      </p:sp>
      <p:sp>
        <p:nvSpPr>
          <p:cNvPr id="13" name="SlideSubtitle"/>
          <p:cNvSpPr txBox="1">
            <a:spLocks noGrp="1"/>
          </p:cNvSpPr>
          <p:nvPr/>
        </p:nvSpPr>
        <p:spPr>
          <a:xfrm>
            <a:off x="365760" y="777240"/>
            <a:ext cx="914400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400" b="0" dirty="0">
                <a:solidFill>
                  <a:srgbClr val="00C9B1"/>
                </a:solidFill>
                <a:latin typeface="Calibri"/>
                <a:cs typeface="Nirmala UI"/>
              </a:rPr>
              <a:t>Known constraints and areas for improvement</a:t>
            </a:r>
          </a:p>
        </p:txBody>
      </p:sp>
      <p:sp>
        <p:nvSpPr>
          <p:cNvPr id="14" name="LBar0"/>
          <p:cNvSpPr>
            <a:spLocks noGrp="1"/>
          </p:cNvSpPr>
          <p:nvPr/>
        </p:nvSpPr>
        <p:spPr>
          <a:xfrm>
            <a:off x="320040" y="1444752"/>
            <a:ext cx="64008" cy="676656"/>
          </a:xfrm>
          <a:prstGeom prst="rect">
            <a:avLst/>
          </a:prstGeom>
          <a:solidFill>
            <a:srgbClr val="E05C5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LCard0"/>
          <p:cNvSpPr>
            <a:spLocks noGrp="1"/>
          </p:cNvSpPr>
          <p:nvPr/>
        </p:nvSpPr>
        <p:spPr>
          <a:xfrm>
            <a:off x="429768" y="1444752"/>
            <a:ext cx="10405872" cy="676656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LTitle0"/>
          <p:cNvSpPr txBox="1">
            <a:spLocks noGrp="1"/>
          </p:cNvSpPr>
          <p:nvPr/>
        </p:nvSpPr>
        <p:spPr>
          <a:xfrm>
            <a:off x="594360" y="1499616"/>
            <a:ext cx="3200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500" b="1" dirty="0">
                <a:solidFill>
                  <a:srgbClr val="E05C5C"/>
                </a:solidFill>
                <a:latin typeface="Calibri"/>
                <a:cs typeface="Nirmala UI"/>
              </a:rPr>
              <a:t>Small Annotated Dataset</a:t>
            </a:r>
          </a:p>
        </p:txBody>
      </p:sp>
      <p:sp>
        <p:nvSpPr>
          <p:cNvPr id="17" name="LDesc0"/>
          <p:cNvSpPr txBox="1">
            <a:spLocks noGrp="1"/>
          </p:cNvSpPr>
          <p:nvPr/>
        </p:nvSpPr>
        <p:spPr>
          <a:xfrm>
            <a:off x="594360" y="1810512"/>
            <a:ext cx="10058400" cy="27432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250" b="0" dirty="0">
                <a:solidFill>
                  <a:srgbClr val="D0E4F7"/>
                </a:solidFill>
                <a:latin typeface="Calibri"/>
                <a:cs typeface="Nirmala UI"/>
              </a:rPr>
              <a:t>Only 1,248 mention spans were manually annotated. This limits the generalization capacity of the trained classifier.</a:t>
            </a:r>
          </a:p>
        </p:txBody>
      </p:sp>
      <p:sp>
        <p:nvSpPr>
          <p:cNvPr id="18" name="LBar1"/>
          <p:cNvSpPr>
            <a:spLocks noGrp="1"/>
          </p:cNvSpPr>
          <p:nvPr/>
        </p:nvSpPr>
        <p:spPr>
          <a:xfrm>
            <a:off x="320040" y="2212848"/>
            <a:ext cx="64008" cy="67665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LCard1"/>
          <p:cNvSpPr>
            <a:spLocks noGrp="1"/>
          </p:cNvSpPr>
          <p:nvPr/>
        </p:nvSpPr>
        <p:spPr>
          <a:xfrm>
            <a:off x="429768" y="2212848"/>
            <a:ext cx="10405872" cy="676656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LTitle1"/>
          <p:cNvSpPr txBox="1">
            <a:spLocks noGrp="1"/>
          </p:cNvSpPr>
          <p:nvPr/>
        </p:nvSpPr>
        <p:spPr>
          <a:xfrm>
            <a:off x="594360" y="2267712"/>
            <a:ext cx="3200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500" b="1" dirty="0">
                <a:solidFill>
                  <a:srgbClr val="E07B39"/>
                </a:solidFill>
                <a:latin typeface="Calibri"/>
                <a:cs typeface="Nirmala UI"/>
              </a:rPr>
              <a:t>No Automatic Mention Detection</a:t>
            </a:r>
          </a:p>
        </p:txBody>
      </p:sp>
      <p:sp>
        <p:nvSpPr>
          <p:cNvPr id="21" name="LDesc1"/>
          <p:cNvSpPr txBox="1">
            <a:spLocks noGrp="1"/>
          </p:cNvSpPr>
          <p:nvPr/>
        </p:nvSpPr>
        <p:spPr>
          <a:xfrm>
            <a:off x="594360" y="2578608"/>
            <a:ext cx="10058400" cy="27432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250" b="0" dirty="0">
                <a:solidFill>
                  <a:srgbClr val="D0E4F7"/>
                </a:solidFill>
                <a:latin typeface="Calibri"/>
                <a:cs typeface="Nirmala UI"/>
              </a:rPr>
              <a:t>Mention spans are currently provided manually. An automatic mention detection module is absent.</a:t>
            </a:r>
          </a:p>
        </p:txBody>
      </p:sp>
      <p:sp>
        <p:nvSpPr>
          <p:cNvPr id="22" name="LBar2"/>
          <p:cNvSpPr>
            <a:spLocks noGrp="1"/>
          </p:cNvSpPr>
          <p:nvPr/>
        </p:nvSpPr>
        <p:spPr>
          <a:xfrm>
            <a:off x="320040" y="2980944"/>
            <a:ext cx="64008" cy="67665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LCard2"/>
          <p:cNvSpPr>
            <a:spLocks noGrp="1"/>
          </p:cNvSpPr>
          <p:nvPr/>
        </p:nvSpPr>
        <p:spPr>
          <a:xfrm>
            <a:off x="429768" y="2980944"/>
            <a:ext cx="10405872" cy="676656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LTitle2"/>
          <p:cNvSpPr txBox="1">
            <a:spLocks noGrp="1"/>
          </p:cNvSpPr>
          <p:nvPr/>
        </p:nvSpPr>
        <p:spPr>
          <a:xfrm>
            <a:off x="594360" y="3035808"/>
            <a:ext cx="3200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500" b="1" dirty="0">
                <a:solidFill>
                  <a:srgbClr val="F5A623"/>
                </a:solidFill>
                <a:latin typeface="Calibri"/>
                <a:cs typeface="Nirmala UI"/>
              </a:rPr>
              <a:t>Limited Classifier Capacity</a:t>
            </a:r>
          </a:p>
        </p:txBody>
      </p:sp>
      <p:sp>
        <p:nvSpPr>
          <p:cNvPr id="25" name="LDesc2"/>
          <p:cNvSpPr txBox="1">
            <a:spLocks noGrp="1"/>
          </p:cNvSpPr>
          <p:nvPr/>
        </p:nvSpPr>
        <p:spPr>
          <a:xfrm>
            <a:off x="594360" y="3346704"/>
            <a:ext cx="10058400" cy="27432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250" b="0" dirty="0">
                <a:solidFill>
                  <a:srgbClr val="D0E4F7"/>
                </a:solidFill>
                <a:latin typeface="Calibri"/>
                <a:cs typeface="Nirmala UI"/>
              </a:rPr>
              <a:t>Logistic Regression is a linear model; it may not capture complex non-linear feature interactions.</a:t>
            </a:r>
          </a:p>
        </p:txBody>
      </p:sp>
      <p:sp>
        <p:nvSpPr>
          <p:cNvPr id="26" name="LBar3"/>
          <p:cNvSpPr>
            <a:spLocks noGrp="1"/>
          </p:cNvSpPr>
          <p:nvPr/>
        </p:nvSpPr>
        <p:spPr>
          <a:xfrm>
            <a:off x="320040" y="3749040"/>
            <a:ext cx="64008" cy="676656"/>
          </a:xfrm>
          <a:prstGeom prst="rect">
            <a:avLst/>
          </a:prstGeom>
          <a:solidFill>
            <a:srgbClr val="5C9BD6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LCard3"/>
          <p:cNvSpPr>
            <a:spLocks noGrp="1"/>
          </p:cNvSpPr>
          <p:nvPr/>
        </p:nvSpPr>
        <p:spPr>
          <a:xfrm>
            <a:off x="429768" y="3749040"/>
            <a:ext cx="10405872" cy="676656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LTitle3"/>
          <p:cNvSpPr txBox="1">
            <a:spLocks noGrp="1"/>
          </p:cNvSpPr>
          <p:nvPr/>
        </p:nvSpPr>
        <p:spPr>
          <a:xfrm>
            <a:off x="594360" y="3803904"/>
            <a:ext cx="3200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500" b="1" dirty="0">
                <a:solidFill>
                  <a:srgbClr val="5C9BD6"/>
                </a:solidFill>
                <a:latin typeface="Calibri"/>
                <a:cs typeface="Nirmala UI"/>
              </a:rPr>
              <a:t>Union-Find Error Propagation</a:t>
            </a:r>
          </a:p>
        </p:txBody>
      </p:sp>
      <p:sp>
        <p:nvSpPr>
          <p:cNvPr id="29" name="LDesc3"/>
          <p:cNvSpPr txBox="1">
            <a:spLocks noGrp="1"/>
          </p:cNvSpPr>
          <p:nvPr/>
        </p:nvSpPr>
        <p:spPr>
          <a:xfrm>
            <a:off x="594360" y="4114800"/>
            <a:ext cx="10058400" cy="27432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250" b="0" dirty="0">
                <a:solidFill>
                  <a:srgbClr val="D0E4F7"/>
                </a:solidFill>
                <a:latin typeface="Calibri"/>
                <a:cs typeface="Nirmala UI"/>
              </a:rPr>
              <a:t>Incorrect pairwise predictions transitively propagate, potentially merging entire chains incorrectly.</a:t>
            </a:r>
          </a:p>
        </p:txBody>
      </p:sp>
      <p:sp>
        <p:nvSpPr>
          <p:cNvPr id="30" name="LBar4"/>
          <p:cNvSpPr>
            <a:spLocks noGrp="1"/>
          </p:cNvSpPr>
          <p:nvPr/>
        </p:nvSpPr>
        <p:spPr>
          <a:xfrm>
            <a:off x="320040" y="4517136"/>
            <a:ext cx="64008" cy="676656"/>
          </a:xfrm>
          <a:prstGeom prst="rect">
            <a:avLst/>
          </a:prstGeom>
          <a:solidFill>
            <a:srgbClr val="8AAE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LCard4"/>
          <p:cNvSpPr>
            <a:spLocks noGrp="1"/>
          </p:cNvSpPr>
          <p:nvPr/>
        </p:nvSpPr>
        <p:spPr>
          <a:xfrm>
            <a:off x="429768" y="4517136"/>
            <a:ext cx="10405872" cy="676656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LTitle4"/>
          <p:cNvSpPr txBox="1">
            <a:spLocks noGrp="1"/>
          </p:cNvSpPr>
          <p:nvPr/>
        </p:nvSpPr>
        <p:spPr>
          <a:xfrm>
            <a:off x="594360" y="4572000"/>
            <a:ext cx="3200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500" b="1" dirty="0">
                <a:solidFill>
                  <a:srgbClr val="8AAEC8"/>
                </a:solidFill>
                <a:latin typeface="Calibri"/>
                <a:cs typeface="Nirmala UI"/>
              </a:rPr>
              <a:t>No CoNLL Evaluation</a:t>
            </a:r>
          </a:p>
        </p:txBody>
      </p:sp>
      <p:sp>
        <p:nvSpPr>
          <p:cNvPr id="33" name="LDesc4"/>
          <p:cNvSpPr txBox="1">
            <a:spLocks noGrp="1"/>
          </p:cNvSpPr>
          <p:nvPr/>
        </p:nvSpPr>
        <p:spPr>
          <a:xfrm>
            <a:off x="594360" y="4882896"/>
            <a:ext cx="10058400" cy="27432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250" b="0" dirty="0">
                <a:solidFill>
                  <a:srgbClr val="D0E4F7"/>
                </a:solidFill>
                <a:latin typeface="Calibri"/>
                <a:cs typeface="Nirmala UI"/>
              </a:rPr>
              <a:t>Standard MUC, B³, and CEAF metrics from the CoNLL-2012 shared task were not implemented for Phase 2.</a:t>
            </a:r>
          </a:p>
        </p:txBody>
      </p:sp>
      <p:sp>
        <p:nvSpPr>
          <p:cNvPr id="34" name="LBar5"/>
          <p:cNvSpPr>
            <a:spLocks noGrp="1"/>
          </p:cNvSpPr>
          <p:nvPr/>
        </p:nvSpPr>
        <p:spPr>
          <a:xfrm>
            <a:off x="320040" y="5285232"/>
            <a:ext cx="64008" cy="676656"/>
          </a:xfrm>
          <a:prstGeom prst="rect">
            <a:avLst/>
          </a:prstGeom>
          <a:solidFill>
            <a:srgbClr val="A06BBE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LCard5"/>
          <p:cNvSpPr>
            <a:spLocks noGrp="1"/>
          </p:cNvSpPr>
          <p:nvPr/>
        </p:nvSpPr>
        <p:spPr>
          <a:xfrm>
            <a:off x="429768" y="5285232"/>
            <a:ext cx="10405872" cy="676656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LTitle5"/>
          <p:cNvSpPr txBox="1">
            <a:spLocks noGrp="1"/>
          </p:cNvSpPr>
          <p:nvPr/>
        </p:nvSpPr>
        <p:spPr>
          <a:xfrm>
            <a:off x="594360" y="5340096"/>
            <a:ext cx="3200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500" b="1" dirty="0">
                <a:solidFill>
                  <a:srgbClr val="A06BBE"/>
                </a:solidFill>
                <a:latin typeface="Calibri"/>
                <a:cs typeface="Nirmala UI"/>
              </a:rPr>
              <a:t>Domain Coverage</a:t>
            </a:r>
          </a:p>
        </p:txBody>
      </p:sp>
      <p:sp>
        <p:nvSpPr>
          <p:cNvPr id="37" name="LDesc5"/>
          <p:cNvSpPr txBox="1">
            <a:spLocks noGrp="1"/>
          </p:cNvSpPr>
          <p:nvPr/>
        </p:nvSpPr>
        <p:spPr>
          <a:xfrm>
            <a:off x="594360" y="5650992"/>
            <a:ext cx="10058400" cy="27432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250" b="0" dirty="0">
                <a:solidFill>
                  <a:srgbClr val="D0E4F7"/>
                </a:solidFill>
                <a:latin typeface="Calibri"/>
                <a:cs typeface="Nirmala UI"/>
              </a:rPr>
              <a:t>Training data is Wikipedia-skewed; performance on conversational or domain-specific Hindi is unknown.</a:t>
            </a:r>
          </a:p>
        </p:txBody>
      </p:sp>
      <p:sp>
        <p:nvSpPr>
          <p:cNvPr id="38" name="FooterBar"/>
          <p:cNvSpPr>
            <a:spLocks noGrp="1"/>
          </p:cNvSpPr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FooterLine"/>
          <p:cNvSpPr>
            <a:spLocks noGrp="1"/>
          </p:cNvSpPr>
          <p:nvPr/>
        </p:nvSpPr>
        <p:spPr>
          <a:xfrm>
            <a:off x="0" y="6446520"/>
            <a:ext cx="1219200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FooterLeft"/>
          <p:cNvSpPr txBox="1">
            <a:spLocks noGrp="1"/>
          </p:cNvSpPr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Hindi Coreference Resolution | CIT Kokrajhar</a:t>
            </a:r>
          </a:p>
        </p:txBody>
      </p:sp>
      <p:sp>
        <p:nvSpPr>
          <p:cNvPr id="41" name="FooterRight"/>
          <p:cNvSpPr txBox="1">
            <a:spLocks noGrp="1"/>
          </p:cNvSpPr>
          <p:nvPr/>
        </p:nvSpPr>
        <p:spPr>
          <a:xfrm>
            <a:off x="8229600" y="6492240"/>
            <a:ext cx="27432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r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B.Tech Project Presentation  |  2026</a:t>
            </a:r>
          </a:p>
        </p:txBody>
      </p:sp>
    </p:spTree>
  </p:cSld>
  <p:clrMapOvr>
    <a:masterClrMapping/>
  </p:clrMapOvr>
</p:sld>
</file>

<file path=ppt/slides/slide15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bg>
      <p:bgPr>
        <a:solidFill><a:srgbClr val="1A2E4A"/></a:solidFill>
        <a:effectLst/>
      </p:bgPr>
    </p:bg>
    <p:spTree>
      <p:nvGrpSpPr>
        <p:cNvPr id="1" name=""/>
        <p:cNvGrpSpPr/>
        <p:nvPr/>
      </p:nvGrpSpPr>
      <p:grpSpPr>
        <a:xfrm><a:off x="0" y="0"/><a:ext cx="12192000" cy="6858000"/><a:chOff x="0" y="0"/><a:chExt cx="12192000" cy="6858000"/></a:xfrm>
      </p:grpSpPr>
      
<p:sp>
  <p:nvSpPr>
    <p:cNvPr id="10" name="TopBar"/>
    <p:cNvSpPr><a:spLocks noGrp="1"/></p:cNvSpPr>
    <p:nvPr/>
  </p:nvSpPr>
  <p:spPr>
    <a:xfrm><a:off x="0" y="0"/><a:ext cx="12192000" cy="1143000"/></a:xfrm>
    <a:prstGeom prst="rect"><a:avLst/></a:prstGeom>
    <a:solidFill><a:srgbClr val="112238"/></a:solidFill>
    <a:ln><a:noFill/></a:ln>
  </p:spPr>
  <p:txBody><a:bodyPr/><a:lstStyle/><a:p/></p:txBody>
</p:sp>

<p:sp>
  <p:nvSpPr>
    <p:cNvPr id="11" name="AccentLine"/>
    <p:cNvSpPr><a:spLocks noGrp="1"/></p:cNvSpPr>
    <p:nvPr/>
  </p:nvSpPr>
  <p:spPr>
    <a:xfrm><a:off x="0" y="1143000"/><a:ext cx="12192000" cy="54864"/></a:xfrm>
    <a:prstGeom prst="rect"><a:avLst/></a:prstGeom>
    <a:solidFill><a:srgbClr val="00C9B1"/></a:solidFill>
    <a:ln><a:noFill/></a:ln>
  </p:spPr>
  <p:txBody><a:bodyPr/><a:lstStyle/><a:p/></p:txBody>
</p:sp>

<p:sp>
  <p:nvSpPr>
    <p:cNvPr id="12" name="SlideTitle"/>
    <p:cNvSpPr txBox="1"><a:spLocks noGrp="1"/></p:cNvSpPr>
    <p:nvPr/>
  </p:nvSpPr>
  <p:spPr>
    <a:xfrm><a:off x="365760" y="109728"/><a:ext cx="10515600" cy="82296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3000" b="1" dirty="0">
          <a:solidFill><a:srgbClr val="FFFFFF"/></a:solidFill>
          <a:latin typeface="Calibri"/>
          <a:cs typeface="Nirmala UI"/>
        </a:rPr>
        <a:t>Future Work</a:t>
      </a:r>
    </a:p>
  </p:txBody>
</p:sp>

<p:sp>
  <p:nvSpPr>
    <p:cNvPr id="13" name="SlideSubtitle"/>
    <p:cNvSpPr txBox="1"><a:spLocks noGrp="1"/></p:cNvSpPr>
    <p:nvPr/>
  </p:nvSpPr>
  <p:spPr>
    <a:xfrm><a:off x="365760" y="777240"/><a:ext cx="9144000" cy="36576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00C9B1"/></a:solidFill>
          <a:latin typeface="Calibri"/>
          <a:cs typeface="Nirmala UI"/>
        </a:rPr>
        <a:t>Research directions and planned enhancements</a:t>
      </a:r>
    </a:p>
  </p:txBody>
</p:sp>

<p:sp>
  <p:nvSpPr>
    <p:cNvPr id="14" name="FBar0"/>
    <p:cNvSpPr><a:spLocks noGrp="1"/></p:cNvSpPr>
    <p:nvPr/>
  </p:nvSpPr>
  <p:spPr>
    <a:xfrm><a:off x="320040" y="1444752"/><a:ext cx="64008" cy="676656"/></a:xfrm>
    <a:prstGeom prst="rect"><a:avLst/></a:prstGeom>
    <a:solidFill><a:srgbClr val="00C9B1"/></a:solidFill>
    <a:ln><a:noFill/></a:ln>
  </p:spPr>
  <p:txBody><a:bodyPr/><a:lstStyle/><a:p/></p:txBody>
</p:sp>

<p:sp>
  <p:nvSpPr>
    <p:cNvPr id="15" name="FCard0"/>
    <p:cNvSpPr><a:spLocks noGrp="1"/></p:cNvSpPr>
    <p:nvPr/>
  </p:nvSpPr>
  <p:spPr>
    <a:xfrm><a:off x="429768" y="1444752"/><a:ext cx="10405872" cy="676656"/></a:xfrm>
    <a:prstGeom prst="roundRect"><a:avLst><a:gd name="adj" fmla="val 16667"/></a:avLst></a:prstGeom>
    <a:solidFill><a:srgbClr val="0D1B2E"/></a:solidFill>
    <a:ln><a:noFill/></a:ln>
  </p:spPr>
  <p:txBody><a:bodyPr/><a:lstStyle/><a:p/></p:txBody>
</p:sp>

<p:sp>
  <p:nvSpPr>
    <p:cNvPr id="16" name="FNum0"/>
    <p:cNvSpPr><a:spLocks noGrp="1"/></p:cNvSpPr>
    <p:nvPr/>
  </p:nvSpPr>
  <p:spPr>
    <a:xfrm><a:off x="548640" y="1600200"/><a:ext cx="384048" cy="384048"/></a:xfrm>
    <a:prstGeom prst="roundRect"><a:avLst><a:gd name="adj" fmla="val 50000"/></a:avLst></a:prstGeom>
    <a:solidFill><a:srgbClr val="00C9B1"/></a:solidFill>
    <a:ln><a:noFill/></a:ln>
  </p:spPr>
  <p:txBody><a:bodyPr/><a:lstStyle/><a:p/></p:txBody>
</p:sp>

<p:sp>
  <p:nvSpPr>
    <p:cNvPr id="17" name="FNT0"/>
    <p:cNvSpPr txBox="1"><a:spLocks noGrp="1"/></p:cNvSpPr>
    <p:nvPr/>
  </p:nvSpPr>
  <p:spPr>
    <a:xfrm><a:off x="548640" y="1600200"/><a:ext cx="384048" cy="384048"/></a:xfrm>
    <a:prstGeom prst="rect"><a:avLst/></a:prstGeom>
    <a:noFill/>
  </p:spPr>
  <p:txBody>
    <a:bodyPr wrap="square" anchor="ctr" autofit=""><a:normAutofit/></a:bodyPr>
    <a:lstStyle/>
    
    <a:p>
      <a:pPr algn="ctr"></a:pPr>
      <a:r>
        <a:rPr lang="en-IN" sz="1300" b="1" dirty="0">
          <a:solidFill><a:srgbClr val="1A2E4A"/></a:solidFill>
          <a:latin typeface="Calibri"/>
          <a:cs typeface="Nirmala UI"/>
        </a:rPr>
        <a:t>01</a:t>
      </a:r>
    </a:p>
  </p:txBody>
</p:sp>

<p:sp>
  <p:nvSpPr>
    <p:cNvPr id="18" name="FTitle0"/>
    <p:cNvSpPr txBox="1"><a:spLocks noGrp="1"/></p:cNvSpPr>
    <p:nvPr/>
  </p:nvSpPr>
  <p:spPr>
    <a:xfrm><a:off x="1051560" y="1499616"/><a:ext cx="2926080" cy="32004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500" b="1" dirty="0">
          <a:solidFill><a:srgbClr val="00C9B1"/></a:solidFill>
          <a:latin typeface="Calibri"/>
          <a:cs typeface="Nirmala UI"/>
        </a:rPr>
        <a:t>Automatic Mention Detection</a:t>
      </a:r>
    </a:p>
  </p:txBody>
</p:sp>

<p:sp>
  <p:nvSpPr>
    <p:cNvPr id="19" name="FDesc0"/>
    <p:cNvSpPr txBox="1"><a:spLocks noGrp="1"/></p:cNvSpPr>
    <p:nvPr/>
  </p:nvSpPr>
  <p:spPr>
    <a:xfrm><a:off x="1051560" y="1810512"/><a:ext cx="9692640" cy="27432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250" b="0" dirty="0">
          <a:solidFill><a:srgbClr val="D0E4F7"/></a:solidFill>
          <a:latin typeface="Calibri"/>
          <a:cs typeface="Nirmala UI"/>
        </a:rPr>
        <a:t>Train a sequence-labeling (NER/span) model for automatic mention span extraction, removing the manual bottleneck.</a:t>
      </a:r>
    </a:p>
  </p:txBody>
</p:sp>

<p:sp>
  <p:nvSpPr>
    <p:cNvPr id="20" name="FBar1"/>
    <p:cNvSpPr><a:spLocks noGrp="1"/></p:cNvSpPr>
    <p:nvPr/>
  </p:nvSpPr>
  <p:spPr>
    <a:xfrm><a:off x="320040" y="2212848"/><a:ext cx="64008" cy="676656"/></a:xfrm>
    <a:prstGeom prst="rect"><a:avLst/></a:prstGeom>
    <a:solidFill><a:srgbClr val="F5A623"/></a:solidFill>
    <a:ln><a:noFill/></a:ln>
  </p:spPr>
  <p:txBody><a:bodyPr/><a:lstStyle/><a:p/></p:txBody>
</p:sp>

<p:sp>
  <p:nvSpPr>
    <p:cNvPr id="21" name="FCard1"/>
    <p:cNvSpPr><a:spLocks noGrp="1"/></p:cNvSpPr>
    <p:nvPr/>
  </p:nvSpPr>
  <p:spPr>
    <a:xfrm><a:off x="429768" y="2212848"/><a:ext cx="10405872" cy="676656"/></a:xfrm>
    <a:prstGeom prst="roundRect"><a:avLst><a:gd name="adj" fmla="val 16667"/></a:avLst></a:prstGeom>
    <a:solidFill><a:srgbClr val="0D1B2E"/></a:solidFill>
    <a:ln><a:noFill/></a:ln>
  </p:spPr>
  <p:txBody><a:bodyPr/><a:lstStyle/><a:p/></p:txBody>
</p:sp>

<p:sp>
  <p:nvSpPr>
    <p:cNvPr id="22" name="FNum1"/>
    <p:cNvSpPr><a:spLocks noGrp="1"/></p:cNvSpPr>
    <p:nvPr/>
  </p:nvSpPr>
  <p:spPr>
    <a:xfrm><a:off x="548640" y="2368296"/><a:ext cx="384048" cy="384048"/></a:xfrm>
    <a:prstGeom prst="roundRect"><a:avLst><a:gd name="adj" fmla="val 50000"/></a:avLst></a:prstGeom>
    <a:solidFill><a:srgbClr val="F5A623"/></a:solidFill>
    <a:ln><a:noFill/></a:ln>
  </p:spPr>
  <p:txBody><a:bodyPr/><a:lstStyle/><a:p/></p:txBody>
</p:sp>

<p:sp>
  <p:nvSpPr>
    <p:cNvPr id="23" name="FNT1"/>
    <p:cNvSpPr txBox="1"><a:spLocks noGrp="1"/></p:cNvSpPr>
    <p:nvPr/>
  </p:nvSpPr>
  <p:spPr>
    <a:xfrm><a:off x="548640" y="2368296"/><a:ext cx="384048" cy="384048"/></a:xfrm>
    <a:prstGeom prst="rect"><a:avLst/></a:prstGeom>
    <a:noFill/>
  </p:spPr>
  <p:txBody>
    <a:bodyPr wrap="square" anchor="ctr" autofit=""><a:normAutofit/></a:bodyPr>
    <a:lstStyle/>
    
    <a:p>
      <a:pPr algn="ctr"></a:pPr>
      <a:r>
        <a:rPr lang="en-IN" sz="1300" b="1" dirty="0">
          <a:solidFill><a:srgbClr val="1A2E4A"/></a:solidFill>
          <a:latin typeface="Calibri"/>
          <a:cs typeface="Nirmala UI"/>
        </a:rPr>
        <a:t>02</a:t>
      </a:r>
    </a:p>
  </p:txBody>
</p:sp>

<p:sp>
  <p:nvSpPr>
    <p:cNvPr id="24" name="FTitle1"/>
    <p:cNvSpPr txBox="1"><a:spLocks noGrp="1"/></p:cNvSpPr>
    <p:nvPr/>
  </p:nvSpPr>
  <p:spPr>
    <a:xfrm><a:off x="1051560" y="2267712"/><a:ext cx="2926080" cy="32004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500" b="1" dirty="0">
          <a:solidFill><a:srgbClr val="F5A623"/></a:solidFill>
          <a:latin typeface="Calibri"/>
          <a:cs typeface="Nirmala UI"/>
        </a:rPr>
        <a:t>Neural Pairwise Scorer</a:t>
      </a:r>
    </a:p>
  </p:txBody>
</p:sp>

<p:sp>
  <p:nvSpPr>
    <p:cNvPr id="25" name="FDesc1"/>
    <p:cNvSpPr txBox="1"><a:spLocks noGrp="1"/></p:cNvSpPr>
    <p:nvPr/>
  </p:nvSpPr>
  <p:spPr>
    <a:xfrm><a:off x="1051560" y="2578608"/><a:ext cx="9692640" cy="27432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250" b="0" dirty="0">
          <a:solidFill><a:srgbClr val="D0E4F7"/></a:solidFill>
          <a:latin typeface="Calibri"/>
          <a:cs typeface="Nirmala UI"/>
        </a:rPr>
        <a:t>Replace Logistic Regression with a neural scorer (MLP / cross-attention) to capture non-linear feature interactions.</a:t>
      </a:r>
    </a:p>
  </p:txBody>
</p:sp>

<p:sp>
  <p:nvSpPr>
    <p:cNvPr id="26" name="FBar2"/>
    <p:cNvSpPr><a:spLocks noGrp="1"/></p:cNvSpPr>
    <p:nvPr/>
  </p:nvSpPr>
  <p:spPr>
    <a:xfrm><a:off x="320040" y="2980944"/><a:ext cx="64008" cy="676656"/></a:xfrm>
    <a:prstGeom prst="rect"><a:avLst/></a:prstGeom>
    <a:solidFill><a:srgbClr val="5C9BD6"/></a:solidFill>
    <a:ln><a:noFill/></a:ln>
  </p:spPr>
  <p:txBody><a:bodyPr/><a:lstStyle/><a:p/></p:txBody>
</p:sp>

<p:sp>
  <p:nvSpPr>
    <p:cNvPr id="27" name="FCard2"/>
    <p:cNvSpPr><a:spLocks noGrp="1"/></p:cNvSpPr>
    <p:nvPr/>
  </p:nvSpPr>
  <p:spPr>
    <a:xfrm><a:off x="429768" y="2980944"/><a:ext cx="10405872" cy="676656"/></a:xfrm>
    <a:prstGeom prst="roundRect"><a:avLst><a:gd name="adj" fmla="val 16667"/></a:avLst></a:prstGeom>
    <a:solidFill><a:srgbClr val="0D1B2E"/></a:solidFill>
    <a:ln><a:noFill/></a:ln>
  </p:spPr>
  <p:txBody><a:bodyPr/><a:lstStyle/><a:p/></p:txBody>
</p:sp>

<p:sp>
  <p:nvSpPr>
    <p:cNvPr id="28" name="FNum2"/>
    <p:cNvSpPr><a:spLocks noGrp="1"/></p:cNvSpPr>
    <p:nvPr/>
  </p:nvSpPr>
  <p:spPr>
    <a:xfrm><a:off x="548640" y="3136392"/><a:ext cx="384048" cy="384048"/></a:xfrm>
    <a:prstGeom prst="roundRect"><a:avLst><a:gd name="adj" fmla="val 50000"/></a:avLst></a:prstGeom>
    <a:solidFill><a:srgbClr val="5C9BD6"/></a:solidFill>
    <a:ln><a:noFill/></a:ln>
  </p:spPr>
  <p:txBody><a:bodyPr/><a:lstStyle/><a:p/></p:txBody>
</p:sp>

<p:sp>
  <p:nvSpPr>
    <p:cNvPr id="29" name="FNT2"/>
    <p:cNvSpPr txBox="1"><a:spLocks noGrp="1"/></p:cNvSpPr>
    <p:nvPr/>
  </p:nvSpPr>
  <p:spPr>
    <a:xfrm><a:off x="548640" y="3136392"/><a:ext cx="384048" cy="384048"/></a:xfrm>
    <a:prstGeom prst="rect"><a:avLst/></a:prstGeom>
    <a:noFill/>
  </p:spPr>
  <p:txBody>
    <a:bodyPr wrap="square" anchor="ctr" autofit=""><a:normAutofit/></a:bodyPr>
    <a:lstStyle/>
    
    <a:p>
      <a:pPr algn="ctr"></a:pPr>
      <a:r>
        <a:rPr lang="en-IN" sz="1300" b="1" dirty="0">
          <a:solidFill><a:srgbClr val="1A2E4A"/></a:solidFill>
          <a:latin typeface="Calibri"/>
          <a:cs typeface="Nirmala UI"/>
        </a:rPr>
        <a:t>03</a:t>
      </a:r>
    </a:p>
  </p:txBody>
</p:sp>

<p:sp>
  <p:nvSpPr>
    <p:cNvPr id="30" name="FTitle2"/>
    <p:cNvSpPr txBox="1"><a:spLocks noGrp="1"/></p:cNvSpPr>
    <p:nvPr/>
  </p:nvSpPr>
  <p:spPr>
    <a:xfrm><a:off x="1051560" y="3035808"/><a:ext cx="2926080" cy="32004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500" b="1" dirty="0">
          <a:solidFill><a:srgbClr val="5C9BD6"/></a:solidFill>
          <a:latin typeface="Calibri"/>
          <a:cs typeface="Nirmala UI"/>
        </a:rPr>
        <a:t>Transformer Fine-Tuning</a:t>
      </a:r>
    </a:p>
  </p:txBody>
</p:sp>

<p:sp>
  <p:nvSpPr>
    <p:cNvPr id="31" name="FDesc2"/>
    <p:cNvSpPr txBox="1"><a:spLocks noGrp="1"/></p:cNvSpPr>
    <p:nvPr/>
  </p:nvSpPr>
  <p:spPr>
    <a:xfrm><a:off x="1051560" y="3346704"/><a:ext cx="9692640" cy="27432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250" b="0" dirty="0">
          <a:solidFill><a:srgbClr val="D0E4F7"/></a:solidFill>
          <a:latin typeface="Calibri"/>
          <a:cs typeface="Nirmala UI"/>
        </a:rPr>
        <a:t>Fine-tune IndicBERTv2 end-to-end on the coreference task (span-BERT style) for richer mention representations.</a:t>
      </a:r>
    </a:p>
  </p:txBody>
</p:sp>

<p:sp>
  <p:nvSpPr>
    <p:cNvPr id="32" name="FBar3"/>
    <p:cNvSpPr><a:spLocks noGrp="1"/></p:cNvSpPr>
    <p:nvPr/>
  </p:nvSpPr>
  <p:spPr>
    <a:xfrm><a:off x="320040" y="3749040"/><a:ext cx="64008" cy="676656"/></a:xfrm>
    <a:prstGeom prst="rect"><a:avLst/></a:prstGeom>
    <a:solidFill><a:srgbClr val="A06BBE"/></a:solidFill>
    <a:ln><a:noFill/></a:ln>
  </p:spPr>
  <p:txBody><a:bodyPr/><a:lstStyle/><a:p/></p:txBody>
</p:sp>

<p:sp>
  <p:nvSpPr>
    <p:cNvPr id="33" name="FCard3"/>
    <p:cNvSpPr><a:spLocks noGrp="1"/></p:cNvSpPr>
    <p:nvPr/>
  </p:nvSpPr>
  <p:spPr>
    <a:xfrm><a:off x="429768" y="3749040"/><a:ext cx="10405872" cy="676656"/></a:xfrm>
    <a:prstGeom prst="roundRect"><a:avLst><a:gd name="adj" fmla="val 16667"/></a:avLst></a:prstGeom>
    <a:solidFill><a:srgbClr val="0D1B2E"/></a:solidFill>
    <a:ln><a:noFill/></a:ln>
  </p:spPr>
  <p:txBody><a:bodyPr/><a:lstStyle/><a:p/></p:txBody>
</p:sp>

<p:sp>
  <p:nvSpPr>
    <p:cNvPr id="34" name="FNum3"/>
    <p:cNvSpPr><a:spLocks noGrp="1"/></p:cNvSpPr>
    <p:nvPr/>
  </p:nvSpPr>
  <p:spPr>
    <a:xfrm><a:off x="548640" y="3904488"/><a:ext cx="384048" cy="384048"/></a:xfrm>
    <a:prstGeom prst="roundRect"><a:avLst><a:gd name="adj" fmla="val 50000"/></a:avLst></a:prstGeom>
    <a:solidFill><a:srgbClr val="A06BBE"/></a:solidFill>
    <a:ln><a:noFill/></a:ln>
  </p:spPr>
  <p:txBody><a:bodyPr/><a:lstStyle/><a:p/></p:txBody>
</p:sp>

<p:sp>
  <p:nvSpPr>
    <p:cNvPr id="35" name="FNT3"/>
    <p:cNvSpPr txBox="1"><a:spLocks noGrp="1"/></p:cNvSpPr>
    <p:nvPr/>
  </p:nvSpPr>
  <p:spPr>
    <a:xfrm><a:off x="548640" y="3904488"/><a:ext cx="384048" cy="384048"/></a:xfrm>
    <a:prstGeom prst="rect"><a:avLst/></a:prstGeom>
    <a:noFill/>
  </p:spPr>
  <p:txBody>
    <a:bodyPr wrap="square" anchor="ctr" autofit=""><a:normAutofit/></a:bodyPr>
    <a:lstStyle/>
    
    <a:p>
      <a:pPr algn="ctr"></a:pPr>
      <a:r>
        <a:rPr lang="en-IN" sz="1300" b="1" dirty="0">
          <a:solidFill><a:srgbClr val="1A2E4A"/></a:solidFill>
          <a:latin typeface="Calibri"/>
          <a:cs typeface="Nirmala UI"/>
        </a:rPr>
        <a:t>04</a:t>
      </a:r>
    </a:p>
  </p:txBody>
</p:sp>

<p:sp>
  <p:nvSpPr>
    <p:cNvPr id="36" name="FTitle3"/>
    <p:cNvSpPr txBox="1"><a:spLocks noGrp="1"/></p:cNvSpPr>
    <p:nvPr/>
  </p:nvSpPr>
  <p:spPr>
    <a:xfrm><a:off x="1051560" y="3803904"/><a:ext cx="2926080" cy="32004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500" b="1" dirty="0">
          <a:solidFill><a:srgbClr val="A06BBE"/></a:solidFill>
          <a:latin typeface="Calibri"/>
          <a:cs typeface="Nirmala UI"/>
        </a:rPr>
        <a:t>Larger & More Diverse Dataset</a:t>
      </a:r>
    </a:p>
  </p:txBody>
</p:sp>

<p:sp>
  <p:nvSpPr>
    <p:cNvPr id="37" name="FDesc3"/>
    <p:cNvSpPr txBox="1"><a:spLocks noGrp="1"/></p:cNvSpPr>
    <p:nvPr/>
  </p:nvSpPr>
  <p:spPr>
    <a:xfrm><a:off x="1051560" y="4114800"/><a:ext cx="9692640" cy="27432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250" b="0" dirty="0">
          <a:solidFill><a:srgbClr val="D0E4F7"/></a:solidFill>
          <a:latin typeface="Calibri"/>
          <a:cs typeface="Nirmala UI"/>
        </a:rPr>
        <a:t>Expand the annotated corpus to 10K+ spans, covering news, literature, and conversational Hindi domains.</a:t>
      </a:r>
    </a:p>
  </p:txBody>
</p:sp>

<p:sp>
  <p:nvSpPr>
    <p:cNvPr id="38" name="FBar4"/>
    <p:cNvSpPr><a:spLocks noGrp="1"/></p:cNvSpPr>
    <p:nvPr/>
  </p:nvSpPr>
  <p:spPr>
    <a:xfrm><a:off x="320040" y="4517136"/><a:ext cx="64008" cy="676656"/></a:xfrm>
    <a:prstGeom prst="rect"><a:avLst/></a:prstGeom>
    <a:solidFill><a:srgbClr val="6BBE8C"/></a:solidFill>
    <a:ln><a:noFill/></a:ln>
  </p:spPr>
  <p:txBody><a:bodyPr/><a:lstStyle/><a:p/></p:txBody>
</p:sp>

<p:sp>
  <p:nvSpPr>
    <p:cNvPr id="39" name="FCard4"/>
    <p:cNvSpPr><a:spLocks noGrp="1"/></p:cNvSpPr>
    <p:nvPr/>
  </p:nvSpPr>
  <p:spPr>
    <a:xfrm><a:off x="429768" y="4517136"/><a:ext cx="10405872" cy="676656"/></a:xfrm>
    <a:prstGeom prst="roundRect"><a:avLst><a:gd name="adj" fmla="val 16667"/></a:avLst></a:prstGeom>
    <a:solidFill><a:srgbClr val="0D1B2E"/></a:solidFill>
    <a:ln><a:noFill/></a:ln>
  </p:spPr>
  <p:txBody><a:bodyPr/><a:lstStyle/><a:p/></p:txBody>
</p:sp>

<p:sp>
  <p:nvSpPr>
    <p:cNvPr id="40" name="FNum4"/>
    <p:cNvSpPr><a:spLocks noGrp="1"/></p:cNvSpPr>
    <p:nvPr/>
  </p:nvSpPr>
  <p:spPr>
    <a:xfrm><a:off x="548640" y="4672584"/><a:ext cx="384048" cy="384048"/></a:xfrm>
    <a:prstGeom prst="roundRect"><a:avLst><a:gd name="adj" fmla="val 50000"/></a:avLst></a:prstGeom>
    <a:solidFill><a:srgbClr val="6BBE8C"/></a:solidFill>
    <a:ln><a:noFill/></a:ln>
  </p:spPr>
  <p:txBody><a:bodyPr/><a:lstStyle/><a:p/></p:txBody>
</p:sp>

<p:sp>
  <p:nvSpPr>
    <p:cNvPr id="41" name="FNT4"/>
    <p:cNvSpPr txBox="1"><a:spLocks noGrp="1"/></p:cNvSpPr>
    <p:nvPr/>
  </p:nvSpPr>
  <p:spPr>
    <a:xfrm><a:off x="548640" y="4672584"/><a:ext cx="384048" cy="384048"/></a:xfrm>
    <a:prstGeom prst="rect"><a:avLst/></a:prstGeom>
    <a:noFill/>
  </p:spPr>
  <p:txBody>
    <a:bodyPr wrap="square" anchor="ctr" autofit=""><a:normAutofit/></a:bodyPr>
    <a:lstStyle/>
    
    <a:p>
      <a:pPr algn="ctr"></a:pPr>
      <a:r>
        <a:rPr lang="en-IN" sz="1300" b="1" dirty="0">
          <a:solidFill><a:srgbClr val="1A2E4A"/></a:solidFill>
          <a:latin typeface="Calibri"/>
          <a:cs typeface="Nirmala UI"/>
        </a:rPr>
        <a:t>05</a:t>
      </a:r>
    </a:p>
  </p:txBody>
</p:sp>

<p:sp>
  <p:nvSpPr>
    <p:cNvPr id="42" name="FTitle4"/>
    <p:cNvSpPr txBox="1"><a:spLocks noGrp="1"/></p:cNvSpPr>
    <p:nvPr/>
  </p:nvSpPr>
  <p:spPr>
    <a:xfrm><a:off x="1051560" y="4572000"/><a:ext cx="2926080" cy="32004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500" b="1" dirty="0">
          <a:solidFill><a:srgbClr val="6BBE8C"/></a:solidFill>
          <a:latin typeface="Calibri"/>
          <a:cs typeface="Nirmala UI"/>
        </a:rPr>
        <a:t>Morphological Analyzer Integration</a:t>
      </a:r>
    </a:p>
  </p:txBody>
</p:sp>

<p:sp>
  <p:nvSpPr>
    <p:cNvPr id="43" name="FDesc4"/>
    <p:cNvSpPr txBox="1"><a:spLocks noGrp="1"/></p:cNvSpPr>
    <p:nvPr/>
  </p:nvSpPr>
  <p:spPr>
    <a:xfrm><a:off x="1051560" y="4882896"/><a:ext cx="9692640" cy="27432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250" b="0" dirty="0">
          <a:solidFill><a:srgbClr val="D0E4F7"/></a:solidFill>
          <a:latin typeface="Calibri"/>
          <a:cs typeface="Nirmala UI"/>
        </a:rPr>
        <a:t>Use a Hindi morphological analyzer to extract gender, number, and case features for improved agreement matching.</a:t>
      </a:r>
    </a:p>
  </p:txBody>
</p:sp>

<p:sp>
  <p:nvSpPr>
    <p:cNvPr id="44" name="FBar5"/>
    <p:cNvSpPr><a:spLocks noGrp="1"/></p:cNvSpPr>
    <p:nvPr/>
  </p:nvSpPr>
  <p:spPr>
    <a:xfrm><a:off x="320040" y="5285232"/><a:ext cx="64008" cy="676656"/></a:xfrm>
    <a:prstGeom prst="rect"><a:avLst/></a:prstGeom>
    <a:solidFill><a:srgbClr val="E07B39"/></a:solidFill>
    <a:ln><a:noFill/></a:ln>
  </p:spPr>
  <p:txBody><a:bodyPr/><a:lstStyle/><a:p/></p:txBody>
</p:sp>

<p:sp>
  <p:nvSpPr>
    <p:cNvPr id="45" name="FCard5"/>
    <p:cNvSpPr><a:spLocks noGrp="1"/></p:cNvSpPr>
    <p:nvPr/>
  </p:nvSpPr>
  <p:spPr>
    <a:xfrm><a:off x="429768" y="5285232"/><a:ext cx="10405872" cy="676656"/></a:xfrm>
    <a:prstGeom prst="roundRect"><a:avLst><a:gd name="adj" fmla="val 16667"/></a:avLst></a:prstGeom>
    <a:solidFill><a:srgbClr val="0D1B2E"/></a:solidFill>
    <a:ln><a:noFill/></a:ln>
  </p:spPr>
  <p:txBody><a:bodyPr/><a:lstStyle/><a:p/></p:txBody>
</p:sp>

<p:sp>
  <p:nvSpPr>
    <p:cNvPr id="46" name="FNum5"/>
    <p:cNvSpPr><a:spLocks noGrp="1"/></p:cNvSpPr>
    <p:nvPr/>
  </p:nvSpPr>
  <p:spPr>
    <a:xfrm><a:off x="548640" y="5440680"/><a:ext cx="384048" cy="384048"/></a:xfrm>
    <a:prstGeom prst="roundRect"><a:avLst><a:gd name="adj" fmla="val 50000"/></a:avLst></a:prstGeom>
    <a:solidFill><a:srgbClr val="E07B39"/></a:solidFill>
    <a:ln><a:noFill/></a:ln>
  </p:spPr>
  <p:txBody><a:bodyPr/><a:lstStyle/><a:p/></p:txBody>
</p:sp>

<p:sp>
  <p:nvSpPr>
    <p:cNvPr id="47" name="FNT5"/>
    <p:cNvSpPr txBox="1"><a:spLocks noGrp="1"/></p:cNvSpPr>
    <p:nvPr/>
  </p:nvSpPr>
  <p:spPr>
    <a:xfrm><a:off x="548640" y="5440680"/><a:ext cx="384048" cy="384048"/></a:xfrm>
    <a:prstGeom prst="rect"><a:avLst/></a:prstGeom>
    <a:noFill/>
  </p:spPr>
  <p:txBody>
    <a:bodyPr wrap="square" anchor="ctr" autofit=""><a:normAutofit/></a:bodyPr>
    <a:lstStyle/>
    
    <a:p>
      <a:pPr algn="ctr"></a:pPr>
      <a:r>
        <a:rPr lang="en-IN" sz="1300" b="1" dirty="0">
          <a:solidFill><a:srgbClr val="1A2E4A"/></a:solidFill>
          <a:latin typeface="Calibri"/>
          <a:cs typeface="Nirmala UI"/>
        </a:rPr>
        <a:t>06</a:t>
      </a:r>
    </a:p>
  </p:txBody>
</p:sp>

<p:sp>
  <p:nvSpPr>
    <p:cNvPr id="48" name="FTitle5"/>
    <p:cNvSpPr txBox="1"><a:spLocks noGrp="1"/></p:cNvSpPr>
    <p:nvPr/>
  </p:nvSpPr>
  <p:spPr>
    <a:xfrm><a:off x="1051560" y="5340096"/><a:ext cx="2926080" cy="32004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500" b="1" dirty="0">
          <a:solidFill><a:srgbClr val="E07B39"/></a:solidFill>
          <a:latin typeface="Calibri"/>
          <a:cs typeface="Nirmala UI"/>
        </a:rPr>
        <a:t>CoNLL Evaluation & Cross-lingual Transfer</a:t>
      </a:r>
    </a:p>
  </p:txBody>
</p:sp>

<p:sp>
  <p:nvSpPr>
    <p:cNvPr id="49" name="FDesc5"/>
    <p:cNvSpPr txBox="1"><a:spLocks noGrp="1"/></p:cNvSpPr>
    <p:nvPr/>
  </p:nvSpPr>
  <p:spPr>
    <a:xfrm><a:off x="1051560" y="5650992"/><a:ext cx="9692640" cy="27432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250" b="0" dirty="0">
          <a:solidFill><a:srgbClr val="D0E4F7"/></a:solidFill>
          <a:latin typeface="Calibri"/>
          <a:cs typeface="Nirmala UI"/>
        </a:rPr>
        <a:t>Implement MUC / B³ / CEAF metrics. Explore cross-lingual transfer from English or multilingual coref models.</a:t>
      </a:r>
    </a:p>
  </p:txBody>
</p:sp>

<p:sp>
  <p:nvSpPr>
    <p:cNvPr id="50" name="FooterBar"/>
    <p:cNvSpPr><a:spLocks noGrp="1"/></p:cNvSpPr>
    <p:nvPr/>
  </p:nvSpPr>
  <p:spPr>
    <a:xfrm><a:off x="0" y="6446520"/><a:ext cx="12192000" cy="411480"/></a:xfrm>
    <a:prstGeom prst="rect"><a:avLst/></a:prstGeom>
    <a:solidFill><a:srgbClr val="112238"/></a:solidFill>
    <a:ln><a:noFill/></a:ln>
  </p:spPr>
  <p:txBody><a:bodyPr/><a:lstStyle/><a:p/></p:txBody>
</p:sp>

<p:sp>
  <p:nvSpPr>
    <p:cNvPr id="51" name="FooterLine"/>
    <p:cNvSpPr><a:spLocks noGrp="1"/></p:cNvSpPr>
    <p:nvPr/>
  </p:nvSpPr>
  <p:spPr>
    <a:xfrm><a:off x="0" y="6446520"/><a:ext cx="12192000" cy="36576"/></a:xfrm>
    <a:prstGeom prst="rect"><a:avLst/></a:prstGeom>
    <a:solidFill><a:srgbClr val="00C9B1"/></a:solidFill>
    <a:ln><a:noFill/></a:ln>
  </p:spPr>
  <p:txBody><a:bodyPr/><a:lstStyle/><a:p/></p:txBody>
</p:sp>

<p:sp>
  <p:nvSpPr>
    <p:cNvPr id="52" name="FooterLeft"/>
    <p:cNvSpPr txBox="1"><a:spLocks noGrp="1"/></p:cNvSpPr>
    <p:nvPr/>
  </p:nvSpPr>
  <p:spPr>
    <a:xfrm><a:off x="274320" y="6492240"/><a:ext cx="5486400" cy="32004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000" b="0" dirty="0">
          <a:solidFill><a:srgbClr val="8AAEC8"/></a:solidFill>
          <a:latin typeface="Calibri"/>
          <a:cs typeface="Nirmala UI"/>
        </a:rPr>
        <a:t>Hindi Coreference Resolution | CIT Kokrajhar</a:t>
      </a:r>
    </a:p>
  </p:txBody>
</p:sp>

<p:sp>
  <p:nvSpPr>
    <p:cNvPr id="53" name="FooterRight"/>
    <p:cNvSpPr txBox="1"><a:spLocks noGrp="1"/></p:cNvSpPr>
    <p:nvPr/>
  </p:nvSpPr>
  <p:spPr>
    <a:xfrm><a:off x="8229600" y="6492240"/><a:ext cx="2743200" cy="320040"/></a:xfrm>
    <a:prstGeom prst="rect"><a:avLst/></a:prstGeom>
    <a:noFill/>
  </p:spPr>
  <p:txBody>
    <a:bodyPr wrap="square" anchor="t" autofit=""><a:normAutofit/></a:bodyPr>
    <a:lstStyle/>
    
    <a:p>
      <a:pPr algn="r"></a:pPr>
      <a:r>
        <a:rPr lang="en-IN" sz="1000" b="0" dirty="0">
          <a:solidFill><a:srgbClr val="8AAEC8"/></a:solidFill>
          <a:latin typeface="Calibri"/>
          <a:cs typeface="Nirmala UI"/>
        </a:rPr>
        <a:t>B.Tech Project Presentation  |  2026</a:t>
      </a:r>
    </a:p>
  </p:txBody>
</p:sp>
    </p:spTree>
  </p:cSld>
  <p:clrMapOvr><a:masterClrMapping/>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opBar"/>
          <p:cNvSpPr>
            <a:spLocks noGrp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ccentLine"/>
          <p:cNvSpPr>
            <a:spLocks noGrp="1"/>
          </p:cNvSpPr>
          <p:nvPr/>
        </p:nvSpPr>
        <p:spPr>
          <a:xfrm>
            <a:off x="0" y="1143000"/>
            <a:ext cx="12192000" cy="54864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lideTitle"/>
          <p:cNvSpPr txBox="1">
            <a:spLocks noGrp="1"/>
          </p:cNvSpPr>
          <p:nvPr/>
        </p:nvSpPr>
        <p:spPr>
          <a:xfrm>
            <a:off x="365760" y="109728"/>
            <a:ext cx="10515600" cy="8229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3000" b="1" dirty="0">
                <a:solidFill>
                  <a:srgbClr val="FFFFFF"/>
                </a:solidFill>
                <a:latin typeface="Calibri"/>
                <a:cs typeface="Nirmala UI"/>
              </a:rPr>
              <a:t>Conclusion</a:t>
            </a:r>
          </a:p>
        </p:txBody>
      </p:sp>
      <p:sp>
        <p:nvSpPr>
          <p:cNvPr id="13" name="SlideSubtitle"/>
          <p:cNvSpPr txBox="1">
            <a:spLocks noGrp="1"/>
          </p:cNvSpPr>
          <p:nvPr/>
        </p:nvSpPr>
        <p:spPr>
          <a:xfrm>
            <a:off x="365760" y="777240"/>
            <a:ext cx="914400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400" b="0" dirty="0">
                <a:solidFill>
                  <a:srgbClr val="00C9B1"/>
                </a:solidFill>
                <a:latin typeface="Calibri"/>
                <a:cs typeface="Nirmala UI"/>
              </a:rPr>
              <a:t>Summary of contributions and findings</a:t>
            </a:r>
          </a:p>
        </p:txBody>
      </p:sp>
      <p:sp>
        <p:nvSpPr>
          <p:cNvPr id="14" name="CBar0"/>
          <p:cNvSpPr>
            <a:spLocks noGrp="1"/>
          </p:cNvSpPr>
          <p:nvPr/>
        </p:nvSpPr>
        <p:spPr>
          <a:xfrm>
            <a:off x="320040" y="1444752"/>
            <a:ext cx="64008" cy="80467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CCard0"/>
          <p:cNvSpPr>
            <a:spLocks noGrp="1"/>
          </p:cNvSpPr>
          <p:nvPr/>
        </p:nvSpPr>
        <p:spPr>
          <a:xfrm>
            <a:off x="429768" y="1444752"/>
            <a:ext cx="10405872" cy="804672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CTitle0"/>
          <p:cNvSpPr txBox="1">
            <a:spLocks noGrp="1"/>
          </p:cNvSpPr>
          <p:nvPr/>
        </p:nvSpPr>
        <p:spPr>
          <a:xfrm>
            <a:off x="594360" y="1517904"/>
            <a:ext cx="365760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550" b="1" dirty="0">
                <a:solidFill>
                  <a:srgbClr val="00C9B1"/>
                </a:solidFill>
                <a:latin typeface="Calibri"/>
                <a:cs typeface="Nirmala UI"/>
              </a:rPr>
              <a:t>Functional Hindi Coreference Pipeline</a:t>
            </a:r>
          </a:p>
        </p:txBody>
      </p:sp>
      <p:sp>
        <p:nvSpPr>
          <p:cNvPr id="17" name="CDesc0"/>
          <p:cNvSpPr txBox="1">
            <a:spLocks noGrp="1"/>
          </p:cNvSpPr>
          <p:nvPr/>
        </p:nvSpPr>
        <p:spPr>
          <a:xfrm>
            <a:off x="594360" y="1874520"/>
            <a:ext cx="1005840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300" b="0" dirty="0">
                <a:solidFill>
                  <a:srgbClr val="D0E4F7"/>
                </a:solidFill>
                <a:latin typeface="Calibri"/>
                <a:cs typeface="Nirmala UI"/>
              </a:rPr>
              <a:t>Successfully built a complete end-to-end Hindi coreference resolution system from scratch — a rare contribution for this language.</a:t>
            </a:r>
          </a:p>
        </p:txBody>
      </p:sp>
      <p:sp>
        <p:nvSpPr>
          <p:cNvPr id="18" name="CBar1"/>
          <p:cNvSpPr>
            <a:spLocks noGrp="1"/>
          </p:cNvSpPr>
          <p:nvPr/>
        </p:nvSpPr>
        <p:spPr>
          <a:xfrm>
            <a:off x="320040" y="2359152"/>
            <a:ext cx="64008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CCard1"/>
          <p:cNvSpPr>
            <a:spLocks noGrp="1"/>
          </p:cNvSpPr>
          <p:nvPr/>
        </p:nvSpPr>
        <p:spPr>
          <a:xfrm>
            <a:off x="429768" y="2359152"/>
            <a:ext cx="10405872" cy="804672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CTitle1"/>
          <p:cNvSpPr txBox="1">
            <a:spLocks noGrp="1"/>
          </p:cNvSpPr>
          <p:nvPr/>
        </p:nvSpPr>
        <p:spPr>
          <a:xfrm>
            <a:off x="594360" y="2432304"/>
            <a:ext cx="365760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550" b="1" dirty="0">
                <a:solidFill>
                  <a:srgbClr val="F5A623"/>
                </a:solidFill>
                <a:latin typeface="Calibri"/>
                <a:cs typeface="Nirmala UI"/>
              </a:rPr>
              <a:t>Importance of Pretrained Indic Models</a:t>
            </a:r>
          </a:p>
        </p:txBody>
      </p:sp>
      <p:sp>
        <p:nvSpPr>
          <p:cNvPr id="21" name="CDesc1"/>
          <p:cNvSpPr txBox="1">
            <a:spLocks noGrp="1"/>
          </p:cNvSpPr>
          <p:nvPr/>
        </p:nvSpPr>
        <p:spPr>
          <a:xfrm>
            <a:off x="594360" y="2788920"/>
            <a:ext cx="1005840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300" b="0" dirty="0">
                <a:solidFill>
                  <a:srgbClr val="D0E4F7"/>
                </a:solidFill>
                <a:latin typeface="Calibri"/>
                <a:cs typeface="Nirmala UI"/>
              </a:rPr>
              <a:t>Demonstrated that IndicBERTv2 embeddings significantly outperform scratch-trained BERT for Indic language understanding.</a:t>
            </a:r>
          </a:p>
        </p:txBody>
      </p:sp>
      <p:sp>
        <p:nvSpPr>
          <p:cNvPr id="22" name="CBar2"/>
          <p:cNvSpPr>
            <a:spLocks noGrp="1"/>
          </p:cNvSpPr>
          <p:nvPr/>
        </p:nvSpPr>
        <p:spPr>
          <a:xfrm>
            <a:off x="320040" y="3273552"/>
            <a:ext cx="64008" cy="804672"/>
          </a:xfrm>
          <a:prstGeom prst="rect">
            <a:avLst/>
          </a:prstGeom>
          <a:solidFill>
            <a:srgbClr val="5C9BD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CCard2"/>
          <p:cNvSpPr>
            <a:spLocks noGrp="1"/>
          </p:cNvSpPr>
          <p:nvPr/>
        </p:nvSpPr>
        <p:spPr>
          <a:xfrm>
            <a:off x="429768" y="3273552"/>
            <a:ext cx="10405872" cy="804672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CTitle2"/>
          <p:cNvSpPr txBox="1">
            <a:spLocks noGrp="1"/>
          </p:cNvSpPr>
          <p:nvPr/>
        </p:nvSpPr>
        <p:spPr>
          <a:xfrm>
            <a:off x="594360" y="3346704"/>
            <a:ext cx="365760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550" b="1" dirty="0">
                <a:solidFill>
                  <a:srgbClr val="5C9BD6"/>
                </a:solidFill>
                <a:latin typeface="Calibri"/>
                <a:cs typeface="Nirmala UI"/>
              </a:rPr>
              <a:t>Validated Hybrid Neural + Linguistic Approach</a:t>
            </a:r>
          </a:p>
        </p:txBody>
      </p:sp>
      <p:sp>
        <p:nvSpPr>
          <p:cNvPr id="25" name="CDesc2"/>
          <p:cNvSpPr txBox="1">
            <a:spLocks noGrp="1"/>
          </p:cNvSpPr>
          <p:nvPr/>
        </p:nvSpPr>
        <p:spPr>
          <a:xfrm>
            <a:off x="594360" y="3703320"/>
            <a:ext cx="1005840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300" b="0" dirty="0">
                <a:solidFill>
                  <a:srgbClr val="D0E4F7"/>
                </a:solidFill>
                <a:latin typeface="Calibri"/>
                <a:cs typeface="Nirmala UI"/>
              </a:rPr>
              <a:t>Combining neural embeddings with handcrafted linguistic features improved pairwise accuracy by ~11 percentage points.</a:t>
            </a:r>
          </a:p>
        </p:txBody>
      </p:sp>
      <p:sp>
        <p:nvSpPr>
          <p:cNvPr id="26" name="CBar3"/>
          <p:cNvSpPr>
            <a:spLocks noGrp="1"/>
          </p:cNvSpPr>
          <p:nvPr/>
        </p:nvSpPr>
        <p:spPr>
          <a:xfrm>
            <a:off x="320040" y="4187952"/>
            <a:ext cx="64008" cy="804672"/>
          </a:xfrm>
          <a:prstGeom prst="rect">
            <a:avLst/>
          </a:prstGeom>
          <a:solidFill>
            <a:srgbClr val="A06BBE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CCard3"/>
          <p:cNvSpPr>
            <a:spLocks noGrp="1"/>
          </p:cNvSpPr>
          <p:nvPr/>
        </p:nvSpPr>
        <p:spPr>
          <a:xfrm>
            <a:off x="429768" y="4187952"/>
            <a:ext cx="10405872" cy="804672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CTitle3"/>
          <p:cNvSpPr txBox="1">
            <a:spLocks noGrp="1"/>
          </p:cNvSpPr>
          <p:nvPr/>
        </p:nvSpPr>
        <p:spPr>
          <a:xfrm>
            <a:off x="594360" y="4261104"/>
            <a:ext cx="365760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550" b="1" dirty="0">
                <a:solidFill>
                  <a:srgbClr val="A06BBE"/>
                </a:solidFill>
                <a:latin typeface="Calibri"/>
                <a:cs typeface="Nirmala UI"/>
              </a:rPr>
              <a:t>Dataset Contribution</a:t>
            </a:r>
          </a:p>
        </p:txBody>
      </p:sp>
      <p:sp>
        <p:nvSpPr>
          <p:cNvPr id="29" name="CDesc3"/>
          <p:cNvSpPr txBox="1">
            <a:spLocks noGrp="1"/>
          </p:cNvSpPr>
          <p:nvPr/>
        </p:nvSpPr>
        <p:spPr>
          <a:xfrm>
            <a:off x="594360" y="4617720"/>
            <a:ext cx="1005840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300" b="0" dirty="0">
                <a:solidFill>
                  <a:srgbClr val="D0E4F7"/>
                </a:solidFill>
                <a:latin typeface="Calibri"/>
                <a:cs typeface="Nirmala UI"/>
              </a:rPr>
              <a:t>Created and released a manually annotated Hindi coreference benchmark of 1,248 mention spans — valuable for the community.</a:t>
            </a:r>
          </a:p>
        </p:txBody>
      </p:sp>
      <p:sp>
        <p:nvSpPr>
          <p:cNvPr id="30" name="CBar4"/>
          <p:cNvSpPr>
            <a:spLocks noGrp="1"/>
          </p:cNvSpPr>
          <p:nvPr/>
        </p:nvSpPr>
        <p:spPr>
          <a:xfrm>
            <a:off x="320040" y="5102352"/>
            <a:ext cx="64008" cy="804672"/>
          </a:xfrm>
          <a:prstGeom prst="rect">
            <a:avLst/>
          </a:prstGeom>
          <a:solidFill>
            <a:srgbClr val="6BBE8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CCard4"/>
          <p:cNvSpPr>
            <a:spLocks noGrp="1"/>
          </p:cNvSpPr>
          <p:nvPr/>
        </p:nvSpPr>
        <p:spPr>
          <a:xfrm>
            <a:off x="429768" y="5102352"/>
            <a:ext cx="10405872" cy="804672"/>
          </a:xfrm>
          <a:prstGeom prst="roundRect">
            <a:avLst>
              <a:gd name="adj" fmla="val 16667"/>
            </a:avLst>
          </a:prstGeom>
          <a:solidFill>
            <a:srgbClr val="0D1B2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CTitle4"/>
          <p:cNvSpPr txBox="1">
            <a:spLocks noGrp="1"/>
          </p:cNvSpPr>
          <p:nvPr/>
        </p:nvSpPr>
        <p:spPr>
          <a:xfrm>
            <a:off x="594360" y="5175504"/>
            <a:ext cx="365760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550" b="1" dirty="0">
                <a:solidFill>
                  <a:srgbClr val="6BBE8C"/>
                </a:solidFill>
                <a:latin typeface="Calibri"/>
                <a:cs typeface="Nirmala UI"/>
              </a:rPr>
              <a:t>Research Insights from Failure Analysis</a:t>
            </a:r>
          </a:p>
        </p:txBody>
      </p:sp>
      <p:sp>
        <p:nvSpPr>
          <p:cNvPr id="33" name="CDesc4"/>
          <p:cNvSpPr txBox="1">
            <a:spLocks noGrp="1"/>
          </p:cNvSpPr>
          <p:nvPr/>
        </p:nvSpPr>
        <p:spPr>
          <a:xfrm>
            <a:off x="594360" y="5532120"/>
            <a:ext cx="10058400" cy="347472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300" b="0" dirty="0">
                <a:solidFill>
                  <a:srgbClr val="D0E4F7"/>
                </a:solidFill>
                <a:latin typeface="Calibri"/>
                <a:cs typeface="Nirmala UI"/>
              </a:rPr>
              <a:t>The Phase 1 failure conclusively shows that semantic similarity ≠ coreference — a key lesson for low-resource NLP research.</a:t>
            </a:r>
          </a:p>
        </p:txBody>
      </p:sp>
      <p:sp>
        <p:nvSpPr>
          <p:cNvPr id="34" name="FooterBar"/>
          <p:cNvSpPr>
            <a:spLocks noGrp="1"/>
          </p:cNvSpPr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112238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FooterLine"/>
          <p:cNvSpPr>
            <a:spLocks noGrp="1"/>
          </p:cNvSpPr>
          <p:nvPr/>
        </p:nvSpPr>
        <p:spPr>
          <a:xfrm>
            <a:off x="0" y="6446520"/>
            <a:ext cx="1219200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FooterLeft"/>
          <p:cNvSpPr txBox="1">
            <a:spLocks noGrp="1"/>
          </p:cNvSpPr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l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Hindi Coreference Resolution | CIT Kokrajhar</a:t>
            </a:r>
          </a:p>
        </p:txBody>
      </p:sp>
      <p:sp>
        <p:nvSpPr>
          <p:cNvPr id="37" name="FooterRight"/>
          <p:cNvSpPr txBox="1">
            <a:spLocks noGrp="1"/>
          </p:cNvSpPr>
          <p:nvPr/>
        </p:nvSpPr>
        <p:spPr>
          <a:xfrm>
            <a:off x="8229600" y="6492240"/>
            <a:ext cx="2743200" cy="32004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r"/>
            <a:r>
              <a:rPr lang="en-IN" sz="1000" b="0" dirty="0">
                <a:solidFill>
                  <a:srgbClr val="8AAEC8"/>
                </a:solidFill>
                <a:latin typeface="Calibri"/>
                <a:cs typeface="Nirmala UI"/>
              </a:rPr>
              <a:t>B.Tech Project Presentation  |  2026</a:t>
            </a:r>
          </a:p>
        </p:txBody>
      </p:sp>
    </p:spTree>
  </p:cSld>
  <p:clrMapOvr>
    <a:masterClrMapping/>
  </p:clrMapOvr>
</p:sld>
</file>

<file path=ppt/slides/slide17.xml><?xml version="1.0" encoding="UTF-8" standalone="yes"?>
<p:sld xmlns:p="http://schemas.openxmlformats.org/presentationml/2006/main"
       xmlns:a="http://schemas.openxmlformats.org/drawingml/2006/main"
       xmlns:r="http://schemas.openxmlformats.org/officeDocument/2006/relationships">
  <p:cSld>
    <p:bg>
      <p:bgPr>
        <a:solidFill><a:srgbClr val="1A2E4A"/></a:solidFill>
        <a:effectLst/>
      </p:bgPr>
    </p:bg>
    <p:spTree>
      <p:nvGrpSpPr>
        <p:cNvPr id="1" name=""/>
        <p:cNvGrpSpPr/>
        <p:nvPr/>
      </p:nvGrpSpPr>
      <p:grpSpPr>
        <a:xfrm><a:off x="0" y="0"/><a:ext cx="12192000" cy="6858000"/><a:chOff x="0" y="0"/><a:chExt cx="12192000" cy="6858000"/></a:xfrm>
      </p:grpSpPr>
      
<p:sp>
  <p:nvSpPr>
    <p:cNvPr id="10" name="TopBar"/>
    <p:cNvSpPr><a:spLocks noGrp="1"/></p:cNvSpPr>
    <p:nvPr/>
  </p:nvSpPr>
  <p:spPr>
    <a:xfrm><a:off x="0" y="0"/><a:ext cx="12192000" cy="1143000"/></a:xfrm>
    <a:prstGeom prst="rect"><a:avLst/></a:prstGeom>
    <a:solidFill><a:srgbClr val="112238"/></a:solidFill>
    <a:ln><a:noFill/></a:ln>
  </p:spPr>
  <p:txBody><a:bodyPr/><a:lstStyle/><a:p/></p:txBody>
</p:sp>

<p:sp>
  <p:nvSpPr>
    <p:cNvPr id="11" name="AccentLine"/>
    <p:cNvSpPr><a:spLocks noGrp="1"/></p:cNvSpPr>
    <p:nvPr/>
  </p:nvSpPr>
  <p:spPr>
    <a:xfrm><a:off x="0" y="1143000"/><a:ext cx="12192000" cy="54864"/></a:xfrm>
    <a:prstGeom prst="rect"><a:avLst/></a:prstGeom>
    <a:solidFill><a:srgbClr val="00C9B1"/></a:solidFill>
    <a:ln><a:noFill/></a:ln>
  </p:spPr>
  <p:txBody><a:bodyPr/><a:lstStyle/><a:p/></p:txBody>
</p:sp>

<p:sp>
  <p:nvSpPr>
    <p:cNvPr id="12" name="SlideTitle"/>
    <p:cNvSpPr txBox="1"><a:spLocks noGrp="1"/></p:cNvSpPr>
    <p:nvPr/>
  </p:nvSpPr>
  <p:spPr>
    <a:xfrm><a:off x="365760" y="109728"/><a:ext cx="10515600" cy="82296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3000" b="1" dirty="0">
          <a:solidFill><a:srgbClr val="FFFFFF"/></a:solidFill>
          <a:latin typeface="Calibri"/>
          <a:cs typeface="Nirmala UI"/>
        </a:rPr>
        <a:t>References</a:t>
      </a:r>
    </a:p>
  </p:txBody>
</p:sp>

<p:sp>
  <p:nvSpPr>
    <p:cNvPr id="13" name="SlideSubtitle"/>
    <p:cNvSpPr txBox="1"><a:spLocks noGrp="1"/></p:cNvSpPr>
    <p:nvPr/>
  </p:nvSpPr>
  <p:spPr>
    <a:xfrm><a:off x="365760" y="777240"/><a:ext cx="9144000" cy="36576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400" b="0" dirty="0">
          <a:solidFill><a:srgbClr val="00C9B1"/></a:solidFill>
          <a:latin typeface="Calibri"/>
          <a:cs typeface="Nirmala UI"/>
        </a:rPr>
        <a:t>Key literature cited in this work</a:t>
      </a:r>
    </a:p>
  </p:txBody>
</p:sp>

<p:sp>
  <p:nvSpPr>
    <p:cNvPr id="14" name="RBg0"/>
    <p:cNvSpPr><a:spLocks noGrp="1"/></p:cNvSpPr>
    <p:nvPr/>
  </p:nvSpPr>
  <p:spPr>
    <a:xfrm><a:off x="320040" y="1481328"/><a:ext cx="10515600" cy="475488"/></a:xfrm>
    <a:prstGeom prst="rect"><a:avLst/></a:prstGeom>
    <a:solidFill><a:srgbClr val="122840"/></a:solidFill>
    <a:ln><a:noFill/></a:ln>
  </p:spPr>
  <p:txBody><a:bodyPr/><a:lstStyle/><a:p/></p:txBody>
</p:sp>

<p:sp>
  <p:nvSpPr>
    <p:cNvPr id="15" name="RTxt0"/>
    <p:cNvSpPr txBox="1"><a:spLocks noGrp="1"/></p:cNvSpPr>
    <p:nvPr/>
  </p:nvSpPr>
  <p:spPr>
    <a:xfrm><a:off x="457200" y="1536192"/><a:ext cx="10241280" cy="384048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250" b="0" dirty="0">
          <a:solidFill><a:srgbClr val="D0E4F7"/></a:solidFill>
          <a:latin typeface="Calibri"/>
          <a:cs typeface="Nirmala UI"/>
        </a:rPr>
        <a:t>[1]  Lee, K., He, L., Lewis, M., & Zettlemoyer, L. (2017). End-to-end Neural Coreference Resolution. EMNLP 2017.</a:t>
      </a:r>
    </a:p>
  </p:txBody>
</p:sp>

<p:sp>
  <p:nvSpPr>
    <p:cNvPr id="16" name="RBg1"/>
    <p:cNvSpPr><a:spLocks noGrp="1"/></p:cNvSpPr>
    <p:nvPr/>
  </p:nvSpPr>
  <p:spPr>
    <a:xfrm><a:off x="320040" y="1956816"/><a:ext cx="10515600" cy="475488"/></a:xfrm>
    <a:prstGeom prst="rect"><a:avLst/></a:prstGeom>
    <a:solidFill><a:srgbClr val="0D1B2E"/></a:solidFill>
    <a:ln><a:noFill/></a:ln>
  </p:spPr>
  <p:txBody><a:bodyPr/><a:lstStyle/><a:p/></p:txBody>
</p:sp>

<p:sp>
  <p:nvSpPr>
    <p:cNvPr id="17" name="RTxt1"/>
    <p:cNvSpPr txBox="1"><a:spLocks noGrp="1"/></p:cNvSpPr>
    <p:nvPr/>
  </p:nvSpPr>
  <p:spPr>
    <a:xfrm><a:off x="457200" y="2011680"/><a:ext cx="10241280" cy="384048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250" b="0" dirty="0">
          <a:solidFill><a:srgbClr val="D0E4F7"/></a:solidFill>
          <a:latin typeface="Calibri"/>
          <a:cs typeface="Nirmala UI"/>
        </a:rPr>
        <a:t>[2]  Clark, K., & Manning, C. D. (2016). Deep Reinforcement Learning for Mention-Ranking Coreference Models. EMNLP 2016.</a:t>
      </a:r>
    </a:p>
  </p:txBody>
</p:sp>

<p:sp>
  <p:nvSpPr>
    <p:cNvPr id="18" name="RBg2"/>
    <p:cNvSpPr><a:spLocks noGrp="1"/></p:cNvSpPr>
    <p:nvPr/>
  </p:nvSpPr>
  <p:spPr>
    <a:xfrm><a:off x="320040" y="2432304"/><a:ext cx="10515600" cy="475488"/></a:xfrm>
    <a:prstGeom prst="rect"><a:avLst/></a:prstGeom>
    <a:solidFill><a:srgbClr val="122840"/></a:solidFill>
    <a:ln><a:noFill/></a:ln>
  </p:spPr>
  <p:txBody><a:bodyPr/><a:lstStyle/><a:p/></p:txBody>
</p:sp>

<p:sp>
  <p:nvSpPr>
    <p:cNvPr id="19" name="RTxt2"/>
    <p:cNvSpPr txBox="1"><a:spLocks noGrp="1"/></p:cNvSpPr>
    <p:nvPr/>
  </p:nvSpPr>
  <p:spPr>
    <a:xfrm><a:off x="457200" y="2487168"/><a:ext cx="10241280" cy="384048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250" b="0" dirty="0">
          <a:solidFill><a:srgbClr val="D0E4F7"/></a:solidFill>
          <a:latin typeface="Calibri"/>
          <a:cs typeface="Nirmala UI"/>
        </a:rPr>
        <a:t>[3]  Kumar, R., et al. (2020). Hindi Coreference Resolution Using Rule-Based and Machine Learning Approaches. LREC 2020.</a:t>
      </a:r>
    </a:p>
  </p:txBody>
</p:sp>

<p:sp>
  <p:nvSpPr>
    <p:cNvPr id="20" name="RBg3"/>
    <p:cNvSpPr><a:spLocks noGrp="1"/></p:cNvSpPr>
    <p:nvPr/>
  </p:nvSpPr>
  <p:spPr>
    <a:xfrm><a:off x="320040" y="2907792"/><a:ext cx="10515600" cy="475488"/></a:xfrm>
    <a:prstGeom prst="rect"><a:avLst/></a:prstGeom>
    <a:solidFill><a:srgbClr val="0D1B2E"/></a:solidFill>
    <a:ln><a:noFill/></a:ln>
  </p:spPr>
  <p:txBody><a:bodyPr/><a:lstStyle/><a:p/></p:txBody>
</p:sp>

<p:sp>
  <p:nvSpPr>
    <p:cNvPr id="21" name="RTxt3"/>
    <p:cNvSpPr txBox="1"><a:spLocks noGrp="1"/></p:cNvSpPr>
    <p:nvPr/>
  </p:nvSpPr>
  <p:spPr>
    <a:xfrm><a:off x="457200" y="2962656"/><a:ext cx="10241280" cy="384048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250" b="0" dirty="0">
          <a:solidFill><a:srgbClr val="D0E4F7"/></a:solidFill>
          <a:latin typeface="Calibri"/>
          <a:cs typeface="Nirmala UI"/>
        </a:rPr>
        <a:t>[4]  Khanuja, S., et al. (2021). MuRIL: Multilingual Representations for Indian Languages. arXiv:2103.10730.</a:t>
      </a:r>
    </a:p>
  </p:txBody>
</p:sp>

<p:sp>
  <p:nvSpPr>
    <p:cNvPr id="22" name="RBg4"/>
    <p:cNvSpPr><a:spLocks noGrp="1"/></p:cNvSpPr>
    <p:nvPr/>
  </p:nvSpPr>
  <p:spPr>
    <a:xfrm><a:off x="320040" y="3383280"/><a:ext cx="10515600" cy="475488"/></a:xfrm>
    <a:prstGeom prst="rect"><a:avLst/></a:prstGeom>
    <a:solidFill><a:srgbClr val="122840"/></a:solidFill>
    <a:ln><a:noFill/></a:ln>
  </p:spPr>
  <p:txBody><a:bodyPr/><a:lstStyle/><a:p/></p:txBody>
</p:sp>

<p:sp>
  <p:nvSpPr>
    <p:cNvPr id="23" name="RTxt4"/>
    <p:cNvSpPr txBox="1"><a:spLocks noGrp="1"/></p:cNvSpPr>
    <p:nvPr/>
  </p:nvSpPr>
  <p:spPr>
    <a:xfrm><a:off x="457200" y="3438144"/><a:ext cx="10241280" cy="384048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250" b="0" dirty="0">
          <a:solidFill><a:srgbClr val="D0E4F7"/></a:solidFill>
          <a:latin typeface="Calibri"/>
          <a:cs typeface="Nirmala UI"/>
        </a:rPr>
        <a:t>[5]  Dobrovolskii, V. (2021). Word-Level Coreference Resolution. EMNLP 2021.</a:t>
      </a:r>
    </a:p>
  </p:txBody>
</p:sp>

<p:sp>
  <p:nvSpPr>
    <p:cNvPr id="24" name="RBg5"/>
    <p:cNvSpPr><a:spLocks noGrp="1"/></p:cNvSpPr>
    <p:nvPr/>
  </p:nvSpPr>
  <p:spPr>
    <a:xfrm><a:off x="320040" y="3858768"/><a:ext cx="10515600" cy="475488"/></a:xfrm>
    <a:prstGeom prst="rect"><a:avLst/></a:prstGeom>
    <a:solidFill><a:srgbClr val="0D1B2E"/></a:solidFill>
    <a:ln><a:noFill/></a:ln>
  </p:spPr>
  <p:txBody><a:bodyPr/><a:lstStyle/><a:p/></p:txBody>
</p:sp>

<p:sp>
  <p:nvSpPr>
    <p:cNvPr id="25" name="RTxt5"/>
    <p:cNvSpPr txBox="1"><a:spLocks noGrp="1"/></p:cNvSpPr>
    <p:nvPr/>
  </p:nvSpPr>
  <p:spPr>
    <a:xfrm><a:off x="457200" y="3913632"/><a:ext cx="10241280" cy="384048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250" b="0" dirty="0">
          <a:solidFill><a:srgbClr val="D0E4F7"/></a:solidFill>
          <a:latin typeface="Calibri"/>
          <a:cs typeface="Nirmala UI"/>
        </a:rPr>
        <a:t>[6]  AI4Bharat / IndicNLP Team (2022). IndicBERTv2: A Robust BERT Model for 24 Indic Languages. arXiv:2212.05409.</a:t>
      </a:r>
    </a:p>
  </p:txBody>
</p:sp>

<p:sp>
  <p:nvSpPr>
    <p:cNvPr id="26" name="RBg6"/>
    <p:cNvSpPr><a:spLocks noGrp="1"/></p:cNvSpPr>
    <p:nvPr/>
  </p:nvSpPr>
  <p:spPr>
    <a:xfrm><a:off x="320040" y="4334256"/><a:ext cx="10515600" cy="475488"/></a:xfrm>
    <a:prstGeom prst="rect"><a:avLst/></a:prstGeom>
    <a:solidFill><a:srgbClr val="122840"/></a:solidFill>
    <a:ln><a:noFill/></a:ln>
  </p:spPr>
  <p:txBody><a:bodyPr/><a:lstStyle/><a:p/></p:txBody>
</p:sp>

<p:sp>
  <p:nvSpPr>
    <p:cNvPr id="27" name="RTxt6"/>
    <p:cNvSpPr txBox="1"><a:spLocks noGrp="1"/></p:cNvSpPr>
    <p:nvPr/>
  </p:nvSpPr>
  <p:spPr>
    <a:xfrm><a:off x="457200" y="4389120"/><a:ext cx="10241280" cy="384048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250" b="0" dirty="0">
          <a:solidFill><a:srgbClr val="D0E4F7"/></a:solidFill>
          <a:latin typeface="Calibri"/>
          <a:cs typeface="Nirmala UI"/>
        </a:rPr>
        <a:t>[7]  Garg, N., et al. (2019). Jointly Predicting Predicates and Arguments in Neural Semantic Role Labeling. ACL 2019.</a:t>
      </a:r>
    </a:p>
  </p:txBody>
</p:sp>

<p:sp>
  <p:nvSpPr>
    <p:cNvPr id="28" name="RBg7"/>
    <p:cNvSpPr><a:spLocks noGrp="1"/></p:cNvSpPr>
    <p:nvPr/>
  </p:nvSpPr>
  <p:spPr>
    <a:xfrm><a:off x="320040" y="4809744"/><a:ext cx="10515600" cy="475488"/></a:xfrm>
    <a:prstGeom prst="rect"><a:avLst/></a:prstGeom>
    <a:solidFill><a:srgbClr val="0D1B2E"/></a:solidFill>
    <a:ln><a:noFill/></a:ln>
  </p:spPr>
  <p:txBody><a:bodyPr/><a:lstStyle/><a:p/></p:txBody>
</p:sp>

<p:sp>
  <p:nvSpPr>
    <p:cNvPr id="29" name="RTxt7"/>
    <p:cNvSpPr txBox="1"><a:spLocks noGrp="1"/></p:cNvSpPr>
    <p:nvPr/>
  </p:nvSpPr>
  <p:spPr>
    <a:xfrm><a:off x="457200" y="4864608"/><a:ext cx="10241280" cy="384048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250" b="0" dirty="0">
          <a:solidFill><a:srgbClr val="D0E4F7"/></a:solidFill>
          <a:latin typeface="Calibri"/>
          <a:cs typeface="Nirmala UI"/>
        </a:rPr>
        <a:t>[8]  Devlin, J., Chang, M., Lee, K., & Toutanova, K. (2019). BERT: Pre-training of Deep Bidirectional Transformers. NAACL 2019.</a:t>
      </a:r>
    </a:p>
  </p:txBody>
</p:sp>

<p:sp>
  <p:nvSpPr>
    <p:cNvPr id="30" name="RBg8"/>
    <p:cNvSpPr><a:spLocks noGrp="1"/></p:cNvSpPr>
    <p:nvPr/>
  </p:nvSpPr>
  <p:spPr>
    <a:xfrm><a:off x="320040" y="5285232"/><a:ext cx="10515600" cy="475488"/></a:xfrm>
    <a:prstGeom prst="rect"><a:avLst/></a:prstGeom>
    <a:solidFill><a:srgbClr val="122840"/></a:solidFill>
    <a:ln><a:noFill/></a:ln>
  </p:spPr>
  <p:txBody><a:bodyPr/><a:lstStyle/><a:p/></p:txBody>
</p:sp>

<p:sp>
  <p:nvSpPr>
    <p:cNvPr id="31" name="RTxt8"/>
    <p:cNvSpPr txBox="1"><a:spLocks noGrp="1"/></p:cNvSpPr>
    <p:nvPr/>
  </p:nvSpPr>
  <p:spPr>
    <a:xfrm><a:off x="457200" y="5340096"/><a:ext cx="10241280" cy="384048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250" b="0" dirty="0">
          <a:solidFill><a:srgbClr val="D0E4F7"/></a:solidFill>
          <a:latin typeface="Calibri"/>
          <a:cs typeface="Nirmala UI"/>
        </a:rPr>
        <a:t>[9]  Prabhu, A., & Varma, V. (2016). Fast, Accurate and Easy to Use Hindi Morphological Analyser. COLING 2016.</a:t>
      </a:r>
    </a:p>
  </p:txBody>
</p:sp>

<p:sp>
  <p:nvSpPr>
    <p:cNvPr id="32" name="RBg9"/>
    <p:cNvSpPr><a:spLocks noGrp="1"/></p:cNvSpPr>
    <p:nvPr/>
  </p:nvSpPr>
  <p:spPr>
    <a:xfrm><a:off x="320040" y="5760720"/><a:ext cx="10515600" cy="475488"/></a:xfrm>
    <a:prstGeom prst="rect"><a:avLst/></a:prstGeom>
    <a:solidFill><a:srgbClr val="0D1B2E"/></a:solidFill>
    <a:ln><a:noFill/></a:ln>
  </p:spPr>
  <p:txBody><a:bodyPr/><a:lstStyle/><a:p/></p:txBody>
</p:sp>

<p:sp>
  <p:nvSpPr>
    <p:cNvPr id="33" name="RTxt9"/>
    <p:cNvSpPr txBox="1"><a:spLocks noGrp="1"/></p:cNvSpPr>
    <p:nvPr/>
  </p:nvSpPr>
  <p:spPr>
    <a:xfrm><a:off x="457200" y="5815584"/><a:ext cx="10241280" cy="384048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250" b="0" dirty="0">
          <a:solidFill><a:srgbClr val="D0E4F7"/></a:solidFill>
          <a:latin typeface="Calibri"/>
          <a:cs typeface="Nirmala UI"/>
        </a:rPr>
        <a:t>[10] CoNLL-2012 Shared Task: Modeling Unrestricted Coreference in OntoNotes. EMNLP-CoNLL 2012.</a:t>
      </a:r>
    </a:p>
  </p:txBody>
</p:sp>

<p:sp>
  <p:nvSpPr>
    <p:cNvPr id="34" name="FooterBar"/>
    <p:cNvSpPr><a:spLocks noGrp="1"/></p:cNvSpPr>
    <p:nvPr/>
  </p:nvSpPr>
  <p:spPr>
    <a:xfrm><a:off x="0" y="6446520"/><a:ext cx="12192000" cy="411480"/></a:xfrm>
    <a:prstGeom prst="rect"><a:avLst/></a:prstGeom>
    <a:solidFill><a:srgbClr val="112238"/></a:solidFill>
    <a:ln><a:noFill/></a:ln>
  </p:spPr>
  <p:txBody><a:bodyPr/><a:lstStyle/><a:p/></p:txBody>
</p:sp>

<p:sp>
  <p:nvSpPr>
    <p:cNvPr id="35" name="FooterLine"/>
    <p:cNvSpPr><a:spLocks noGrp="1"/></p:cNvSpPr>
    <p:nvPr/>
  </p:nvSpPr>
  <p:spPr>
    <a:xfrm><a:off x="0" y="6446520"/><a:ext cx="12192000" cy="36576"/></a:xfrm>
    <a:prstGeom prst="rect"><a:avLst/></a:prstGeom>
    <a:solidFill><a:srgbClr val="00C9B1"/></a:solidFill>
    <a:ln><a:noFill/></a:ln>
  </p:spPr>
  <p:txBody><a:bodyPr/><a:lstStyle/><a:p/></p:txBody>
</p:sp>

<p:sp>
  <p:nvSpPr>
    <p:cNvPr id="36" name="FooterLeft"/>
    <p:cNvSpPr txBox="1"><a:spLocks noGrp="1"/></p:cNvSpPr>
    <p:nvPr/>
  </p:nvSpPr>
  <p:spPr>
    <a:xfrm><a:off x="274320" y="6492240"/><a:ext cx="5486400" cy="320040"/></a:xfrm>
    <a:prstGeom prst="rect"><a:avLst/></a:prstGeom>
    <a:noFill/>
  </p:spPr>
  <p:txBody>
    <a:bodyPr wrap="square" anchor="t" autofit=""><a:normAutofit/></a:bodyPr>
    <a:lstStyle/>
    
    <a:p>
      <a:pPr algn="l"></a:pPr>
      <a:r>
        <a:rPr lang="en-IN" sz="1000" b="0" dirty="0">
          <a:solidFill><a:srgbClr val="8AAEC8"/></a:solidFill>
          <a:latin typeface="Calibri"/>
          <a:cs typeface="Nirmala UI"/>
        </a:rPr>
        <a:t>Hindi Coreference Resolution | CIT Kokrajhar</a:t>
      </a:r>
    </a:p>
  </p:txBody>
</p:sp>

<p:sp>
  <p:nvSpPr>
    <p:cNvPr id="37" name="FooterRight"/>
    <p:cNvSpPr txBox="1"><a:spLocks noGrp="1"/></p:cNvSpPr>
    <p:nvPr/>
  </p:nvSpPr>
  <p:spPr>
    <a:xfrm><a:off x="8229600" y="6492240"/><a:ext cx="2743200" cy="320040"/></a:xfrm>
    <a:prstGeom prst="rect"><a:avLst/></a:prstGeom>
    <a:noFill/>
  </p:spPr>
  <p:txBody>
    <a:bodyPr wrap="square" anchor="t" autofit=""><a:normAutofit/></a:bodyPr>
    <a:lstStyle/>
    
    <a:p>
      <a:pPr algn="r"></a:pPr>
      <a:r>
        <a:rPr lang="en-IN" sz="1000" b="0" dirty="0">
          <a:solidFill><a:srgbClr val="8AAEC8"/></a:solidFill>
          <a:latin typeface="Calibri"/>
          <a:cs typeface="Nirmala UI"/>
        </a:rPr>
        <a:t>B.Tech Project Presentation  |  2026</a:t>
      </a:r>
    </a:p>
  </p:txBody>
</p:sp>
    </p:spTree>
  </p:cSld>
  <p:clrMapOvr><a:masterClrMapping/>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" name="TopBand"/>
          <p:cNvSpPr>
            <a:spLocks noGrp="1"/>
          </p:cNvSpPr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ottomBand"/>
          <p:cNvSpPr>
            <a:spLocks noGrp="1"/>
          </p:cNvSpPr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LeftBar"/>
          <p:cNvSpPr>
            <a:spLocks noGrp="1"/>
          </p:cNvSpPr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ightBar"/>
          <p:cNvSpPr>
            <a:spLocks noGrp="1"/>
          </p:cNvSpPr>
          <p:nvPr/>
        </p:nvSpPr>
        <p:spPr>
          <a:xfrm>
            <a:off x="12082272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CenterGlow"/>
          <p:cNvSpPr>
            <a:spLocks noGrp="1"/>
          </p:cNvSpPr>
          <p:nvPr/>
        </p:nvSpPr>
        <p:spPr>
          <a:xfrm>
            <a:off x="3200400" y="1645920"/>
            <a:ext cx="5212080" cy="3657600"/>
          </a:xfrm>
          <a:prstGeom prst="roundRect">
            <a:avLst>
              <a:gd name="adj" fmla="val 50000"/>
            </a:avLst>
          </a:prstGeom>
          <a:solidFill>
            <a:srgbClr val="0D1B2E"/>
          </a:solidFill>
          <a:ln w="8000">
            <a:solidFill>
              <a:srgbClr val="00C9B1"/>
            </a:solidFill>
          </a:ln>
        </p:spPr>
        <p:txBody>
          <a:bodyPr/>
          <a:lstStyle/>
          <a:p/>
        </p:txBody>
      </p:sp>
      <p:sp>
        <p:nvSpPr>
          <p:cNvPr id="20" name="ThankYou"/>
          <p:cNvSpPr txBox="1">
            <a:spLocks noGrp="1"/>
          </p:cNvSpPr>
          <p:nvPr/>
        </p:nvSpPr>
        <p:spPr>
          <a:xfrm>
            <a:off x="457200" y="1828800"/>
            <a:ext cx="10515600" cy="164592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6400" b="1" dirty="0">
                <a:solidFill>
                  <a:srgbClr val="FFFFFF"/>
                </a:solidFill>
                <a:latin typeface="Calibri"/>
                <a:cs typeface="Nirmala UI"/>
              </a:rPr>
              <a:t>Thank You!</a:t>
            </a:r>
          </a:p>
        </p:txBody>
      </p:sp>
      <p:sp>
        <p:nvSpPr>
          <p:cNvPr id="21" name="GoldLine"/>
          <p:cNvSpPr>
            <a:spLocks noGrp="1"/>
          </p:cNvSpPr>
          <p:nvPr/>
        </p:nvSpPr>
        <p:spPr>
          <a:xfrm>
            <a:off x="3200400" y="3566160"/>
            <a:ext cx="50292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alLine"/>
          <p:cNvSpPr>
            <a:spLocks noGrp="1"/>
          </p:cNvSpPr>
          <p:nvPr/>
        </p:nvSpPr>
        <p:spPr>
          <a:xfrm>
            <a:off x="3657600" y="3703320"/>
            <a:ext cx="4114800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Sub1"/>
          <p:cNvSpPr txBox="1">
            <a:spLocks noGrp="1"/>
          </p:cNvSpPr>
          <p:nvPr/>
        </p:nvSpPr>
        <p:spPr>
          <a:xfrm>
            <a:off x="457200" y="3840480"/>
            <a:ext cx="10515600" cy="45720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800" b="0" dirty="0">
                <a:solidFill>
                  <a:srgbClr val="00C9B1"/>
                </a:solidFill>
                <a:latin typeface="Calibri"/>
                <a:cs typeface="Nirmala UI"/>
              </a:rPr>
              <a:t>Hindi Coreference Resolution for Low-Resource NLP</a:t>
            </a:r>
          </a:p>
        </p:txBody>
      </p:sp>
      <p:sp>
        <p:nvSpPr>
          <p:cNvPr id="24" name="Sub2"/>
          <p:cNvSpPr txBox="1">
            <a:spLocks noGrp="1"/>
          </p:cNvSpPr>
          <p:nvPr/>
        </p:nvSpPr>
        <p:spPr>
          <a:xfrm>
            <a:off x="457200" y="4370832"/>
            <a:ext cx="10515600" cy="41148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600" b="0" dirty="0">
                <a:solidFill>
                  <a:srgbClr val="D0E4F7"/>
                </a:solidFill>
                <a:latin typeface="Calibri"/>
                <a:cs typeface="Nirmala UI"/>
              </a:rPr>
              <a:t>Using Transformer-Based Hybrid Approaches</a:t>
            </a:r>
          </a:p>
        </p:txBody>
      </p:sp>
      <p:sp>
        <p:nvSpPr>
          <p:cNvPr id="25" name="TeamDivider"/>
          <p:cNvSpPr>
            <a:spLocks noGrp="1"/>
          </p:cNvSpPr>
          <p:nvPr/>
        </p:nvSpPr>
        <p:spPr>
          <a:xfrm>
            <a:off x="1828800" y="4983480"/>
            <a:ext cx="7772400" cy="36576"/>
          </a:xfrm>
          <a:prstGeom prst="rect">
            <a:avLst/>
          </a:prstGeom>
          <a:solidFill>
            <a:srgbClr val="8AAEC8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amFinal"/>
          <p:cNvSpPr txBox="1">
            <a:spLocks noGrp="1"/>
          </p:cNvSpPr>
          <p:nvPr/>
        </p:nvSpPr>
        <p:spPr>
          <a:xfrm>
            <a:off x="457200" y="5120640"/>
            <a:ext cx="10515600" cy="41148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400" b="0" dirty="0">
                <a:solidFill>
                  <a:srgbClr val="8AAEC8"/>
                </a:solidFill>
                <a:latin typeface="Calibri"/>
                <a:cs typeface="Nirmala UI"/>
              </a:rPr>
              <a:t>Himraj Doley  •  Subham Saha  •  Mohd Zaid  •  Nipujyoti Rabha</a:t>
            </a:r>
          </a:p>
        </p:txBody>
      </p:sp>
      <p:sp>
        <p:nvSpPr>
          <p:cNvPr id="27" name="SupFinal"/>
          <p:cNvSpPr txBox="1">
            <a:spLocks noGrp="1"/>
          </p:cNvSpPr>
          <p:nvPr/>
        </p:nvSpPr>
        <p:spPr>
          <a:xfrm>
            <a:off x="457200" y="5577840"/>
            <a:ext cx="10515600" cy="365760"/>
          </a:xfrm>
          <a:prstGeom prst="rect">
            <a:avLst/>
          </a:prstGeom>
          <a:noFill/>
        </p:spPr>
        <p:txBody>
          <a:bodyPr wrap="square" anchor="t" autofit="">
            <a:normAutofit/>
          </a:bodyPr>
          <a:lstStyle/>
          <a:p>
            <a:pPr algn="ctr"/>
            <a:r>
              <a:rPr lang="en-IN" sz="1200" b="0" dirty="0">
                <a:solidFill>
                  <a:srgbClr val="8AAEC8"/>
                </a:solidFill>
                <a:latin typeface="Calibri"/>
                <a:cs typeface="Nirmala UI"/>
              </a:rPr>
              <a:t>Supervisor: Dr. Apurbalal Senapati  |  Dept. of CSE, CIT Kokrajhar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ndiCorefTheme">
  <a:themeElements>
    <a:clrScheme name="HindiCoref">
      <a:dk1>
        <a:srgbClr val="0D1B2E"/>
      </a:dk1>
      <a:lt1>
        <a:srgbClr val="FFFFFF"/>
      </a:lt1>
      <a:dk2>
        <a:srgbClr val="1A2E4A"/>
      </a:dk2>
      <a:lt2>
        <a:srgbClr val="D0E4F7"/>
      </a:lt2>
      <a:accent1>
        <a:srgbClr val="00C9B1"/>
      </a:accent1>
      <a:accent2>
        <a:srgbClr val="F5A623"/>
      </a:accent2>
      <a:accent3>
        <a:srgbClr val="4472C4"/>
      </a:accent3>
      <a:accent4>
        <a:srgbClr val="ED7D31"/>
      </a:accent4>
      <a:accent5>
        <a:srgbClr val="A9D18E"/>
      </a:accent5>
      <a:accent6>
        <a:srgbClr val="FF0000"/>
      </a:accent6>
      <a:hlink>
        <a:srgbClr val="00C9B1"/>
      </a:hlink>
      <a:folHlink>
        <a:srgbClr val="8AAEC8"/>
      </a:folHlink>
    </a:clrScheme>
    <a:fontScheme name="HindiCoref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