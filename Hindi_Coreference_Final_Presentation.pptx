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 type="custom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  <Relationship Id="rId5" Type="http://schemas.openxmlformats.org/officeDocument/2006/relationships/slide" Target="slides/slide4.xml"/>
  <Relationship Id="rId6" Type="http://schemas.openxmlformats.org/officeDocument/2006/relationships/slide" Target="slides/slide5.xml"/>
  <Relationship Id="rId7" Type="http://schemas.openxmlformats.org/officeDocument/2006/relationships/slide" Target="slides/slide6.xml"/>
  <Relationship Id="rId8" Type="http://schemas.openxmlformats.org/officeDocument/2006/relationships/slide" Target="slides/slide7.xml"/>
  <Relationship Id="rId9" Type="http://schemas.openxmlformats.org/officeDocument/2006/relationships/slide" Target="slides/slide8.xml"/>
  <Relationship Id="rId10" Type="http://schemas.openxmlformats.org/officeDocument/2006/relationships/slide" Target="slides/slide9.xml"/>
  <Relationship Id="rId11" Type="http://schemas.openxmlformats.org/officeDocument/2006/relationships/slide" Target="slides/slide10.xml"/>
  <Relationship Id="rId12" Type="http://schemas.openxmlformats.org/officeDocument/2006/relationships/slide" Target="slides/slide11.xml"/>
  <Relationship Id="rId13" Type="http://schemas.openxmlformats.org/officeDocument/2006/relationships/slide" Target="slides/slide12.xml"/>
  <Relationship Id="rId14" Type="http://schemas.openxmlformats.org/officeDocument/2006/relationships/slide" Target="slides/slide13.xml"/>
  <Relationship Id="rId15" Type="http://schemas.openxmlformats.org/officeDocument/2006/relationships/slide" Target="slides/slide14.xml"/>
  <Relationship Id="rId16" Type="http://schemas.openxmlformats.org/officeDocument/2006/relationships/slide" Target="slides/slide15.xml"/>
  <Relationship Id="rId17" Type="http://schemas.openxmlformats.org/officeDocument/2006/relationships/slide" Target="slides/slide16.xml"/>
  <Relationship Id="rId18" Type="http://schemas.openxmlformats.org/officeDocument/2006/relationships/slide" Target="slides/slide17.xml"/>
  <Relationship Id="rId19" Type="http://schemas.openxmlformats.org/officeDocument/2006/relationships/slide" Target="slides/slide18.xml"/>
  <Relationship Id="rId20" Type="http://schemas.openxmlformats.org/officeDocument/2006/relationships/slide" Target="slides/slide19.xml"/>
  <Relationship Id="rId21" Type="http://schemas.openxmlformats.org/officeDocument/2006/relationships/slide" Target="slides/slide20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p="http://schemas.openxmlformats.org/presentationml/2006/main" xmlns:a="http://schemas.openxmlformats.org/drawingml/2006/main" type="blank" preserve="1">
  <p:cSld name="Blank">
    <p:bg>
      <p:bgPr>
        <a:solidFill>
          <a:srgbClr val="1A2E4A"/>
        </a:solidFill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E4A"/>
        </a:solidFill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3200" b="1" lang="en-US">
          <a:solidFill>
            <a:srgbClr val="FFFFFF"/>
          </a:solidFill>
          <a:latin typeface="Calibri"/>
        </a:defRPr>
      </a:lvl1pPr>
    </p:titleStyle>
    <p:bodyStyle>
      <a:lvl1pPr>
        <a:defRPr sz="1800" lang="en-US">
          <a:solidFill>
            <a:srgbClr val="D0E4F7"/>
          </a:solidFill>
          <a:latin typeface="Calibri"/>
        </a:defRPr>
      </a:lvl1pPr>
    </p:bodyStyle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 standalone="yes"?>
<p:sld xmlns:p="http://schemas.openxmlformats.org/presentationml/2006/main"
       xmlns:a="http://schemas.openxmlformats.org/drawingml/2006/main"
       xmlns:r="http://schemas.openxmlformats.org/officeDocument/2006/relationships">
  <p:cSld><p:bg><p:bgPr><a:solidFill><a:srgbClr val="1A2E4A"/></a:solidFill><a:effectLst/></p:bgPr></p:bg>
  <p:spTree>
  <p:nvGrpSpPr><p:cNvPr id="1" name=""/><p:cNvGrpSpPr/><p:nvPr/></p:nvGrpSpPr>
  <p:grpSpPr><a:xfrm><a:off x="0" y="0"/><a:ext cx="12192000" cy="6858000"/><a:chOff x="0" y="0"/><a:chExt cx="12192000" cy="6858000"/></a:xfrm></p:grpSpPr>
  <p:sp><p:nvSpPr><p:cNvPr id="10" name="LS"/><p:cNvSpPr><a:spLocks noGrp="1"/></p:cNvSpPr><p:nvPr/></p:nvSpPr>
<p:spPr><a:xfrm><a:off x="0" y="0"/><a:ext cx="109728" cy="6858000"/></a:xfrm><a:prstGeom prst="rect"><a:avLst/></a:prstGeom><a:solidFill><a:srgbClr val="00C9B1"/></a:solidFill><a:ln><a:noFill/></a:ln></p:spPr>
<p:txBody><a:bodyPr/><a:lstStyle/><a:p/></p:txBody></p:sp>
<p:sp><p:nvSpPr><p:cNvPr id="11" name="RS"/><p:cNvSpPr><a:spLocks noGrp="1"/></p:cNvSpPr><p:nvPr/></p:nvSpPr>
<p:spPr><a:xfrm><a:off x="12082272" y="0"/><a:ext cx="109728" cy="6858000"/></a:xfrm><a:prstGeom prst="rect"><a:avLst/></a:prstGeom><a:solidFill><a:srgbClr val="F5A623"/></a:solidFill><a:ln><a:noFill/></a:ln></p:spPr>
<p:txBody><a:bodyPr/><a:lstStyle/><a:p/></p:txBody></p:sp>
<p:sp><p:nvSpPr><p:cNvPr id="12" name="Strip"/><p:cNvSpPr><a:spLocks noGrp="1"/></p:cNvSpPr><p:nvPr/></p:nvSpPr>
<p:spPr><a:xfrm><a:off x="0" y="5394960"/><a:ext cx="12192000" cy="64008"/></a:xfrm><a:prstGeom prst="rect"><a:avLst/></a:prstGeom><a:solidFill><a:srgbClr val="00C9B1"/></a:solidFill><a:ln><a:noFill/></a:ln></p:spPr>
<p:txBody><a:bodyPr/><a:lstStyle/><a:p/></p:txBody></p:sp>
<p:sp><p:nvSpPr><p:cNvPr id="13" name="Bot"/><p:cNvSpPr><a:spLocks noGrp="1"/></p:cNvSpPr><p:nvPr/></p:nvSpPr>
<p:spPr><a:xfrm><a:off x="0" y="6035040"/><a:ext cx="12192000" cy="822960"/></a:xfrm><a:prstGeom prst="rect"><a:avLst/></a:prstGeom><a:solidFill><a:srgbClr val="112238"/></a:solidFill><a:ln><a:noFill/></a:ln></p:spPr>
<p:txBody><a:bodyPr/><a:lstStyle/><a:p/></p:txBody></p:sp>
<p:sp><p:nvSpPr><p:cNvPr id="14" name="T1"/><p:cNvSpPr txBox="1"><a:spLocks noGrp="1"/></p:cNvSpPr><p:nvPr/></p:nvSpPr>
<p:spPr><a:xfrm><a:off x="457200" y="914400"/><a:ext cx="10058400" cy="2286000"/></a:xfrm><a:prstGeom prst="rect"><a:avLst/></a:prstGeom><a:noFill/></p:spPr>
<p:txBody><a:bodyPr wrap="square" anchor="t"><a:normAutofit/></a:bodyPr><a:lstStyle/><a:p><a:pPr algn="l"/>
<a:r><a:rPr lang="en-IN" sz="4200" b="1" dirty="0"><a:solidFill><a:srgbClr val="FFFFFF"/></a:solidFill><a:latin typeface="Calibri"/><a:cs typeface="Nirmala UI"/></a:rPr><a:t>Hindi Coreference Resolution</a:t></a:r></a:p><a:p><a:pPr algn="l"/>
<a:r><a:rPr lang="en-IN" sz="4200" b="1" dirty="0"><a:solidFill><a:srgbClr val="FFFFFF"/></a:solidFill><a:latin typeface="Calibri"/><a:cs typeface="Nirmala UI"/></a:rPr><a:t>for Low-Resource NLP</a:t></a:r></a:p><a:p><a:pPr algn="l"/>
<a:r><a:rPr lang="en-IN" sz="3000" b="0" dirty="0"><a:solidFill><a:srgbClr val="00C9B1"/></a:solidFill><a:latin typeface="Calibri"/><a:cs typeface="Nirmala UI"/></a:rPr><a:t>Using Transformer-Based Hybrid Approaches</a:t></a:r></a:p></p:txBody></p:sp>
<p:sp><p:nvSpPr><p:cNvPr id="15" name="T2"/><p:cNvSpPr txBox="1"><a:spLocks noGrp="1"/></p:cNvSpPr><p:nvPr/></p:nvSpPr>
<p:spPr><a:xfrm><a:off x="457200" y="3383280"/><a:ext cx="8229600" cy="411480"/></a:xfrm><a:prstGeom prst="rect"><a:avLst/></a:prstGeom><a:noFill/></p:spPr>
<p:txBody><a:bodyPr wrap="square" anchor="t"><a:normAutofit/></a:bodyPr><a:lstStyle/><a:p><a:pPr algn="l"/>
<a:r><a:rPr lang="en-IN" sz="1500" b="0" dirty="0"><a:solidFill><a:srgbClr val="D0E4F7"/></a:solidFill><a:latin typeface="Calibri"/><a:cs typeface="Nirmala UI"/></a:rPr><a:t>B.Tech Project Presentation  —  Department of Computer Science & Engineering, CIT Kokrajhar</a:t></a:r></a:p></p:txBody></p:sp>
<p:sp><p:nvSpPr><p:cNvPr id="16" name="Div"/><p:cNvSpPr><a:spLocks noGrp="1"/></p:cNvSpPr><p:nvPr/></p:nvSpPr>
<p:spPr><a:xfrm><a:off x="457200" y="3931920"/><a:ext cx="7315200" cy="45720"/></a:xfrm><a:prstGeom prst="rect"><a:avLst/></a:prstGeom><a:solidFill><a:srgbClr val="F5A623"/></a:solidFill><a:ln><a:noFill/></a:ln></p:spPr>
<p:txBody><a:bodyPr/><a:lstStyle/><a:p/></p:txBody></p:sp>
<p:sp><p:nvSpPr><p:cNvPr id="20" name="TB"/><p:cNvSpPr><a:spLocks noGrp="1"/></p:cNvSpPr><p:nvPr/></p:nvSpPr>
<p:spPr><a:xfrm><a:off x="457200" y="4114800"/><a:ext cx="5120640" cy="1554480"/></a:xfrm><a:prstGeom prst="roundRect"><a:avLst><a:gd name="adj" fmla="val 16667"/></a:avLst></a:prstGeom><a:solidFill><a:srgbClr val="0D1B2E"/></a:solidFill><a:ln w="12700"><a:solidFill><a:srgbClr val="00C9B1"/></a:solidFill></a:ln></p:spPr>
<p:txBody><a:bodyPr/><a:lstStyle/><a:p/></p:txBody></p:sp>
<p:sp><p:nvSpPr><p:cNvPr id="21" name="TL"/><p:cNvSpPr txBox="1"><a:spLocks noGrp="1"/></p:cNvSpPr><p:nvPr/></p:nvSpPr>
<p:spPr><a:xfrm><a:off x="594360" y="4160520"/><a:ext cx="4846320" cy="347472"/></a:xfrm><a:prstGeom prst="rect"><a:avLst/></a:prstGeom><a:noFill/></p:spPr>
<p:txBody><a:bodyPr wrap="square" anchor="t"><a:normAutofit/></a:bodyPr><a:lstStyle/><a:p><a:pPr algn="l"/>
<a:r><a:rPr lang="en-IN" sz="980" b="1" dirty="0"><a:solidFill><a:srgbClr val="00C9B1"/></a:solidFill><a:latin typeface="Calibri"/><a:cs typeface="Nirmala UI"/></a:rPr><a:t>PRESENTED BY</a:t></a:r></a:p></p:txBody></p:sp>
<p:sp><p:nvSpPr><p:cNvPr id="22" name="TN"/><p:cNvSpPr txBox="1"><a:spLocks noGrp="1"/></p:cNvSpPr><p:nvPr/></p:nvSpPr>
<p:spPr><a:xfrm><a:off x="594360" y="4526280"/><a:ext cx="4846320" cy="1005840"/></a:xfrm><a:prstGeom prst="rect"><a:avLst/></a:prstGeom><a:noFill/></p:spPr>
<p:txBody><a:bodyPr wrap="square" anchor="t"><a:normAutofit/></a:bodyPr><a:lstStyle/><a:p><a:pPr algn="l"/>
<a:r><a:rPr lang="en-IN" sz="1450" b="0" dirty="0"><a:solidFill><a:srgbClr val="FFFFFF"/></a:solidFill><a:latin typeface="Calibri"/><a:cs typeface="Nirmala UI"/></a:rPr><a:t>Himraj Doley  •  Subham Saha</a:t></a:r></a:p><a:p><a:pPr algn="l"/>
<a:r><a:rPr lang="en-IN" sz="1450" b="0" dirty="0"><a:solidFill><a:srgbClr val="FFFFFF"/></a:solidFill><a:latin typeface="Calibri"/><a:cs typeface="Nirmala UI"/></a:rPr><a:t>Mohd Zaid  •  Nipujyoti Rabha</a:t></a:r></a:p></p:txBody></p:sp>
<p:sp><p:nvSpPr><p:cNvPr id="25" name="SB"/><p:cNvSpPr><a:spLocks noGrp="1"/></p:cNvSpPr><p:nvPr/></p:nvSpPr>
<p:spPr><a:xfrm><a:off x="5852160" y="4114800"/><a:ext cx="4846320" cy="1554480"/></a:xfrm><a:prstGeom prst="roundRect"><a:avLst><a:gd name="adj" fmla="val 16667"/></a:avLst></a:prstGeom><a:solidFill><a:srgbClr val="0D1B2E"/></a:solidFill><a:ln w="12700"><a:solidFill><a:srgbClr val="F5A623"/></a:solidFill></a:ln></p:spPr>
<p:txBody><a:bodyPr/><a:lstStyle/><a:p/></p:txBody></p:sp>
<p:sp><p:nvSpPr><p:cNvPr id="26" name="SL"/><p:cNvSpPr txBox="1"><a:spLocks noGrp="1"/></p:cNvSpPr><p:nvPr/></p:nvSpPr>
<p:spPr><a:xfrm><a:off x="5989320" y="4160520"/><a:ext cx="4572000" cy="347472"/></a:xfrm><a:prstGeom prst="rect"><a:avLst/></a:prstGeom><a:noFill/></p:spPr>
<p:txBody><a:bodyPr wrap="square" anchor="t"><a:normAutofit/></a:bodyPr><a:lstStyle/><a:p><a:pPr algn="l"/>
<a:r><a:rPr lang="en-IN" sz="980" b="1" dirty="0"><a:solidFill><a:srgbClr val="F5A623"/></a:solidFill><a:latin typeface="Calibri"/><a:cs typeface="Nirmala UI"/></a:rPr><a:t>SUPERVISOR</a:t></a:r></a:p></p:txBody></p:sp>
<p:sp><p:nvSpPr><p:cNvPr id="27" name="SN"/><p:cNvSpPr txBox="1"><a:spLocks noGrp="1"/></p:cNvSpPr><p:nvPr/></p:nvSpPr>
<p:spPr><a:xfrm><a:off x="5989320" y="4526280"/><a:ext cx="4572000" cy="1005840"/></a:xfrm><a:prstGeom prst="rect"><a:avLst/></a:prstGeom><a:noFill/></p:spPr>
<p:txBody><a:bodyPr wrap="square" anchor="t"><a:normAutofit/></a:bodyPr><a:lstStyle/><a:p><a:pPr algn="l"/>
<a:r><a:rPr lang="en-IN" sz="1600" b="0" dirty="0"><a:solidFill><a:srgbClr val="FFFFFF"/></a:solidFill><a:latin typeface="Calibri"/><a:cs typeface="Nirmala UI"/></a:rPr><a:t>Dr. Apurbalal Senapati</a:t></a:r></a:p><a:p><a:pPr algn="l"/>
<a:r><a:rPr lang="en-IN" sz="1300" b="0" dirty="0"><a:solidFill><a:srgbClr val="D0E4F7"/></a:solidFill><a:latin typeface="Calibri"/><a:cs typeface="Nirmala UI"/></a:rPr><a:t>Assistant Professor, Dept. of CSE</a:t></a:r></a:p></p:txBody></p:sp>
<p:sp><p:nvSpPr><p:cNvPr id="30" name="FB"/><p:cNvSpPr><a:spLocks noGrp="1"/></p:cNvSpPr><p:nvPr/></p:nvSpPr>
<p:spPr><a:xfrm><a:off x="0" y="6080760"/><a:ext cx="12192000" cy="777240"/></a:xfrm><a:prstGeom prst="rect"><a:avLst/></a:prstGeom><a:solidFill><a:srgbClr val="112238"/></a:solidFill><a:ln><a:noFill/></a:ln></p:spPr>
<p:txBody><a:bodyPr/><a:lstStyle/><a:p/></p:txBody></p:sp>
<p:sp><p:nvSpPr><p:cNvPr id="31" name="FT"/><p:cNvSpPr txBox="1"><a:spLocks noGrp="1"/></p:cNvSpPr><p:nvPr/></p:nvSpPr>
<p:spPr><a:xfrm><a:off x="457200" y="6144768"/><a:ext cx="10058400" cy="548640"/></a:xfrm><a:prstGeom prst="rect"><a:avLst/></a:prstGeom><a:noFill/></p:spPr>
<p:txBody><a:bodyPr wrap="square" anchor="t"><a:normAutofit/></a:bodyPr><a:lstStyle/><a:p><a:pPr algn="ctr"/>
<a:r><a:rPr lang="en-IN" sz="1050" b="0" dirty="0"><a:solidFill><a:srgbClr val="8AAEC8"/></a:solidFill><a:latin typeface="Calibri"/><a:cs typeface="Nirmala UI"/></a:rPr><a:t>Department of Computer Science & Engineering  |  Central Institute of Technology Kokrajhar  |  Academic Year 2025–26</a:t></a:r></a:p></p:txBody></p:sp>
  </p:spTree></p:cSld>
  <p:clrMapOvr><a:masterClrMapping/></p:clrMapOvr>
</p:sld>
</file>

<file path=ppt/slides/slide2.xml><?xml version="1.0" encoding="UTF-8" standalone="yes"?>
<p:sld xmlns:p="http://schemas.openxmlformats.org/presentationml/2006/main"
       xmlns:a="http://schemas.openxmlformats.org/drawingml/2006/main"
       xmlns:r="http://schemas.openxmlformats.org/officeDocument/2006/relationships">
  <p:cSld><p:bg><p:bgPr><a:solidFill><a:srgbClr val="1A2E4A"/></a:solidFill><a:effectLst/></p:bgPr></p:bg>
  <p:spTree>
  <p:nvGrpSpPr><p:cNvPr id="1" name=""/><p:cNvGrpSpPr/><p:nvPr/></p:nvGrpSpPr>
  <p:grpSpPr><a:xfrm><a:off x="0" y="0"/><a:ext cx="12192000" cy="6858000"/><a:chOff x="0" y="0"/><a:chExt cx="12192000" cy="6858000"/></a:xfrm></p:grpSpPr>
  <p:sp><p:nvSpPr><p:cNvPr id="10" name="TopBar"/><p:cNvSpPr><a:spLocks noGrp="1"/></p:cNvSpPr><p:nvPr/></p:nvSpPr>
<p:spPr><a:xfrm><a:off x="0" y="0"/><a:ext cx="12192000" cy="1097280"/></a:xfrm><a:prstGeom prst="rect"><a:avLst/></a:prstGeom><a:solidFill><a:srgbClr val="112238"/></a:solidFill><a:ln><a:noFill/></a:ln></p:spPr>
<p:txBody><a:bodyPr/><a:lstStyle/><a:p/></p:txBody></p:sp>
<p:sp><p:nvSpPr><p:cNvPr id="11" name="AccLine"/><p:cNvSpPr><a:spLocks noGrp="1"/></p:cNvSpPr><p:nvPr/></p:nvSpPr>
<p:spPr><a:xfrm><a:off x="0" y="1097280"/><a:ext cx="12192000" cy="54864"/></a:xfrm><a:prstGeom prst="rect"><a:avLst/></a:prstGeom><a:solidFill><a:srgbClr val="00C9B1"/></a:solidFill><a:ln><a:noFill/></a:ln></p:spPr>
<p:txBody><a:bodyPr/><a:lstStyle/><a:p/></p:txBody></p:sp>
<p:sp><p:nvSpPr><p:cNvPr id="12" name="Title"/><p:cNvSpPr txBox="1"><a:spLocks noGrp="1"/></p:cNvSpPr><p:nvPr/></p:nvSpPr>
<p:spPr><a:xfrm><a:off x="365760" y="91440"/><a:ext cx="10424160" cy="777240"/></a:xfrm><a:prstGeom prst="rect"><a:avLst/></a:prstGeom><a:noFill/></p:spPr>
<p:txBody><a:bodyPr wrap="square" anchor="t"><a:normAutofit/></a:bodyPr><a:lstStyle/><a:p><a:pPr algn="l"/>
<a:r><a:rPr lang="en-IN" sz="2800" b="1" dirty="0"><a:solidFill><a:srgbClr val="FFFFFF"/></a:solidFill><a:latin typeface="Calibri"/><a:cs typeface="Nirmala UI"/></a:rPr><a:t>Table of Contents</a:t></a:r></a:p></p:txBody></p:sp>
<p:sp><p:nvSpPr><p:cNvPr id="13" name="Sub"/><p:cNvSpPr txBox="1"><a:spLocks noGrp="1"/></p:cNvSpPr><p:nvPr/></p:nvSpPr>
<p:spPr><a:xfrm><a:off x="365760" y="749808"/><a:ext cx="9144000" cy="384048"/></a:xfrm><a:prstGeom prst="rect"><a:avLst/></a:prstGeom><a:noFill/></p:spPr>
<p:txBody><a:bodyPr wrap="square" anchor="t"><a:normAutofit/></a:bodyPr><a:lstStyle/><a:p><a:pPr algn="l"/>
<a:r><a:rPr lang="en-IN" sz="1300" b="0" dirty="0"><a:solidFill><a:srgbClr val="00C9B1"/></a:solidFill><a:latin typeface="Calibri"/><a:cs typeface="Nirmala UI"/></a:rPr><a:t>Complete Research Presentation Roadmap</a:t></a:r></a:p></p:txBody></p:sp>
<p:sp><p:nvSpPr><p:cNvPr id="14" name="ln0"/><p:cNvSpPr><a:spLocks noGrp="1"/></p:cNvSpPr><p:nvPr/></p:nvSpPr>
<p:spPr><a:xfrm><a:off x="274320" y="1325880"/><a:ext cx="438912" cy="347472"/></a:xfrm><a:prstGeom prst="roundRect"><a:avLst><a:gd name="adj" fmla="val 50000"/></a:avLst></a:prstGeom><a:solidFill><a:srgbClr val="00C9B1"/></a:solidFill><a:ln><a:noFill/></a:ln></p:spPr>
<p:txBody><a:bodyPr/><a:lstStyle/><a:p/></p:txBody></p:sp>
<p:sp><p:nvSpPr><p:cNvPr id="15" name="lnT0"/><p:cNvSpPr txBox="1"><a:spLocks noGrp="1"/></p:cNvSpPr><p:nvPr/></p:nvSpPr>
<p:spPr><a:xfrm><a:off x="274320" y="1325880"/><a:ext cx="438912" cy="347472"/></a:xfrm><a:prstGeom prst="rect"><a:avLst/></a:prstGeom><a:noFill/></p:spPr>
<p:txBody><a:bodyPr wrap="square" anchor="ctr"><a:normAutofit/></a:bodyPr><a:lstStyle/><a:p><a:pPr algn="ctr"/>
<a:r><a:rPr lang="en-IN" sz="1350" b="1" dirty="0"><a:solidFill><a:srgbClr val="1A2E4A"/></a:solidFill><a:latin typeface="Calibri"/><a:cs typeface="Nirmala UI"/></a:rPr><a:t>01</a:t></a:r></a:p></p:txBody></p:sp>
<p:sp><p:nvSpPr><p:cNvPr id="16" name="lt0"/><p:cNvSpPr txBox="1"><a:spLocks noGrp="1"/></p:cNvSpPr><p:nvPr/></p:nvSpPr>
<p:spPr><a:xfrm><a:off x="804672" y="1362456"/><a:ext cx="4572000" cy="347472"/></a:xfrm><a:prstGeom prst="rect"><a:avLst/></a:prstGeom><a:noFill/></p:spPr>
<p:txBody><a:bodyPr wrap="square" anchor="t"><a:normAutofit/></a:bodyPr><a:lstStyle/><a:p><a:pPr algn="l"/>
<a:r><a:rPr lang="en-IN" sz="1350" b="0" dirty="0"><a:solidFill><a:srgbClr val="D0E4F7"/></a:solidFill><a:latin typeface="Calibri"/><a:cs typeface="Nirmala UI"/></a:rPr><a:t>Introduction & Problem Statement</a:t></a:r></a:p></p:txBody></p:sp>
<p:sp><p:nvSpPr><p:cNvPr id="17" name="ln1"/><p:cNvSpPr><a:spLocks noGrp="1"/></p:cNvSpPr><p:nvPr/></p:nvSpPr>
<p:spPr><a:xfrm><a:off x="274320" y="1792224"/><a:ext cx="438912" cy="347472"/></a:xfrm><a:prstGeom prst="roundRect"><a:avLst><a:gd name="adj" fmla="val 50000"/></a:avLst></a:prstGeom><a:solidFill><a:srgbClr val="00C9B1"/></a:solidFill><a:ln><a:noFill/></a:ln></p:spPr>
<p:txBody><a:bodyPr/><a:lstStyle/><a:p/></p:txBody></p:sp>
<p:sp><p:nvSpPr><p:cNvPr id="18" name="lnT1"/><p:cNvSpPr txBox="1"><a:spLocks noGrp="1"/></p:cNvSpPr><p:nvPr/></p:nvSpPr>
<p:spPr><a:xfrm><a:off x="274320" y="1792224"/><a:ext cx="438912" cy="347472"/></a:xfrm><a:prstGeom prst="rect"><a:avLst/></a:prstGeom><a:noFill/></p:spPr>
<p:txBody><a:bodyPr wrap="square" anchor="ctr"><a:normAutofit/></a:bodyPr><a:lstStyle/><a:p><a:pPr algn="ctr"/>
<a:r><a:rPr lang="en-IN" sz="1350" b="1" dirty="0"><a:solidFill><a:srgbClr val="1A2E4A"/></a:solidFill><a:latin typeface="Calibri"/><a:cs typeface="Nirmala UI"/></a:rPr><a:t>02</a:t></a:r></a:p></p:txBody></p:sp>
<p:sp><p:nvSpPr><p:cNvPr id="19" name="lt1"/><p:cNvSpPr txBox="1"><a:spLocks noGrp="1"/></p:cNvSpPr><p:nvPr/></p:nvSpPr>
<p:spPr><a:xfrm><a:off x="804672" y="1828800"/><a:ext cx="4572000" cy="347472"/></a:xfrm><a:prstGeom prst="rect"><a:avLst/></a:prstGeom><a:noFill/></p:spPr>
<p:txBody><a:bodyPr wrap="square" anchor="t"><a:normAutofit/></a:bodyPr><a:lstStyle/><a:p><a:pPr algn="l"/>
<a:r><a:rPr lang="en-IN" sz="1350" b="0" dirty="0"><a:solidFill><a:srgbClr val="D0E4F7"/></a:solidFill><a:latin typeface="Calibri"/><a:cs typeface="Nirmala UI"/></a:rPr><a:t>Motivation & Objectives</a:t></a:r></a:p></p:txBody></p:sp>
<p:sp><p:nvSpPr><p:cNvPr id="20" name="ln2"/><p:cNvSpPr><a:spLocks noGrp="1"/></p:cNvSpPr><p:nvPr/></p:nvSpPr>
<p:spPr><a:xfrm><a:off x="274320" y="2258568"/><a:ext cx="438912" cy="347472"/></a:xfrm><a:prstGeom prst="roundRect"><a:avLst><a:gd name="adj" fmla="val 50000"/></a:avLst></a:prstGeom><a:solidFill><a:srgbClr val="00C9B1"/></a:solidFill><a:ln><a:noFill/></a:ln></p:spPr>
<p:txBody><a:bodyPr/><a:lstStyle/><a:p/></p:txBody></p:sp>
<p:sp><p:nvSpPr><p:cNvPr id="21" name="lnT2"/><p:cNvSpPr txBox="1"><a:spLocks noGrp="1"/></p:cNvSpPr><p:nvPr/></p:nvSpPr>
<p:spPr><a:xfrm><a:off x="274320" y="2258568"/><a:ext cx="438912" cy="347472"/></a:xfrm><a:prstGeom prst="rect"><a:avLst/></a:prstGeom><a:noFill/></p:spPr>
<p:txBody><a:bodyPr wrap="square" anchor="ctr"><a:normAutofit/></a:bodyPr><a:lstStyle/><a:p><a:pPr algn="ctr"/>
<a:r><a:rPr lang="en-IN" sz="1350" b="1" dirty="0"><a:solidFill><a:srgbClr val="1A2E4A"/></a:solidFill><a:latin typeface="Calibri"/><a:cs typeface="Nirmala UI"/></a:rPr><a:t>03</a:t></a:r></a:p></p:txBody></p:sp>
<p:sp><p:nvSpPr><p:cNvPr id="22" name="lt2"/><p:cNvSpPr txBox="1"><a:spLocks noGrp="1"/></p:cNvSpPr><p:nvPr/></p:nvSpPr>
<p:spPr><a:xfrm><a:off x="804672" y="2295144"/><a:ext cx="4572000" cy="347472"/></a:xfrm><a:prstGeom prst="rect"><a:avLst/></a:prstGeom><a:noFill/></p:spPr>
<p:txBody><a:bodyPr wrap="square" anchor="t"><a:normAutofit/></a:bodyPr><a:lstStyle/><a:p><a:pPr algn="l"/>
<a:r><a:rPr lang="en-IN" sz="1350" b="0" dirty="0"><a:solidFill><a:srgbClr val="D0E4F7"/></a:solidFill><a:latin typeface="Calibri"/><a:cs typeface="Nirmala UI"/></a:rPr><a:t>Literature Review</a:t></a:r></a:p></p:txBody></p:sp>
<p:sp><p:nvSpPr><p:cNvPr id="23" name="ln3"/><p:cNvSpPr><a:spLocks noGrp="1"/></p:cNvSpPr><p:nvPr/></p:nvSpPr>
<p:spPr><a:xfrm><a:off x="274320" y="2724912"/><a:ext cx="438912" cy="347472"/></a:xfrm><a:prstGeom prst="roundRect"><a:avLst><a:gd name="adj" fmla="val 50000"/></a:avLst></a:prstGeom><a:solidFill><a:srgbClr val="00C9B1"/></a:solidFill><a:ln><a:noFill/></a:ln></p:spPr>
<p:txBody><a:bodyPr/><a:lstStyle/><a:p/></p:txBody></p:sp>
<p:sp><p:nvSpPr><p:cNvPr id="24" name="lnT3"/><p:cNvSpPr txBox="1"><a:spLocks noGrp="1"/></p:cNvSpPr><p:nvPr/></p:nvSpPr>
<p:spPr><a:xfrm><a:off x="274320" y="2724912"/><a:ext cx="438912" cy="347472"/></a:xfrm><a:prstGeom prst="rect"><a:avLst/></a:prstGeom><a:noFill/></p:spPr>
<p:txBody><a:bodyPr wrap="square" anchor="ctr"><a:normAutofit/></a:bodyPr><a:lstStyle/><a:p><a:pPr algn="ctr"/>
<a:r><a:rPr lang="en-IN" sz="1350" b="1" dirty="0"><a:solidFill><a:srgbClr val="1A2E4A"/></a:solidFill><a:latin typeface="Calibri"/><a:cs typeface="Nirmala UI"/></a:rPr><a:t>04</a:t></a:r></a:p></p:txBody></p:sp>
<p:sp><p:nvSpPr><p:cNvPr id="25" name="lt3"/><p:cNvSpPr txBox="1"><a:spLocks noGrp="1"/></p:cNvSpPr><p:nvPr/></p:nvSpPr>
<p:spPr><a:xfrm><a:off x="804672" y="2761488"/><a:ext cx="4572000" cy="347472"/></a:xfrm><a:prstGeom prst="rect"><a:avLst/></a:prstGeom><a:noFill/></p:spPr>
<p:txBody><a:bodyPr wrap="square" anchor="t"><a:normAutofit/></a:bodyPr><a:lstStyle/><a:p><a:pPr algn="l"/>
<a:r><a:rPr lang="en-IN" sz="1350" b="0" dirty="0"><a:solidFill><a:srgbClr val="D0E4F7"/></a:solidFill><a:latin typeface="Calibri"/><a:cs typeface="Nirmala UI"/></a:rPr><a:t>Dataset Description</a:t></a:r></a:p></p:txBody></p:sp>
<p:sp><p:nvSpPr><p:cNvPr id="26" name="ln4"/><p:cNvSpPr><a:spLocks noGrp="1"/></p:cNvSpPr><p:nvPr/></p:nvSpPr>
<p:spPr><a:xfrm><a:off x="274320" y="3191256"/><a:ext cx="438912" cy="347472"/></a:xfrm><a:prstGeom prst="roundRect"><a:avLst><a:gd name="adj" fmla="val 50000"/></a:avLst></a:prstGeom><a:solidFill><a:srgbClr val="00C9B1"/></a:solidFill><a:ln><a:noFill/></a:ln></p:spPr>
<p:txBody><a:bodyPr/><a:lstStyle/><a:p/></p:txBody></p:sp>
<p:sp><p:nvSpPr><p:cNvPr id="27" name="lnT4"/><p:cNvSpPr txBox="1"><a:spLocks noGrp="1"/></p:cNvSpPr><p:nvPr/></p:nvSpPr>
<p:spPr><a:xfrm><a:off x="274320" y="3191256"/><a:ext cx="438912" cy="347472"/></a:xfrm><a:prstGeom prst="rect"><a:avLst/></a:prstGeom><a:noFill/></p:spPr>
<p:txBody><a:bodyPr wrap="square" anchor="ctr"><a:normAutofit/></a:bodyPr><a:lstStyle/><a:p><a:pPr algn="ctr"/>
<a:r><a:rPr lang="en-IN" sz="1350" b="1" dirty="0"><a:solidFill><a:srgbClr val="1A2E4A"/></a:solidFill><a:latin typeface="Calibri"/><a:cs typeface="Nirmala UI"/></a:rPr><a:t>05</a:t></a:r></a:p></p:txBody></p:sp>
<p:sp><p:nvSpPr><p:cNvPr id="28" name="lt4"/><p:cNvSpPr txBox="1"><a:spLocks noGrp="1"/></p:cNvSpPr><p:nvPr/></p:nvSpPr>
<p:spPr><a:xfrm><a:off x="804672" y="3227832"/><a:ext cx="4572000" cy="347472"/></a:xfrm><a:prstGeom prst="rect"><a:avLst/></a:prstGeom><a:noFill/></p:spPr>
<p:txBody><a:bodyPr wrap="square" anchor="t"><a:normAutofit/></a:bodyPr><a:lstStyle/><a:p><a:pPr algn="l"/>
<a:r><a:rPr lang="en-IN" sz="1350" b="0" dirty="0"><a:solidFill><a:srgbClr val="D0E4F7"/></a:solidFill><a:latin typeface="Calibri"/><a:cs typeface="Nirmala UI"/></a:rPr><a:t>Phase 1: BERT + Clustering Methodology</a:t></a:r></a:p></p:txBody></p:sp>
<p:sp><p:nvSpPr><p:cNvPr id="29" name="ln5"/><p:cNvSpPr><a:spLocks noGrp="1"/></p:cNvSpPr><p:nvPr/></p:nvSpPr>
<p:spPr><a:xfrm><a:off x="274320" y="3657600"/><a:ext cx="438912" cy="347472"/></a:xfrm><a:prstGeom prst="roundRect"><a:avLst><a:gd name="adj" fmla="val 50000"/></a:avLst></a:prstGeom><a:solidFill><a:srgbClr val="00C9B1"/></a:solidFill><a:ln><a:noFill/></a:ln></p:spPr>
<p:txBody><a:bodyPr/><a:lstStyle/><a:p/></p:txBody></p:sp>
<p:sp><p:nvSpPr><p:cNvPr id="30" name="lnT5"/><p:cNvSpPr txBox="1"><a:spLocks noGrp="1"/></p:cNvSpPr><p:nvPr/></p:nvSpPr>
<p:spPr><a:xfrm><a:off x="274320" y="3657600"/><a:ext cx="438912" cy="347472"/></a:xfrm><a:prstGeom prst="rect"><a:avLst/></a:prstGeom><a:noFill/></p:spPr>
<p:txBody><a:bodyPr wrap="square" anchor="ctr"><a:normAutofit/></a:bodyPr><a:lstStyle/><a:p><a:pPr algn="ctr"/>
<a:r><a:rPr lang="en-IN" sz="1350" b="1" dirty="0"><a:solidFill><a:srgbClr val="1A2E4A"/></a:solidFill><a:latin typeface="Calibri"/><a:cs typeface="Nirmala UI"/></a:rPr><a:t>06</a:t></a:r></a:p></p:txBody></p:sp>
<p:sp><p:nvSpPr><p:cNvPr id="31" name="lt5"/><p:cNvSpPr txBox="1"><a:spLocks noGrp="1"/></p:cNvSpPr><p:nvPr/></p:nvSpPr>
<p:spPr><a:xfrm><a:off x="804672" y="3694176"/><a:ext cx="4572000" cy="347472"/></a:xfrm><a:prstGeom prst="rect"><a:avLst/></a:prstGeom><a:noFill/></p:spPr>
<p:txBody><a:bodyPr wrap="square" anchor="t"><a:normAutofit/></a:bodyPr><a:lstStyle/><a:p><a:pPr algn="l"/>
<a:r><a:rPr lang="en-IN" sz="1350" b="0" dirty="0"><a:solidFill><a:srgbClr val="D0E4F7"/></a:solidFill><a:latin typeface="Calibri"/><a:cs typeface="Nirmala UI"/></a:rPr><a:t>Phase 1: Failure Analysis</a:t></a:r></a:p></p:txBody></p:sp>
<p:sp><p:nvSpPr><p:cNvPr id="32" name="ln6"/><p:cNvSpPr><a:spLocks noGrp="1"/></p:cNvSpPr><p:nvPr/></p:nvSpPr>
<p:spPr><a:xfrm><a:off x="274320" y="4123944"/><a:ext cx="438912" cy="347472"/></a:xfrm><a:prstGeom prst="roundRect"><a:avLst><a:gd name="adj" fmla="val 50000"/></a:avLst></a:prstGeom><a:solidFill><a:srgbClr val="00C9B1"/></a:solidFill><a:ln><a:noFill/></a:ln></p:spPr>
<p:txBody><a:bodyPr/><a:lstStyle/><a:p/></p:txBody></p:sp>
<p:sp><p:nvSpPr><p:cNvPr id="33" name="lnT6"/><p:cNvSpPr txBox="1"><a:spLocks noGrp="1"/></p:cNvSpPr><p:nvPr/></p:nvSpPr>
<p:spPr><a:xfrm><a:off x="274320" y="4123944"/><a:ext cx="438912" cy="347472"/></a:xfrm><a:prstGeom prst="rect"><a:avLst/></a:prstGeom><a:noFill/></p:spPr>
<p:txBody><a:bodyPr wrap="square" anchor="ctr"><a:normAutofit/></a:bodyPr><a:lstStyle/><a:p><a:pPr algn="ctr"/>
<a:r><a:rPr lang="en-IN" sz="1350" b="1" dirty="0"><a:solidFill><a:srgbClr val="1A2E4A"/></a:solidFill><a:latin typeface="Calibri"/><a:cs typeface="Nirmala UI"/></a:rPr><a:t>07</a:t></a:r></a:p></p:txBody></p:sp>
<p:sp><p:nvSpPr><p:cNvPr id="34" name="lt6"/><p:cNvSpPr txBox="1"><a:spLocks noGrp="1"/></p:cNvSpPr><p:nvPr/></p:nvSpPr>
<p:spPr><a:xfrm><a:off x="804672" y="4160520"/><a:ext cx="4572000" cy="347472"/></a:xfrm><a:prstGeom prst="rect"><a:avLst/></a:prstGeom><a:noFill/></p:spPr>
<p:txBody><a:bodyPr wrap="square" anchor="t"><a:normAutofit/></a:bodyPr><a:lstStyle/><a:p><a:pPr algn="l"/>
<a:r><a:rPr lang="en-IN" sz="1350" b="0" dirty="0"><a:solidFill><a:srgbClr val="D0E4F7"/></a:solidFill><a:latin typeface="Calibri"/><a:cs typeface="Nirmala UI"/></a:rPr><a:t>Phase 2: Hybrid Architecture</a:t></a:r></a:p></p:txBody></p:sp>
<p:sp><p:nvSpPr><p:cNvPr id="35" name="ln7"/><p:cNvSpPr><a:spLocks noGrp="1"/></p:cNvSpPr><p:nvPr/></p:nvSpPr>
<p:spPr><a:xfrm><a:off x="274320" y="4590288"/><a:ext cx="438912" cy="347472"/></a:xfrm><a:prstGeom prst="roundRect"><a:avLst><a:gd name="adj" fmla="val 50000"/></a:avLst></a:prstGeom><a:solidFill><a:srgbClr val="00C9B1"/></a:solidFill><a:ln><a:noFill/></a:ln></p:spPr>
<p:txBody><a:bodyPr/><a:lstStyle/><a:p/></p:txBody></p:sp>
<p:sp><p:nvSpPr><p:cNvPr id="36" name="lnT7"/><p:cNvSpPr txBox="1"><a:spLocks noGrp="1"/></p:cNvSpPr><p:nvPr/></p:nvSpPr>
<p:spPr><a:xfrm><a:off x="274320" y="4590288"/><a:ext cx="438912" cy="347472"/></a:xfrm><a:prstGeom prst="rect"><a:avLst/></a:prstGeom><a:noFill/></p:spPr>
<p:txBody><a:bodyPr wrap="square" anchor="ctr"><a:normAutofit/></a:bodyPr><a:lstStyle/><a:p><a:pPr algn="ctr"/>
<a:r><a:rPr lang="en-IN" sz="1350" b="1" dirty="0"><a:solidFill><a:srgbClr val="1A2E4A"/></a:solidFill><a:latin typeface="Calibri"/><a:cs typeface="Nirmala UI"/></a:rPr><a:t>08</a:t></a:r></a:p></p:txBody></p:sp>
<p:sp><p:nvSpPr><p:cNvPr id="37" name="lt7"/><p:cNvSpPr txBox="1"><a:spLocks noGrp="1"/></p:cNvSpPr><p:nvPr/></p:nvSpPr>
<p:spPr><a:xfrm><a:off x="804672" y="4626864"/><a:ext cx="4572000" cy="347472"/></a:xfrm><a:prstGeom prst="rect"><a:avLst/></a:prstGeom><a:noFill/></p:spPr>
<p:txBody><a:bodyPr wrap="square" anchor="t"><a:normAutofit/></a:bodyPr><a:lstStyle/><a:p><a:pPr algn="l"/>
<a:r><a:rPr lang="en-IN" sz="1350" b="0" dirty="0"><a:solidFill><a:srgbClr val="D0E4F7"/></a:solidFill><a:latin typeface="Calibri"/><a:cs typeface="Nirmala UI"/></a:rPr><a:t>System Pipeline & Features</a:t></a:r></a:p></p:txBody></p:sp>
<p:sp><p:nvSpPr><p:cNvPr id="38" name="ln8"/><p:cNvSpPr><a:spLocks noGrp="1"/></p:cNvSpPr><p:nvPr/></p:nvSpPr>
<p:spPr><a:xfrm><a:off x="274320" y="5056632"/><a:ext cx="438912" cy="347472"/></a:xfrm><a:prstGeom prst="roundRect"><a:avLst><a:gd name="adj" fmla="val 50000"/></a:avLst></a:prstGeom><a:solidFill><a:srgbClr val="00C9B1"/></a:solidFill><a:ln><a:noFill/></a:ln></p:spPr>
<p:txBody><a:bodyPr/><a:lstStyle/><a:p/></p:txBody></p:sp>
<p:sp><p:nvSpPr><p:cNvPr id="39" name="lnT8"/><p:cNvSpPr txBox="1"><a:spLocks noGrp="1"/></p:cNvSpPr><p:nvPr/></p:nvSpPr>
<p:spPr><a:xfrm><a:off x="274320" y="5056632"/><a:ext cx="438912" cy="347472"/></a:xfrm><a:prstGeom prst="rect"><a:avLst/></a:prstGeom><a:noFill/></p:spPr>
<p:txBody><a:bodyPr wrap="square" anchor="ctr"><a:normAutofit/></a:bodyPr><a:lstStyle/><a:p><a:pPr algn="ctr"/>
<a:r><a:rPr lang="en-IN" sz="1350" b="1" dirty="0"><a:solidFill><a:srgbClr val="1A2E4A"/></a:solidFill><a:latin typeface="Calibri"/><a:cs typeface="Nirmala UI"/></a:rPr><a:t>09</a:t></a:r></a:p></p:txBody></p:sp>
<p:sp><p:nvSpPr><p:cNvPr id="40" name="lt8"/><p:cNvSpPr txBox="1"><a:spLocks noGrp="1"/></p:cNvSpPr><p:nvPr/></p:nvSpPr>
<p:spPr><a:xfrm><a:off x="804672" y="5093208"/><a:ext cx="4572000" cy="347472"/></a:xfrm><a:prstGeom prst="rect"><a:avLst/></a:prstGeom><a:noFill/></p:spPr>
<p:txBody><a:bodyPr wrap="square" anchor="t"><a:normAutofit/></a:bodyPr><a:lstStyle/><a:p><a:pPr algn="l"/>
<a:r><a:rPr lang="en-IN" sz="1350" b="0" dirty="0"><a:solidFill><a:srgbClr val="D0E4F7"/></a:solidFill><a:latin typeface="Calibri"/><a:cs typeface="Nirmala UI"/></a:rPr><a:t>Implementation Details</a:t></a:r></a:p></p:txBody></p:sp>
<p:sp><p:nvSpPr><p:cNvPr id="41" name="rn0"/><p:cNvSpPr><a:spLocks noGrp="1"/></p:cNvSpPr><p:nvPr/></p:nvSpPr>
<p:spPr><a:xfrm><a:off x="5943600" y="1325880"/><a:ext cx="438912" cy="347472"/></a:xfrm><a:prstGeom prst="roundRect"><a:avLst><a:gd name="adj" fmla="val 50000"/></a:avLst></a:prstGeom><a:solidFill><a:srgbClr val="F5A623"/></a:solidFill><a:ln><a:noFill/></a:ln></p:spPr>
<p:txBody><a:bodyPr/><a:lstStyle/><a:p/></p:txBody></p:sp>
<p:sp><p:nvSpPr><p:cNvPr id="42" name="rnT0"/><p:cNvSpPr txBox="1"><a:spLocks noGrp="1"/></p:cNvSpPr><p:nvPr/></p:nvSpPr>
<p:spPr><a:xfrm><a:off x="5943600" y="1325880"/><a:ext cx="438912" cy="347472"/></a:xfrm><a:prstGeom prst="rect"><a:avLst/></a:prstGeom><a:noFill/></p:spPr>
<p:txBody><a:bodyPr wrap="square" anchor="ctr"><a:normAutofit/></a:bodyPr><a:lstStyle/><a:p><a:pPr algn="ctr"/>
<a:r><a:rPr lang="en-IN" sz="1350" b="1" dirty="0"><a:solidFill><a:srgbClr val="1A2E4A"/></a:solidFill><a:latin typeface="Calibri"/><a:cs typeface="Nirmala UI"/></a:rPr><a:t>10</a:t></a:r></a:p></p:txBody></p:sp>
<p:sp><p:nvSpPr><p:cNvPr id="43" name="rt0"/><p:cNvSpPr txBox="1"><a:spLocks noGrp="1"/></p:cNvSpPr><p:nvPr/></p:nvSpPr>
<p:spPr><a:xfrm><a:off x="6473952" y="1362456"/><a:ext cx="4663440" cy="347472"/></a:xfrm><a:prstGeom prst="rect"><a:avLst/></a:prstGeom><a:noFill/></p:spPr>
<p:txBody><a:bodyPr wrap="square" anchor="t"><a:normAutofit/></a:bodyPr><a:lstStyle/><a:p><a:pPr algn="l"/>
<a:r><a:rPr lang="en-IN" sz="1350" b="0" dirty="0"><a:solidFill><a:srgbClr val="D0E4F7"/></a:solidFill><a:latin typeface="Calibri"/><a:cs typeface="Nirmala UI"/></a:rPr><a:t>Experimental Results & Metrics</a:t></a:r></a:p></p:txBody></p:sp>
<p:sp><p:nvSpPr><p:cNvPr id="44" name="rn1"/><p:cNvSpPr><a:spLocks noGrp="1"/></p:cNvSpPr><p:nvPr/></p:nvSpPr>
<p:spPr><a:xfrm><a:off x="5943600" y="1792224"/><a:ext cx="438912" cy="347472"/></a:xfrm><a:prstGeom prst="roundRect"><a:avLst><a:gd name="adj" fmla="val 50000"/></a:avLst></a:prstGeom><a:solidFill><a:srgbClr val="F5A623"/></a:solidFill><a:ln><a:noFill/></a:ln></p:spPr>
<p:txBody><a:bodyPr/><a:lstStyle/><a:p/></p:txBody></p:sp>
<p:sp><p:nvSpPr><p:cNvPr id="45" name="rnT1"/><p:cNvSpPr txBox="1"><a:spLocks noGrp="1"/></p:cNvSpPr><p:nvPr/></p:nvSpPr>
<p:spPr><a:xfrm><a:off x="5943600" y="1792224"/><a:ext cx="438912" cy="347472"/></a:xfrm><a:prstGeom prst="rect"><a:avLst/></a:prstGeom><a:noFill/></p:spPr>
<p:txBody><a:bodyPr wrap="square" anchor="ctr"><a:normAutofit/></a:bodyPr><a:lstStyle/><a:p><a:pPr algn="ctr"/>
<a:r><a:rPr lang="en-IN" sz="1350" b="1" dirty="0"><a:solidFill><a:srgbClr val="1A2E4A"/></a:solidFill><a:latin typeface="Calibri"/><a:cs typeface="Nirmala UI"/></a:rPr><a:t>11</a:t></a:r></a:p></p:txBody></p:sp>
<p:sp><p:nvSpPr><p:cNvPr id="46" name="rt1"/><p:cNvSpPr txBox="1"><a:spLocks noGrp="1"/></p:cNvSpPr><p:nvPr/></p:nvSpPr>
<p:spPr><a:xfrm><a:off x="6473952" y="1828800"/><a:ext cx="4663440" cy="347472"/></a:xfrm><a:prstGeom prst="rect"><a:avLst/></a:prstGeom><a:noFill/></p:spPr>
<p:txBody><a:bodyPr wrap="square" anchor="t"><a:normAutofit/></a:bodyPr><a:lstStyle/><a:p><a:pPr algn="l"/>
<a:r><a:rPr lang="en-IN" sz="1350" b="0" dirty="0"><a:solidFill><a:srgbClr val="D0E4F7"/></a:solidFill><a:latin typeface="Calibri"/><a:cs typeface="Nirmala UI"/></a:rPr><a:t>Example Output — Hindi Text</a:t></a:r></a:p></p:txBody></p:sp>
<p:sp><p:nvSpPr><p:cNvPr id="47" name="rn2"/><p:cNvSpPr><a:spLocks noGrp="1"/></p:cNvSpPr><p:nvPr/></p:nvSpPr>
<p:spPr><a:xfrm><a:off x="5943600" y="2258568"/><a:ext cx="438912" cy="347472"/></a:xfrm><a:prstGeom prst="roundRect"><a:avLst><a:gd name="adj" fmla="val 50000"/></a:avLst></a:prstGeom><a:solidFill><a:srgbClr val="F5A623"/></a:solidFill><a:ln><a:noFill/></a:ln></p:spPr>
<p:txBody><a:bodyPr/><a:lstStyle/><a:p/></p:txBody></p:sp>
<p:sp><p:nvSpPr><p:cNvPr id="48" name="rnT2"/><p:cNvSpPr txBox="1"><a:spLocks noGrp="1"/></p:cNvSpPr><p:nvPr/></p:nvSpPr>
<p:spPr><a:xfrm><a:off x="5943600" y="2258568"/><a:ext cx="438912" cy="347472"/></a:xfrm><a:prstGeom prst="rect"><a:avLst/></a:prstGeom><a:noFill/></p:spPr>
<p:txBody><a:bodyPr wrap="square" anchor="ctr"><a:normAutofit/></a:bodyPr><a:lstStyle/><a:p><a:pPr algn="ctr"/>
<a:r><a:rPr lang="en-IN" sz="1350" b="1" dirty="0"><a:solidFill><a:srgbClr val="1A2E4A"/></a:solidFill><a:latin typeface="Calibri"/><a:cs typeface="Nirmala UI"/></a:rPr><a:t>12</a:t></a:r></a:p></p:txBody></p:sp>
<p:sp><p:nvSpPr><p:cNvPr id="49" name="rt2"/><p:cNvSpPr txBox="1"><a:spLocks noGrp="1"/></p:cNvSpPr><p:nvPr/></p:nvSpPr>
<p:spPr><a:xfrm><a:off x="6473952" y="2295144"/><a:ext cx="4663440" cy="347472"/></a:xfrm><a:prstGeom prst="rect"><a:avLst/></a:prstGeom><a:noFill/></p:spPr>
<p:txBody><a:bodyPr wrap="square" anchor="t"><a:normAutofit/></a:bodyPr><a:lstStyle/><a:p><a:pPr algn="l"/>
<a:r><a:rPr lang="en-IN" sz="1350" b="0" dirty="0"><a:solidFill><a:srgbClr val="D0E4F7"/></a:solidFill><a:latin typeface="Calibri"/><a:cs typeface="Nirmala UI"/></a:rPr><a:t>Evaluation Metrics</a:t></a:r></a:p></p:txBody></p:sp>
<p:sp><p:nvSpPr><p:cNvPr id="50" name="rn3"/><p:cNvSpPr><a:spLocks noGrp="1"/></p:cNvSpPr><p:nvPr/></p:nvSpPr>
<p:spPr><a:xfrm><a:off x="5943600" y="2724912"/><a:ext cx="438912" cy="347472"/></a:xfrm><a:prstGeom prst="roundRect"><a:avLst><a:gd name="adj" fmla="val 50000"/></a:avLst></a:prstGeom><a:solidFill><a:srgbClr val="F5A623"/></a:solidFill><a:ln><a:noFill/></a:ln></p:spPr>
<p:txBody><a:bodyPr/><a:lstStyle/><a:p/></p:txBody></p:sp>
<p:sp><p:nvSpPr><p:cNvPr id="51" name="rnT3"/><p:cNvSpPr txBox="1"><a:spLocks noGrp="1"/></p:cNvSpPr><p:nvPr/></p:nvSpPr>
<p:spPr><a:xfrm><a:off x="5943600" y="2724912"/><a:ext cx="438912" cy="347472"/></a:xfrm><a:prstGeom prst="rect"><a:avLst/></a:prstGeom><a:noFill/></p:spPr>
<p:txBody><a:bodyPr wrap="square" anchor="ctr"><a:normAutofit/></a:bodyPr><a:lstStyle/><a:p><a:pPr algn="ctr"/>
<a:r><a:rPr lang="en-IN" sz="1350" b="1" dirty="0"><a:solidFill><a:srgbClr val="1A2E4A"/></a:solidFill><a:latin typeface="Calibri"/><a:cs typeface="Nirmala UI"/></a:rPr><a:t>13</a:t></a:r></a:p></p:txBody></p:sp>
<p:sp><p:nvSpPr><p:cNvPr id="52" name="rt3"/><p:cNvSpPr txBox="1"><a:spLocks noGrp="1"/></p:cNvSpPr><p:nvPr/></p:nvSpPr>
<p:spPr><a:xfrm><a:off x="6473952" y="2761488"/><a:ext cx="4663440" cy="347472"/></a:xfrm><a:prstGeom prst="rect"><a:avLst/></a:prstGeom><a:noFill/></p:spPr>
<p:txBody><a:bodyPr wrap="square" anchor="t"><a:normAutofit/></a:bodyPr><a:lstStyle/><a:p><a:pPr algn="l"/>
<a:r><a:rPr lang="en-IN" sz="1350" b="0" dirty="0"><a:solidFill><a:srgbClr val="D0E4F7"/></a:solidFill><a:latin typeface="Calibri"/><a:cs typeface="Nirmala UI"/></a:rPr><a:t>Comparative Analysis</a:t></a:r></a:p></p:txBody></p:sp>
<p:sp><p:nvSpPr><p:cNvPr id="53" name="rn4"/><p:cNvSpPr><a:spLocks noGrp="1"/></p:cNvSpPr><p:nvPr/></p:nvSpPr>
<p:spPr><a:xfrm><a:off x="5943600" y="3191256"/><a:ext cx="438912" cy="347472"/></a:xfrm><a:prstGeom prst="roundRect"><a:avLst><a:gd name="adj" fmla="val 50000"/></a:avLst></a:prstGeom><a:solidFill><a:srgbClr val="F5A623"/></a:solidFill><a:ln><a:noFill/></a:ln></p:spPr>
<p:txBody><a:bodyPr/><a:lstStyle/><a:p/></p:txBody></p:sp>
<p:sp><p:nvSpPr><p:cNvPr id="54" name="rnT4"/><p:cNvSpPr txBox="1"><a:spLocks noGrp="1"/></p:cNvSpPr><p:nvPr/></p:nvSpPr>
<p:spPr><a:xfrm><a:off x="5943600" y="3191256"/><a:ext cx="438912" cy="347472"/></a:xfrm><a:prstGeom prst="rect"><a:avLst/></a:prstGeom><a:noFill/></p:spPr>
<p:txBody><a:bodyPr wrap="square" anchor="ctr"><a:normAutofit/></a:bodyPr><a:lstStyle/><a:p><a:pPr algn="ctr"/>
<a:r><a:rPr lang="en-IN" sz="1350" b="1" dirty="0"><a:solidFill><a:srgbClr val="1A2E4A"/></a:solidFill><a:latin typeface="Calibri"/><a:cs typeface="Nirmala UI"/></a:rPr><a:t>14</a:t></a:r></a:p></p:txBody></p:sp>
<p:sp><p:nvSpPr><p:cNvPr id="55" name="rt4"/><p:cNvSpPr txBox="1"><a:spLocks noGrp="1"/></p:cNvSpPr><p:nvPr/></p:nvSpPr>
<p:spPr><a:xfrm><a:off x="6473952" y="3227832"/><a:ext cx="4663440" cy="347472"/></a:xfrm><a:prstGeom prst="rect"><a:avLst/></a:prstGeom><a:noFill/></p:spPr>
<p:txBody><a:bodyPr wrap="square" anchor="t"><a:normAutofit/></a:bodyPr><a:lstStyle/><a:p><a:pPr algn="l"/>
<a:r><a:rPr lang="en-IN" sz="1350" b="0" dirty="0"><a:solidFill><a:srgbClr val="D0E4F7"/></a:solidFill><a:latin typeface="Calibri"/><a:cs typeface="Nirmala UI"/></a:rPr><a:t>Limitations & Constraints</a:t></a:r></a:p></p:txBody></p:sp>
<p:sp><p:nvSpPr><p:cNvPr id="56" name="rn5"/><p:cNvSpPr><a:spLocks noGrp="1"/></p:cNvSpPr><p:nvPr/></p:nvSpPr>
<p:spPr><a:xfrm><a:off x="5943600" y="3657600"/><a:ext cx="438912" cy="347472"/></a:xfrm><a:prstGeom prst="roundRect"><a:avLst><a:gd name="adj" fmla="val 50000"/></a:avLst></a:prstGeom><a:solidFill><a:srgbClr val="F5A623"/></a:solidFill><a:ln><a:noFill/></a:ln></p:spPr>
<p:txBody><a:bodyPr/><a:lstStyle/><a:p/></p:txBody></p:sp>
<p:sp><p:nvSpPr><p:cNvPr id="57" name="rnT5"/><p:cNvSpPr txBox="1"><a:spLocks noGrp="1"/></p:cNvSpPr><p:nvPr/></p:nvSpPr>
<p:spPr><a:xfrm><a:off x="5943600" y="3657600"/><a:ext cx="438912" cy="347472"/></a:xfrm><a:prstGeom prst="rect"><a:avLst/></a:prstGeom><a:noFill/></p:spPr>
<p:txBody><a:bodyPr wrap="square" anchor="ctr"><a:normAutofit/></a:bodyPr><a:lstStyle/><a:p><a:pPr algn="ctr"/>
<a:r><a:rPr lang="en-IN" sz="1350" b="1" dirty="0"><a:solidFill><a:srgbClr val="1A2E4A"/></a:solidFill><a:latin typeface="Calibri"/><a:cs typeface="Nirmala UI"/></a:rPr><a:t>15</a:t></a:r></a:p></p:txBody></p:sp>
<p:sp><p:nvSpPr><p:cNvPr id="58" name="rt5"/><p:cNvSpPr txBox="1"><a:spLocks noGrp="1"/></p:cNvSpPr><p:nvPr/></p:nvSpPr>
<p:spPr><a:xfrm><a:off x="6473952" y="3694176"/><a:ext cx="4663440" cy="347472"/></a:xfrm><a:prstGeom prst="rect"><a:avLst/></a:prstGeom><a:noFill/></p:spPr>
<p:txBody><a:bodyPr wrap="square" anchor="t"><a:normAutofit/></a:bodyPr><a:lstStyle/><a:p><a:pPr algn="l"/>
<a:r><a:rPr lang="en-IN" sz="1350" b="0" dirty="0"><a:solidFill><a:srgbClr val="D0E4F7"/></a:solidFill><a:latin typeface="Calibri"/><a:cs typeface="Nirmala UI"/></a:rPr><a:t>Future Work</a:t></a:r></a:p></p:txBody></p:sp>
<p:sp><p:nvSpPr><p:cNvPr id="59" name="rn6"/><p:cNvSpPr><a:spLocks noGrp="1"/></p:cNvSpPr><p:nvPr/></p:nvSpPr>
<p:spPr><a:xfrm><a:off x="5943600" y="4123944"/><a:ext cx="438912" cy="347472"/></a:xfrm><a:prstGeom prst="roundRect"><a:avLst><a:gd name="adj" fmla="val 50000"/></a:avLst></a:prstGeom><a:solidFill><a:srgbClr val="F5A623"/></a:solidFill><a:ln><a:noFill/></a:ln></p:spPr>
<p:txBody><a:bodyPr/><a:lstStyle/><a:p/></p:txBody></p:sp>
<p:sp><p:nvSpPr><p:cNvPr id="60" name="rnT6"/><p:cNvSpPr txBox="1"><a:spLocks noGrp="1"/></p:cNvSpPr><p:nvPr/></p:nvSpPr>
<p:spPr><a:xfrm><a:off x="5943600" y="4123944"/><a:ext cx="438912" cy="347472"/></a:xfrm><a:prstGeom prst="rect"><a:avLst/></a:prstGeom><a:noFill/></p:spPr>
<p:txBody><a:bodyPr wrap="square" anchor="ctr"><a:normAutofit/></a:bodyPr><a:lstStyle/><a:p><a:pPr algn="ctr"/>
<a:r><a:rPr lang="en-IN" sz="1350" b="1" dirty="0"><a:solidFill><a:srgbClr val="1A2E4A"/></a:solidFill><a:latin typeface="Calibri"/><a:cs typeface="Nirmala UI"/></a:rPr><a:t>16</a:t></a:r></a:p></p:txBody></p:sp>
<p:sp><p:nvSpPr><p:cNvPr id="61" name="rt6"/><p:cNvSpPr txBox="1"><a:spLocks noGrp="1"/></p:cNvSpPr><p:nvPr/></p:nvSpPr>
<p:spPr><a:xfrm><a:off x="6473952" y="4160520"/><a:ext cx="4663440" cy="347472"/></a:xfrm><a:prstGeom prst="rect"><a:avLst/></a:prstGeom><a:noFill/></p:spPr>
<p:txBody><a:bodyPr wrap="square" anchor="t"><a:normAutofit/></a:bodyPr><a:lstStyle/><a:p><a:pPr algn="l"/>
<a:r><a:rPr lang="en-IN" sz="1350" b="0" dirty="0"><a:solidFill><a:srgbClr val="D0E4F7"/></a:solidFill><a:latin typeface="Calibri"/><a:cs typeface="Nirmala UI"/></a:rPr><a:t>Conclusion & Contributions</a:t></a:r></a:p></p:txBody></p:sp>
<p:sp><p:nvSpPr><p:cNvPr id="62" name="rn7"/><p:cNvSpPr><a:spLocks noGrp="1"/></p:cNvSpPr><p:nvPr/></p:nvSpPr>
<p:spPr><a:xfrm><a:off x="5943600" y="4590288"/><a:ext cx="438912" cy="347472"/></a:xfrm><a:prstGeom prst="roundRect"><a:avLst><a:gd name="adj" fmla="val 50000"/></a:avLst></a:prstGeom><a:solidFill><a:srgbClr val="F5A623"/></a:solidFill><a:ln><a:noFill/></a:ln></p:spPr>
<p:txBody><a:bodyPr/><a:lstStyle/><a:p/></p:txBody></p:sp>
<p:sp><p:nvSpPr><p:cNvPr id="63" name="rnT7"/><p:cNvSpPr txBox="1"><a:spLocks noGrp="1"/></p:cNvSpPr><p:nvPr/></p:nvSpPr>
<p:spPr><a:xfrm><a:off x="5943600" y="4590288"/><a:ext cx="438912" cy="347472"/></a:xfrm><a:prstGeom prst="rect"><a:avLst/></a:prstGeom><a:noFill/></p:spPr>
<p:txBody><a:bodyPr wrap="square" anchor="ctr"><a:normAutofit/></a:bodyPr><a:lstStyle/><a:p><a:pPr algn="ctr"/>
<a:r><a:rPr lang="en-IN" sz="1350" b="1" dirty="0"><a:solidFill><a:srgbClr val="1A2E4A"/></a:solidFill><a:latin typeface="Calibri"/><a:cs typeface="Nirmala UI"/></a:rPr><a:t>17</a:t></a:r></a:p></p:txBody></p:sp>
<p:sp><p:nvSpPr><p:cNvPr id="64" name="rt7"/><p:cNvSpPr txBox="1"><a:spLocks noGrp="1"/></p:cNvSpPr><p:nvPr/></p:nvSpPr>
<p:spPr><a:xfrm><a:off x="6473952" y="4626864"/><a:ext cx="4663440" cy="347472"/></a:xfrm><a:prstGeom prst="rect"><a:avLst/></a:prstGeom><a:noFill/></p:spPr>
<p:txBody><a:bodyPr wrap="square" anchor="t"><a:normAutofit/></a:bodyPr><a:lstStyle/><a:p><a:pPr algn="l"/>
<a:r><a:rPr lang="en-IN" sz="1350" b="0" dirty="0"><a:solidFill><a:srgbClr val="D0E4F7"/></a:solidFill><a:latin typeface="Calibri"/><a:cs typeface="Nirmala UI"/></a:rPr><a:t>References</a:t></a:r></a:p></p:txBody></p:sp>
<p:sp><p:nvSpPr><p:cNvPr id="65" name="rn8"/><p:cNvSpPr><a:spLocks noGrp="1"/></p:cNvSpPr><p:nvPr/></p:nvSpPr>
<p:spPr><a:xfrm><a:off x="5943600" y="5056632"/><a:ext cx="438912" cy="347472"/></a:xfrm><a:prstGeom prst="roundRect"><a:avLst><a:gd name="adj" fmla="val 50000"/></a:avLst></a:prstGeom><a:solidFill><a:srgbClr val="F5A623"/></a:solidFill><a:ln><a:noFill/></a:ln></p:spPr>
<p:txBody><a:bodyPr/><a:lstStyle/><a:p/></p:txBody></p:sp>
<p:sp><p:nvSpPr><p:cNvPr id="66" name="rnT8"/><p:cNvSpPr txBox="1"><a:spLocks noGrp="1"/></p:cNvSpPr><p:nvPr/></p:nvSpPr>
<p:spPr><a:xfrm><a:off x="5943600" y="5056632"/><a:ext cx="438912" cy="347472"/></a:xfrm><a:prstGeom prst="rect"><a:avLst/></a:prstGeom><a:noFill/></p:spPr>
<p:txBody><a:bodyPr wrap="square" anchor="ctr"><a:normAutofit/></a:bodyPr><a:lstStyle/><a:p><a:pPr algn="ctr"/>
<a:r><a:rPr lang="en-IN" sz="1350" b="1" dirty="0"><a:solidFill><a:srgbClr val="1A2E4A"/></a:solidFill><a:latin typeface="Calibri"/><a:cs typeface="Nirmala UI"/></a:rPr><a:t>18</a:t></a:r></a:p></p:txBody></p:sp>
<p:sp><p:nvSpPr><p:cNvPr id="67" name="rt8"/><p:cNvSpPr txBox="1"><a:spLocks noGrp="1"/></p:cNvSpPr><p:nvPr/></p:nvSpPr>
<p:spPr><a:xfrm><a:off x="6473952" y="5093208"/><a:ext cx="4663440" cy="347472"/></a:xfrm><a:prstGeom prst="rect"><a:avLst/></a:prstGeom><a:noFill/></p:spPr>
<p:txBody><a:bodyPr wrap="square" anchor="t"><a:normAutofit/></a:bodyPr><a:lstStyle/><a:p><a:pPr algn="l"/>
<a:r><a:rPr lang="en-IN" sz="1350" b="0" dirty="0"><a:solidFill><a:srgbClr val="D0E4F7"/></a:solidFill><a:latin typeface="Calibri"/><a:cs typeface="Nirmala UI"/></a:rPr><a:t>Thank You</a:t></a:r></a:p></p:txBody></p:sp>
<p:sp><p:nvSpPr><p:cNvPr id="68" name="FB"/><p:cNvSpPr><a:spLocks noGrp="1"/></p:cNvSpPr><p:nvPr/></p:nvSpPr>
<p:spPr><a:xfrm><a:off x="0" y="6473952"/><a:ext cx="12192000" cy="384048"/></a:xfrm><a:prstGeom prst="rect"><a:avLst/></a:prstGeom><a:solidFill><a:srgbClr val="112238"/></a:solidFill><a:ln><a:noFill/></a:ln></p:spPr>
<p:txBody><a:bodyPr/><a:lstStyle/><a:p/></p:txBody></p:sp>
<p:sp><p:nvSpPr><p:cNvPr id="69" name="FL"/><p:cNvSpPr><a:spLocks noGrp="1"/></p:cNvSpPr><p:nvPr/></p:nvSpPr>
<p:spPr><a:xfrm><a:off x="0" y="6473952"/><a:ext cx="12192000" cy="36576"/></a:xfrm><a:prstGeom prst="rect"><a:avLst/></a:prstGeom><a:solidFill><a:srgbClr val="00C9B1"/></a:solidFill><a:ln><a:noFill/></a:ln></p:spPr>
<p:txBody><a:bodyPr/><a:lstStyle/><a:p/></p:txBody></p:sp>
<p:sp><p:nvSpPr><p:cNvPr id="70" name="FL2"/><p:cNvSpPr txBox="1"><a:spLocks noGrp="1"/></p:cNvSpPr><p:nvPr/></p:nvSpPr>
<p:spPr><a:xfrm><a:off x="274320" y="6510528"/><a:ext cx="5486400" cy="310896"/></a:xfrm><a:prstGeom prst="rect"><a:avLst/></a:prstGeom><a:noFill/></p:spPr>
<p:txBody><a:bodyPr wrap="square" anchor="t"><a:normAutofit/></a:bodyPr><a:lstStyle/><a:p><a:pPr algn="l"/>
<a:r><a:rPr lang="en-IN" sz="950" b="0" dirty="0"><a:solidFill><a:srgbClr val="8AAEC8"/></a:solidFill><a:latin typeface="Calibri"/><a:cs typeface="Nirmala UI"/></a:rPr><a:t>Hindi Coreference Resolution  |  CIT Kokrajhar</a:t></a:r></a:p></p:txBody></p:sp>
<p:sp><p:nvSpPr><p:cNvPr id="71" name="FR"/><p:cNvSpPr txBox="1"><a:spLocks noGrp="1"/></p:cNvSpPr><p:nvPr/></p:nvSpPr>
<p:spPr><a:xfrm><a:off x="7772400" y="6510528"/><a:ext cx="3200400" cy="310896"/></a:xfrm><a:prstGeom prst="rect"><a:avLst/></a:prstGeom><a:noFill/></p:spPr>
<p:txBody><a:bodyPr wrap="square" anchor="t"><a:normAutofit/></a:bodyPr><a:lstStyle/><a:p><a:pPr algn="r"/>
<a:r><a:rPr lang="en-IN" sz="950" b="0" dirty="0"><a:solidFill><a:srgbClr val="8AAEC8"/></a:solidFill><a:latin typeface="Calibri"/><a:cs typeface="Nirmala UI"/></a:rPr><a:t>B.Tech Project  |  2026</a:t></a:r></a:p></p:txBody></p:sp>
  </p:spTree></p:cSld>
  <p:clrMapOvr><a:masterClrMapping/></p:clrMapOvr>
</p:sld>
</file>

<file path=ppt/slides/slide3.xml><?xml version="1.0" encoding="UTF-8" standalone="yes"?>
<p:sld xmlns:p="http://schemas.openxmlformats.org/presentationml/2006/main"
       xmlns:a="http://schemas.openxmlformats.org/drawingml/2006/main"
       xmlns:r="http://schemas.openxmlformats.org/officeDocument/2006/relationships">
  <p:cSld><p:bg><p:bgPr><a:solidFill><a:srgbClr val="1A2E4A"/></a:solidFill><a:effectLst/></p:bgPr></p:bg>
  <p:spTree>
  <p:nvGrpSpPr><p:cNvPr id="1" name=""/><p:cNvGrpSpPr/><p:nvPr/></p:nvGrpSpPr>
  <p:grpSpPr><a:xfrm><a:off x="0" y="0"/><a:ext cx="12192000" cy="6858000"/><a:chOff x="0" y="0"/><a:chExt cx="12192000" cy="6858000"/></a:xfrm></p:grpSpPr>
  <p:sp><p:nvSpPr><p:cNvPr id="10" name="TopBar"/><p:cNvSpPr><a:spLocks noGrp="1"/></p:cNvSpPr><p:nvPr/></p:nvSpPr>
<p:spPr><a:xfrm><a:off x="0" y="0"/><a:ext cx="12192000" cy="1097280"/></a:xfrm><a:prstGeom prst="rect"><a:avLst/></a:prstGeom><a:solidFill><a:srgbClr val="112238"/></a:solidFill><a:ln><a:noFill/></a:ln></p:spPr>
<p:txBody><a:bodyPr/><a:lstStyle/><a:p/></p:txBody></p:sp>
<p:sp><p:nvSpPr><p:cNvPr id="11" name="AccLine"/><p:cNvSpPr><a:spLocks noGrp="1"/></p:cNvSpPr><p:nvPr/></p:nvSpPr>
<p:spPr><a:xfrm><a:off x="0" y="1097280"/><a:ext cx="12192000" cy="54864"/></a:xfrm><a:prstGeom prst="rect"><a:avLst/></a:prstGeom><a:solidFill><a:srgbClr val="00C9B1"/></a:solidFill><a:ln><a:noFill/></a:ln></p:spPr>
<p:txBody><a:bodyPr/><a:lstStyle/><a:p/></p:txBody></p:sp>
<p:sp><p:nvSpPr><p:cNvPr id="12" name="Title"/><p:cNvSpPr txBox="1"><a:spLocks noGrp="1"/></p:cNvSpPr><p:nvPr/></p:nvSpPr>
<p:spPr><a:xfrm><a:off x="365760" y="91440"/><a:ext cx="10424160" cy="777240"/></a:xfrm><a:prstGeom prst="rect"><a:avLst/></a:prstGeom><a:noFill/></p:spPr>
<p:txBody><a:bodyPr wrap="square" anchor="t"><a:normAutofit/></a:bodyPr><a:lstStyle/><a:p><a:pPr algn="l"/>
<a:r><a:rPr lang="en-IN" sz="2800" b="1" dirty="0"><a:solidFill><a:srgbClr val="FFFFFF"/></a:solidFill><a:latin typeface="Calibri"/><a:cs typeface="Nirmala UI"/></a:rPr><a:t>Introduction</a:t></a:r></a:p></p:txBody></p:sp>
<p:sp><p:nvSpPr><p:cNvPr id="13" name="Sub"/><p:cNvSpPr txBox="1"><a:spLocks noGrp="1"/></p:cNvSpPr><p:nvPr/></p:nvSpPr>
<p:spPr><a:xfrm><a:off x="365760" y="749808"/><a:ext cx="9144000" cy="384048"/></a:xfrm><a:prstGeom prst="rect"><a:avLst/></a:prstGeom><a:noFill/></p:spPr>
<p:txBody><a:bodyPr wrap="square" anchor="t"><a:normAutofit/></a:bodyPr><a:lstStyle/><a:p><a:pPr algn="l"/>
<a:r><a:rPr lang="en-IN" sz="1300" b="0" dirty="0"><a:solidFill><a:srgbClr val="00C9B1"/></a:solidFill><a:latin typeface="Calibri"/><a:cs typeface="Nirmala UI"/></a:rPr><a:t>Understanding Coreference Resolution & the Hindi NLP Landscape</a:t></a:r></a:p></p:txBody></p:sp>
<p:sp><p:nvSpPr><p:cNvPr id="14" name="DefBox"/><p:cNvSpPr><a:spLocks noGrp="1"/></p:cNvSpPr><p:nvPr/></p:nvSpPr>
<p:spPr><a:xfrm><a:off x="274320" y="1234440"/><a:ext cx="10515600" cy="1417320"/></a:xfrm><a:prstGeom prst="roundRect"><a:avLst><a:gd name="adj" fmla="val 16667"/></a:avLst></a:prstGeom><a:solidFill><a:srgbClr val="0A1F38"/></a:solidFill><a:ln w="18000"><a:solidFill><a:srgbClr val="00C9B1"/></a:solidFill></a:ln></p:spPr>
<p:txBody><a:bodyPr/><a:lstStyle/><a:p/></p:txBody></p:sp>
<p:sp><p:nvSpPr><p:cNvPr id="15" name="DefLbl"/><p:cNvSpPr txBox="1"><a:spLocks noGrp="1"/></p:cNvSpPr><p:nvPr/></p:nvSpPr>
<p:spPr><a:xfrm><a:off x="457200" y="1280160"/><a:ext cx="3657600" cy="347472"/></a:xfrm><a:prstGeom prst="rect"><a:avLst/></a:prstGeom><a:noFill/></p:spPr>
<p:txBody><a:bodyPr wrap="square" anchor="t"><a:normAutofit/></a:bodyPr><a:lstStyle/><a:p><a:pPr algn="l"/>
<a:r><a:rPr lang="en-IN" sz="1050" b="1" dirty="0"><a:solidFill><a:srgbClr val="00C9B1"/></a:solidFill><a:latin typeface="Calibri"/><a:cs typeface="Nirmala UI"/></a:rPr><a:t>FORMAL DEFINITION</a:t></a:r></a:p></p:txBody></p:sp>
<p:sp><p:nvSpPr><p:cNvPr id="16" name="DefTxt"/><p:cNvSpPr txBox="1"><a:spLocks noGrp="1"/></p:cNvSpPr><p:nvPr/></p:nvSpPr>
<p:spPr><a:xfrm><a:off x="457200" y="1645920"/><a:ext cx="10149840" cy="914400"/></a:xfrm><a:prstGeom prst="rect"><a:avLst/></a:prstGeom><a:noFill/></p:spPr>
<p:txBody><a:bodyPr wrap="square" anchor="t"><a:normAutofit/></a:bodyPr><a:lstStyle/><a:p><a:pPr algn="l"/>
<a:r><a:rPr lang="en-IN" sz="1380" b="0" dirty="0"><a:solidFill><a:srgbClr val="FFFFFF"/></a:solidFill><a:latin typeface="Calibri"/><a:cs typeface="Nirmala UI"/></a:rPr><a:t>Coreference Resolution is the NLP task of identifying all expressions (mentions) in a document</a:t></a:r></a:p><a:p><a:pPr algn="l"/>
<a:r><a:rPr lang="en-IN" sz="1380" b="0" dirty="0"><a:solidFill><a:srgbClr val="FFFFFF"/></a:solidFill><a:latin typeface="Calibri"/><a:cs typeface="Nirmala UI"/></a:rPr><a:t>that refer to the same real-world entity and grouping them into co-reference chains.</a:t></a:r></a:p></p:txBody></p:sp>
<p:sp><p:nvSpPr><p:cNvPr id="17" name="Ex1"/><p:cNvSpPr><a:spLocks noGrp="1"/></p:cNvSpPr><p:nvPr/></p:nvSpPr>
<p:spPr><a:xfrm><a:off x="274320" y="2788920"/><a:ext cx="5074920" cy="1417320"/></a:xfrm><a:prstGeom prst="roundRect"><a:avLst><a:gd name="adj" fmla="val 16667"/></a:avLst></a:prstGeom><a:solidFill><a:srgbClr val="122840"/></a:solidFill><a:ln w="12700"><a:solidFill><a:srgbClr val="F5A623"/></a:solidFill></a:ln></p:spPr>
<p:txBody><a:bodyPr/><a:lstStyle/><a:p/></p:txBody></p:sp>
<p:sp><p:nvSpPr><p:cNvPr id="18" name="Ex1L"/><p:cNvSpPr txBox="1"><a:spLocks noGrp="1"/></p:cNvSpPr><p:nvPr/></p:nvSpPr>
<p:spPr><a:xfrm><a:off x="438912" y="2834640"/><a:ext cx="4754880" cy="347472"/></a:xfrm><a:prstGeom prst="rect"><a:avLst/></a:prstGeom><a:noFill/></p:spPr>
<p:txBody><a:bodyPr wrap="square" anchor="t"><a:normAutofit/></a:bodyPr><a:lstStyle/><a:p><a:pPr algn="l"/>
<a:r><a:rPr lang="en-IN" sz="1050" b="1" dirty="0"><a:solidFill><a:srgbClr val="F5A623"/></a:solidFill><a:latin typeface="Calibri"/><a:cs typeface="Nirmala UI"/></a:rPr><a:t>HINDI EXAMPLE</a:t></a:r></a:p></p:txBody></p:sp>
<p:sp><p:nvSpPr><p:cNvPr id="19" name="Ex1T"/><p:cNvSpPr txBox="1"><a:spLocks noGrp="1"/></p:cNvSpPr><p:nvPr/></p:nvSpPr>
<p:spPr><a:xfrm><a:off x="438912" y="3200400"/><a:ext cx="4754880" cy="502920"/></a:xfrm><a:prstGeom prst="rect"><a:avLst/></a:prstGeom><a:noFill/></p:spPr>
<p:txBody><a:bodyPr wrap="square" anchor="t"><a:normAutofit/></a:bodyPr><a:lstStyle/><a:p><a:pPr algn="l"/>
<a:r><a:rPr lang="en-IN" sz="1400" b="0" dirty="0"><a:solidFill><a:srgbClr val="FFFFFF"/></a:solidFill><a:latin typeface="Calibri"/><a:cs typeface="Nirmala UI"/></a:rPr><a:t>'राम विद्यालय गया।  वह प्रसन्न था।'</a:t></a:r></a:p></p:txBody></p:sp>
<p:sp><p:nvSpPr><p:cNvPr id="20" name="Ex1R"/><p:cNvSpPr txBox="1"><a:spLocks noGrp="1"/></p:cNvSpPr><p:nvPr/></p:nvSpPr>
<p:spPr><a:xfrm><a:off x="438912" y="3703320"/><a:ext cx="4754880" cy="411480"/></a:xfrm><a:prstGeom prst="rect"><a:avLst/></a:prstGeom><a:noFill/></p:spPr>
<p:txBody><a:bodyPr wrap="square" anchor="t"><a:normAutofit/></a:bodyPr><a:lstStyle/><a:p><a:pPr algn="l"/>
<a:r><a:rPr lang="en-IN" sz="1300" b="0" dirty="0"><a:solidFill><a:srgbClr val="00C9B1"/></a:solidFill><a:latin typeface="Calibri"/><a:cs typeface="Nirmala UI"/></a:rPr><a:t>Resolution:  राम  =  वह  (same entity)</a:t></a:r></a:p></p:txBody></p:sp>
<p:sp><p:nvSpPr><p:cNvPr id="21" name="Ex2"/><p:cNvSpPr><a:spLocks noGrp="1"/></p:cNvSpPr><p:nvPr/></p:nvSpPr>
<p:spPr><a:xfrm><a:off x="5577840" y="2788920"/><a:ext cx="5074920" cy="1417320"/></a:xfrm><a:prstGeom prst="roundRect"><a:avLst><a:gd name="adj" fmla="val 16667"/></a:avLst></a:prstGeom><a:solidFill><a:srgbClr val="122840"/></a:solidFill><a:ln w="12700"><a:solidFill><a:srgbClr val="5C9BD6"/></a:solidFill></a:ln></p:spPr>
<p:txBody><a:bodyPr/><a:lstStyle/><a:p/></p:txBody></p:sp>
<p:sp><p:nvSpPr><p:cNvPr id="22" name="Ex2L"/><p:cNvSpPr txBox="1"><a:spLocks noGrp="1"/></p:cNvSpPr><p:nvPr/></p:nvSpPr>
<p:spPr><a:xfrm><a:off x="5742432" y="2834640"/><a:ext cx="4754880" cy="347472"/></a:xfrm><a:prstGeom prst="rect"><a:avLst/></a:prstGeom><a:noFill/></p:spPr>
<p:txBody><a:bodyPr wrap="square" anchor="t"><a:normAutofit/></a:bodyPr><a:lstStyle/><a:p><a:pPr algn="l"/>
<a:r><a:rPr lang="en-IN" sz="1050" b="1" dirty="0"><a:solidFill><a:srgbClr val="5C9BD6"/></a:solidFill><a:latin typeface="Calibri"/><a:cs typeface="Nirmala UI"/></a:rPr><a:t>ENGLISH ANALOGY</a:t></a:r></a:p></p:txBody></p:sp>
<p:sp><p:nvSpPr><p:cNvPr id="23" name="Ex2T"/><p:cNvSpPr txBox="1"><a:spLocks noGrp="1"/></p:cNvSpPr><p:nvPr/></p:nvSpPr>
<p:spPr><a:xfrm><a:off x="5742432" y="3200400"/><a:ext cx="4754880" cy="502920"/></a:xfrm><a:prstGeom prst="rect"><a:avLst/></a:prstGeom><a:noFill/></p:spPr>
<p:txBody><a:bodyPr wrap="square" anchor="t"><a:normAutofit/></a:bodyPr><a:lstStyle/><a:p><a:pPr algn="l"/>
<a:r><a:rPr lang="en-IN" sz="1400" b="0" dirty="0"><a:solidFill><a:srgbClr val="FFFFFF"/></a:solidFill><a:latin typeface="Calibri"/><a:cs typeface="Nirmala UI"/></a:rPr><a:t>'Priya went to college. She was happy.'</a:t></a:r></a:p></p:txBody></p:sp>
<p:sp><p:nvSpPr><p:cNvPr id="24" name="Ex2R"/><p:cNvSpPr txBox="1"><a:spLocks noGrp="1"/></p:cNvSpPr><p:nvPr/></p:nvSpPr>
<p:spPr><a:xfrm><a:off x="5742432" y="3703320"/><a:ext cx="4754880" cy="411480"/></a:xfrm><a:prstGeom prst="rect"><a:avLst/></a:prstGeom><a:noFill/></p:spPr>
<p:txBody><a:bodyPr wrap="square" anchor="t"><a:normAutofit/></a:bodyPr><a:lstStyle/><a:p><a:pPr algn="l"/>
<a:r><a:rPr lang="en-IN" sz="1300" b="0" dirty="0"><a:solidFill><a:srgbClr val="5C9BD6"/></a:solidFill><a:latin typeface="Calibri"/><a:cs typeface="Nirmala UI"/></a:rPr><a:t>Resolution:  Priya  =  She  (same entity)</a:t></a:r></a:p></p:txBody></p:sp>
<p:sp><p:nvSpPr><p:cNvPr id="25" name="A0"/><p:cNvSpPr><a:spLocks noGrp="1"/></p:cNvSpPr><p:nvPr/></p:nvSpPr>
<p:spPr><a:xfrm><a:off x="274320" y="4370832"/><a:ext cx="2331720" cy="777240"/></a:xfrm><a:prstGeom prst="roundRect"><a:avLst><a:gd name="adj" fmla="val 25000"/></a:avLst></a:prstGeom><a:solidFill><a:srgbClr val="00C9B1"/></a:solidFill><a:ln><a:noFill/></a:ln></p:spPr>
<p:txBody><a:bodyPr/><a:lstStyle/><a:p/></p:txBody></p:sp>
<p:sp><p:nvSpPr><p:cNvPr id="26" name="AT0"/><p:cNvSpPr txBox="1"><a:spLocks noGrp="1"/></p:cNvSpPr><p:nvPr/></p:nvSpPr>
<p:spPr><a:xfrm><a:off x="274320" y="4370832"/><a:ext cx="2331720" cy="777240"/></a:xfrm><a:prstGeom prst="rect"><a:avLst/></a:prstGeom><a:noFill/></p:spPr>
<p:txBody><a:bodyPr wrap="square" anchor="ctr"><a:normAutofit/></a:bodyPr><a:lstStyle/><a:p><a:pPr algn="ctr"/>
<a:r><a:rPr lang="en-IN" sz="1380" b="1" dirty="0"><a:solidFill><a:srgbClr val="1A2E4A"/></a:solidFill><a:latin typeface="Calibri"/><a:cs typeface="Nirmala UI"/></a:rPr><a:t>Question
Answering</a:t></a:r></a:p></p:txBody></p:sp>
<p:sp><p:nvSpPr><p:cNvPr id="27" name="A1"/><p:cNvSpPr><a:spLocks noGrp="1"/></p:cNvSpPr><p:nvPr/></p:nvSpPr>
<p:spPr><a:xfrm><a:off x="2825496" y="4370832"/><a:ext cx="2331720" cy="777240"/></a:xfrm><a:prstGeom prst="roundRect"><a:avLst><a:gd name="adj" fmla="val 25000"/></a:avLst></a:prstGeom><a:solidFill><a:srgbClr val="F5A623"/></a:solidFill><a:ln><a:noFill/></a:ln></p:spPr>
<p:txBody><a:bodyPr/><a:lstStyle/><a:p/></p:txBody></p:sp>
<p:sp><p:nvSpPr><p:cNvPr id="28" name="AT1"/><p:cNvSpPr txBox="1"><a:spLocks noGrp="1"/></p:cNvSpPr><p:nvPr/></p:nvSpPr>
<p:spPr><a:xfrm><a:off x="2825496" y="4370832"/><a:ext cx="2331720" cy="777240"/></a:xfrm><a:prstGeom prst="rect"><a:avLst/></a:prstGeom><a:noFill/></p:spPr>
<p:txBody><a:bodyPr wrap="square" anchor="ctr"><a:normAutofit/></a:bodyPr><a:lstStyle/><a:p><a:pPr algn="ctr"/>
<a:r><a:rPr lang="en-IN" sz="1380" b="1" dirty="0"><a:solidFill><a:srgbClr val="1A2E4A"/></a:solidFill><a:latin typeface="Calibri"/><a:cs typeface="Nirmala UI"/></a:rPr><a:t>Machine
Translation</a:t></a:r></a:p></p:txBody></p:sp>
<p:sp><p:nvSpPr><p:cNvPr id="29" name="A2"/><p:cNvSpPr><a:spLocks noGrp="1"/></p:cNvSpPr><p:nvPr/></p:nvSpPr>
<p:spPr><a:xfrm><a:off x="5376672" y="4370832"/><a:ext cx="2331720" cy="777240"/></a:xfrm><a:prstGeom prst="roundRect"><a:avLst><a:gd name="adj" fmla="val 25000"/></a:avLst></a:prstGeom><a:solidFill><a:srgbClr val="5C9BD6"/></a:solidFill><a:ln><a:noFill/></a:ln></p:spPr>
<p:txBody><a:bodyPr/><a:lstStyle/><a:p/></p:txBody></p:sp>
<p:sp><p:nvSpPr><p:cNvPr id="30" name="AT2"/><p:cNvSpPr txBox="1"><a:spLocks noGrp="1"/></p:cNvSpPr><p:nvPr/></p:nvSpPr>
<p:spPr><a:xfrm><a:off x="5376672" y="4370832"/><a:ext cx="2331720" cy="777240"/></a:xfrm><a:prstGeom prst="rect"><a:avLst/></a:prstGeom><a:noFill/></p:spPr>
<p:txBody><a:bodyPr wrap="square" anchor="ctr"><a:normAutofit/></a:bodyPr><a:lstStyle/><a:p><a:pPr algn="ctr"/>
<a:r><a:rPr lang="en-IN" sz="1380" b="1" dirty="0"><a:solidFill><a:srgbClr val="1A2E4A"/></a:solidFill><a:latin typeface="Calibri"/><a:cs typeface="Nirmala UI"/></a:rPr><a:t>Summarization</a:t></a:r></a:p></p:txBody></p:sp>
<p:sp><p:nvSpPr><p:cNvPr id="31" name="A3"/><p:cNvSpPr><a:spLocks noGrp="1"/></p:cNvSpPr><p:nvPr/></p:nvSpPr>
<p:spPr><a:xfrm><a:off x="7927848" y="4370832"/><a:ext cx="2331720" cy="777240"/></a:xfrm><a:prstGeom prst="roundRect"><a:avLst><a:gd name="adj" fmla="val 25000"/></a:avLst></a:prstGeom><a:solidFill><a:srgbClr val="A06BBE"/></a:solidFill><a:ln><a:noFill/></a:ln></p:spPr>
<p:txBody><a:bodyPr/><a:lstStyle/><a:p/></p:txBody></p:sp>
<p:sp><p:nvSpPr><p:cNvPr id="32" name="AT3"/><p:cNvSpPr txBox="1"><a:spLocks noGrp="1"/></p:cNvSpPr><p:nvPr/></p:nvSpPr>
<p:spPr><a:xfrm><a:off x="7927848" y="4370832"/><a:ext cx="2331720" cy="777240"/></a:xfrm><a:prstGeom prst="rect"><a:avLst/></a:prstGeom><a:noFill/></p:spPr>
<p:txBody><a:bodyPr wrap="square" anchor="ctr"><a:normAutofit/></a:bodyPr><a:lstStyle/><a:p><a:pPr algn="ctr"/>
<a:r><a:rPr lang="en-IN" sz="1380" b="1" dirty="0"><a:solidFill><a:srgbClr val="1A2E4A"/></a:solidFill><a:latin typeface="Calibri"/><a:cs typeface="Nirmala UI"/></a:rPr><a:t>Dialogue
Systems</a:t></a:r></a:p></p:txBody></p:sp>
<p:sp><p:nvSpPr><p:cNvPr id="33" name="NoteBar"/><p:cNvSpPr><a:spLocks noGrp="1"/></p:cNvSpPr><p:nvPr/></p:nvSpPr>
<p:spPr><a:xfrm><a:off x="274320" y="5321808"/><a:ext cx="54864" cy="548640"/></a:xfrm><a:prstGeom prst="rect"><a:avLst/></a:prstGeom><a:solidFill><a:srgbClr val="E05C5C"/></a:solidFill><a:ln><a:noFill/></a:ln></p:spPr>
<p:txBody><a:bodyPr/><a:lstStyle/><a:p/></p:txBody></p:sp>
<p:sp><p:nvSpPr><p:cNvPr id="34" name="NoteBox"/><p:cNvSpPr><a:spLocks noGrp="1"/></p:cNvSpPr><p:nvPr/></p:nvSpPr>
<p:spPr><a:xfrm><a:off x="347472" y="5321808"/><a:ext cx="10442448" cy="548640"/></a:xfrm><a:prstGeom prst="roundRect"><a:avLst><a:gd name="adj" fmla="val 16667"/></a:avLst></a:prstGeom><a:solidFill><a:srgbClr val="0D1B2E"/></a:solidFill><a:ln><a:noFill/></a:ln></p:spPr>
<p:txBody><a:bodyPr/><a:lstStyle/><a:p/></p:txBody></p:sp>
<p:sp><p:nvSpPr><p:cNvPr id="35" name="NoteTxt"/><p:cNvSpPr txBox="1"><a:spLocks noGrp="1"/></p:cNvSpPr><p:nvPr/></p:nvSpPr>
<p:spPr><a:xfrm><a:off x="502920" y="5358384"/><a:ext cx="10149840" cy="475488"/></a:xfrm><a:prstGeom prst="rect"><a:avLst/></a:prstGeom><a:noFill/></p:spPr>
<p:txBody><a:bodyPr wrap="square" anchor="t"><a:normAutofit/></a:bodyPr><a:lstStyle/><a:p><a:pPr algn="l"/>
<a:r><a:rPr lang="en-IN" sz="1300" b="0" dirty="0"><a:solidFill><a:srgbClr val="D0E4F7"/></a:solidFill><a:latin typeface="Calibri"/><a:cs typeface="Nirmala UI"/></a:rPr><a:t>Hindi NLP Context:  Hindi is the 3rd most spoken language globally (600M+ speakers), yet remains severely under-resourced.</a:t></a:r></a:p><a:p><a:pPr algn="l"/>
<a:r><a:rPr lang="en-IN" sz="1300" b="0" dirty="0"><a:solidFill><a:srgbClr val="8AAEC8"/></a:solidFill><a:latin typeface="Calibri"/><a:cs typeface="Nirmala UI"/></a:rPr><a:t>Coreference annotated datasets are scarce, and most tools target English — creating a critical research gap.</a:t></a:r></a:p></p:txBody></p:sp>
<p:sp><p:nvSpPr><p:cNvPr id="36" name="FB"/><p:cNvSpPr><a:spLocks noGrp="1"/></p:cNvSpPr><p:nvPr/></p:nvSpPr>
<p:spPr><a:xfrm><a:off x="0" y="6473952"/><a:ext cx="12192000" cy="384048"/></a:xfrm><a:prstGeom prst="rect"><a:avLst/></a:prstGeom><a:solidFill><a:srgbClr val="112238"/></a:solidFill><a:ln><a:noFill/></a:ln></p:spPr>
<p:txBody><a:bodyPr/><a:lstStyle/><a:p/></p:txBody></p:sp>
<p:sp><p:nvSpPr><p:cNvPr id="37" name="FL"/><p:cNvSpPr><a:spLocks noGrp="1"/></p:cNvSpPr><p:nvPr/></p:nvSpPr>
<p:spPr><a:xfrm><a:off x="0" y="6473952"/><a:ext cx="12192000" cy="36576"/></a:xfrm><a:prstGeom prst="rect"><a:avLst/></a:prstGeom><a:solidFill><a:srgbClr val="00C9B1"/></a:solidFill><a:ln><a:noFill/></a:ln></p:spPr>
<p:txBody><a:bodyPr/><a:lstStyle/><a:p/></p:txBody></p:sp>
<p:sp><p:nvSpPr><p:cNvPr id="38" name="FL2"/><p:cNvSpPr txBox="1"><a:spLocks noGrp="1"/></p:cNvSpPr><p:nvPr/></p:nvSpPr>
<p:spPr><a:xfrm><a:off x="274320" y="6510528"/><a:ext cx="5486400" cy="310896"/></a:xfrm><a:prstGeom prst="rect"><a:avLst/></a:prstGeom><a:noFill/></p:spPr>
<p:txBody><a:bodyPr wrap="square" anchor="t"><a:normAutofit/></a:bodyPr><a:lstStyle/><a:p><a:pPr algn="l"/>
<a:r><a:rPr lang="en-IN" sz="950" b="0" dirty="0"><a:solidFill><a:srgbClr val="8AAEC8"/></a:solidFill><a:latin typeface="Calibri"/><a:cs typeface="Nirmala UI"/></a:rPr><a:t>Hindi Coreference Resolution  |  CIT Kokrajhar</a:t></a:r></a:p></p:txBody></p:sp>
<p:sp><p:nvSpPr><p:cNvPr id="39" name="FR"/><p:cNvSpPr txBox="1"><a:spLocks noGrp="1"/></p:cNvSpPr><p:nvPr/></p:nvSpPr>
<p:spPr><a:xfrm><a:off x="7772400" y="6510528"/><a:ext cx="3200400" cy="310896"/></a:xfrm><a:prstGeom prst="rect"><a:avLst/></a:prstGeom><a:noFill/></p:spPr>
<p:txBody><a:bodyPr wrap="square" anchor="t"><a:normAutofit/></a:bodyPr><a:lstStyle/><a:p><a:pPr algn="r"/>
<a:r><a:rPr lang="en-IN" sz="950" b="0" dirty="0"><a:solidFill><a:srgbClr val="8AAEC8"/></a:solidFill><a:latin typeface="Calibri"/><a:cs typeface="Nirmala UI"/></a:rPr><a:t>B.Tech Project  |  2026</a:t></a:r></a:p></p:txBody></p:sp>
  </p:spTree></p:cSld>
  <p:clrMapOvr><a:masterClrMapping/></p:clrMapOvr>
</p:sld>
</file>

<file path=ppt/slides/slide4.xml><?xml version="1.0" encoding="UTF-8" standalone="yes"?>
<p:sld xmlns:p="http://schemas.openxmlformats.org/presentationml/2006/main"
       xmlns:a="http://schemas.openxmlformats.org/drawingml/2006/main"
       xmlns:r="http://schemas.openxmlformats.org/officeDocument/2006/relationships">
  <p:cSld><p:bg><p:bgPr><a:solidFill><a:srgbClr val="1A2E4A"/></a:solidFill><a:effectLst/></p:bgPr></p:bg>
  <p:spTree>
  <p:nvGrpSpPr><p:cNvPr id="1" name=""/><p:cNvGrpSpPr/><p:nvPr/></p:nvGrpSpPr>
  <p:grpSpPr><a:xfrm><a:off x="0" y="0"/><a:ext cx="12192000" cy="6858000"/><a:chOff x="0" y="0"/><a:chExt cx="12192000" cy="6858000"/></a:xfrm></p:grpSpPr>
  <p:sp><p:nvSpPr><p:cNvPr id="10" name="TopBar"/><p:cNvSpPr><a:spLocks noGrp="1"/></p:cNvSpPr><p:nvPr/></p:nvSpPr>
<p:spPr><a:xfrm><a:off x="0" y="0"/><a:ext cx="12192000" cy="1097280"/></a:xfrm><a:prstGeom prst="rect"><a:avLst/></a:prstGeom><a:solidFill><a:srgbClr val="112238"/></a:solidFill><a:ln><a:noFill/></a:ln></p:spPr>
<p:txBody><a:bodyPr/><a:lstStyle/><a:p/></p:txBody></p:sp>
<p:sp><p:nvSpPr><p:cNvPr id="11" name="AccLine"/><p:cNvSpPr><a:spLocks noGrp="1"/></p:cNvSpPr><p:nvPr/></p:nvSpPr>
<p:spPr><a:xfrm><a:off x="0" y="1097280"/><a:ext cx="12192000" cy="54864"/></a:xfrm><a:prstGeom prst="rect"><a:avLst/></a:prstGeom><a:solidFill><a:srgbClr val="00C9B1"/></a:solidFill><a:ln><a:noFill/></a:ln></p:spPr>
<p:txBody><a:bodyPr/><a:lstStyle/><a:p/></p:txBody></p:sp>
<p:sp><p:nvSpPr><p:cNvPr id="12" name="Title"/><p:cNvSpPr txBox="1"><a:spLocks noGrp="1"/></p:cNvSpPr><p:nvPr/></p:nvSpPr>
<p:spPr><a:xfrm><a:off x="365760" y="91440"/><a:ext cx="10424160" cy="777240"/></a:xfrm><a:prstGeom prst="rect"><a:avLst/></a:prstGeom><a:noFill/></p:spPr>
<p:txBody><a:bodyPr wrap="square" anchor="t"><a:normAutofit/></a:bodyPr><a:lstStyle/><a:p><a:pPr algn="l"/>
<a:r><a:rPr lang="en-IN" sz="2800" b="1" dirty="0"><a:solidFill><a:srgbClr val="FFFFFF"/></a:solidFill><a:latin typeface="Calibri"/><a:cs typeface="Nirmala UI"/></a:rPr><a:t>Challenges in Hindi Coreference</a:t></a:r></a:p></p:txBody></p:sp>
<p:sp><p:nvSpPr><p:cNvPr id="13" name="Sub"/><p:cNvSpPr txBox="1"><a:spLocks noGrp="1"/></p:cNvSpPr><p:nvPr/></p:nvSpPr>
<p:spPr><a:xfrm><a:off x="365760" y="749808"/><a:ext cx="9144000" cy="384048"/></a:xfrm><a:prstGeom prst="rect"><a:avLst/></a:prstGeom><a:noFill/></p:spPr>
<p:txBody><a:bodyPr wrap="square" anchor="t"><a:normAutofit/></a:bodyPr><a:lstStyle/><a:p><a:pPr algn="l"/>
<a:r><a:rPr lang="en-IN" sz="1300" b="0" dirty="0"><a:solidFill><a:srgbClr val="00C9B1"/></a:solidFill><a:latin typeface="Calibri"/><a:cs typeface="Nirmala UI"/></a:rPr><a:t>Five interconnected linguistic and resource barriers</a:t></a:r></a:p></p:txBody></p:sp>
<p:sp><p:nvSpPr><p:cNvPr id="14" name="CB"/><p:cNvSpPr><a:spLocks noGrp="1"/></p:cNvSpPr><p:nvPr/></p:nvSpPr>
<p:spPr><a:xfrm><a:off x="274320" y="1261872"/><a:ext cx="54864" cy="896112"/></a:xfrm><a:prstGeom prst="rect"><a:avLst/></a:prstGeom><a:solidFill><a:srgbClr val="00C9B1"/></a:solidFill><a:ln><a:noFill/></a:ln></p:spPr>
<p:txBody><a:bodyPr/><a:lstStyle/><a:p/></p:txBody></p:sp>
<p:sp><p:nvSpPr><p:cNvPr id="15" name="CC"/><p:cNvSpPr><a:spLocks noGrp="1"/></p:cNvSpPr><p:nvPr/></p:nvSpPr>
<p:spPr><a:xfrm><a:off x="347472" y="1261872"/><a:ext cx="10442448" cy="896112"/></a:xfrm><a:prstGeom prst="roundRect"><a:avLst><a:gd name="adj" fmla="val 16667"/></a:avLst></a:prstGeom><a:solidFill><a:srgbClr val="0D1B2E"/></a:solidFill><a:ln><a:noFill/></a:ln></p:spPr>
<p:txBody><a:bodyPr/><a:lstStyle/><a:p/></p:txBody></p:sp>
<p:sp><p:nvSpPr><p:cNvPr id="16" name="CT"/><p:cNvSpPr txBox="1"><a:spLocks noGrp="1"/></p:cNvSpPr><p:nvPr/></p:nvSpPr>
<p:spPr><a:xfrm><a:off x="457200" y="1325880"/><a:ext cx="10259568" cy="347472"/></a:xfrm><a:prstGeom prst="rect"><a:avLst/></a:prstGeom><a:noFill/></p:spPr>
<p:txBody><a:bodyPr wrap="square" anchor="t"><a:normAutofit/></a:bodyPr><a:lstStyle/><a:p><a:pPr algn="l"/>
<a:r><a:rPr lang="en-IN" sz="1450" b="1" dirty="0"><a:solidFill><a:srgbClr val="00C9B1"/></a:solidFill><a:latin typeface="Calibri"/><a:cs typeface="Nirmala UI"/></a:rPr><a:t>1. Morphological Richness</a:t></a:r></a:p></p:txBody></p:sp>
<p:sp><p:nvSpPr><p:cNvPr id="17" name="CI"/><p:cNvSpPr txBox="1"><a:spLocks noGrp="1"/></p:cNvSpPr><p:nvPr/></p:nvSpPr>
<p:spPr><a:xfrm><a:off x="457200" y="1700784"/><a:ext cx="10259568" cy="393192"/></a:xfrm><a:prstGeom prst="rect"><a:avLst/></a:prstGeom><a:noFill/></p:spPr>
<p:txBody><a:bodyPr wrap="square" anchor="t"><a:normAutofit/></a:bodyPr><a:lstStyle/><a:p><a:pPr indent="-228600" marL="228600"><a:spcBef><a:spcPts val="50"/></a:spcBef><a:lnSpc><a:spcPct val="108"/></a:lnSpc></a:pPr>
<a:r><a:rPr lang="en-IN" sz="1200" b="0" dirty="0"><a:solidFill><a:srgbClr val="00C9B1"/></a:solidFill><a:latin typeface="Calibri"/></a:rPr><a:t>▪  </a:t></a:r>
<a:r><a:rPr lang="en-IN" sz="1200" b="0" dirty="0"><a:solidFill><a:srgbClr val="D0E4F7"/></a:solidFill><a:latin typeface="Calibri"/><a:cs typeface="Nirmala UI"/></a:rPr><a:t>Hindi inflects verbs, nouns, and adjectives for gender, number, case, and tense</a:t></a:r></a:p><a:p><a:pPr indent="-228600" marL="228600"><a:spcBef><a:spcPts val="50"/></a:spcBef><a:lnSpc><a:spcPct val="108"/></a:lnSpc></a:pPr>
<a:r><a:rPr lang="en-IN" sz="1100" b="0" dirty="0"><a:solidFill><a:srgbClr val="8AAEC8"/></a:solidFill><a:latin typeface="Calibri"/></a:rPr><a:t>  ◦  </a:t></a:r>
<a:r><a:rPr lang="en-IN" sz="1100" b="0" dirty="0"><a:solidFill><a:srgbClr val="D0E4F7"/></a:solidFill><a:latin typeface="Calibri"/><a:cs typeface="Nirmala UI"/></a:rPr><a:t>e.g. 'लड़का' (boy) → 'लड़के' (boys) — same entity, different surface form</a:t></a:r></a:p><a:p><a:pPr indent="-228600" marL="228600"><a:spcBef><a:spcPts val="50"/></a:spcBef><a:lnSpc><a:spcPct val="108"/></a:lnSpc></a:pPr>
<a:r><a:rPr lang="en-IN" sz="1100" b="0" dirty="0"><a:solidFill><a:srgbClr val="8AAEC8"/></a:solidFill><a:latin typeface="Calibri"/></a:rPr><a:t>  ◦  </a:t></a:r>
<a:r><a:rPr lang="en-IN" sz="1100" b="0" dirty="0"><a:solidFill><a:srgbClr val="D0E4F7"/></a:solidFill><a:latin typeface="Calibri"/><a:cs typeface="Nirmala UI"/></a:rPr><a:t>e.g. 'गया' (he went) vs 'गई' (she went) — gender encoded in verb</a:t></a:r></a:p><a:p><a:pPr indent="-228600" marL="228600"><a:spcBef><a:spcPts val="50"/></a:spcBef><a:lnSpc><a:spcPct val="108"/></a:lnSpc></a:pPr>
<a:r><a:rPr lang="en-IN" sz="1200" b="0" dirty="0"><a:solidFill><a:srgbClr val="00C9B1"/></a:solidFill><a:latin typeface="Calibri"/></a:rPr><a:t>▪  </a:t></a:r>
<a:r><a:rPr lang="en-IN" sz="1200" b="0" dirty="0"><a:solidFill><a:srgbClr val="D0E4F7"/></a:solidFill><a:latin typeface="Calibri"/><a:cs typeface="Nirmala UI"/></a:rPr><a:t>Surface-level string matching fails completely for mention detection</a:t></a:r></a:p><a:p><a:pPr indent="-228600" marL="228600"><a:spcBef><a:spcPts val="50"/></a:spcBef><a:lnSpc><a:spcPct val="108"/></a:lnSpc></a:pPr>
<a:r><a:rPr lang="en-IN" sz="1200" b="0" dirty="0"><a:solidFill><a:srgbClr val="00C9B1"/></a:solidFill><a:latin typeface="Calibri"/></a:rPr><a:t>▪  </a:t></a:r>
<a:r><a:rPr lang="en-IN" sz="1200" b="0" dirty="0"><a:solidFill><a:srgbClr val="D0E4F7"/></a:solidFill><a:latin typeface="Calibri"/><a:cs typeface="Nirmala UI"/></a:rPr><a:t>Requires morphological analysis before any similarity computation</a:t></a:r></a:p></p:txBody></p:sp>
<p:sp><p:nvSpPr><p:cNvPr id="18" name="CB"/><p:cNvSpPr><a:spLocks noGrp="1"/></p:cNvSpPr><p:nvPr/></p:nvSpPr>
<p:spPr><a:xfrm><a:off x="274320" y="2240280"/><a:ext cx="54864" cy="896112"/></a:xfrm><a:prstGeom prst="rect"><a:avLst/></a:prstGeom><a:solidFill><a:srgbClr val="F5A623"/></a:solidFill><a:ln><a:noFill/></a:ln></p:spPr>
<p:txBody><a:bodyPr/><a:lstStyle/><a:p/></p:txBody></p:sp>
<p:sp><p:nvSpPr><p:cNvPr id="19" name="CC"/><p:cNvSpPr><a:spLocks noGrp="1"/></p:cNvSpPr><p:nvPr/></p:nvSpPr>
<p:spPr><a:xfrm><a:off x="347472" y="2240280"/><a:ext cx="10442448" cy="896112"/></a:xfrm><a:prstGeom prst="roundRect"><a:avLst><a:gd name="adj" fmla="val 16667"/></a:avLst></a:prstGeom><a:solidFill><a:srgbClr val="0D1B2E"/></a:solidFill><a:ln><a:noFill/></a:ln></p:spPr>
<p:txBody><a:bodyPr/><a:lstStyle/><a:p/></p:txBody></p:sp>
<p:sp><p:nvSpPr><p:cNvPr id="20" name="CT"/><p:cNvSpPr txBox="1"><a:spLocks noGrp="1"/></p:cNvSpPr><p:nvPr/></p:nvSpPr>
<p:spPr><a:xfrm><a:off x="457200" y="2304288"/><a:ext cx="10259568" cy="347472"/></a:xfrm><a:prstGeom prst="rect"><a:avLst/></a:prstGeom><a:noFill/></p:spPr>
<p:txBody><a:bodyPr wrap="square" anchor="t"><a:normAutofit/></a:bodyPr><a:lstStyle/><a:p><a:pPr algn="l"/>
<a:r><a:rPr lang="en-IN" sz="1450" b="1" dirty="0"><a:solidFill><a:srgbClr val="F5A623"/></a:solidFill><a:latin typeface="Calibri"/><a:cs typeface="Nirmala UI"/></a:rPr><a:t>2. Free Word Order (SOV)</a:t></a:r></a:p></p:txBody></p:sp>
<p:sp><p:nvSpPr><p:cNvPr id="21" name="CI"/><p:cNvSpPr txBox="1"><a:spLocks noGrp="1"/></p:cNvSpPr><p:nvPr/></p:nvSpPr>
<p:spPr><a:xfrm><a:off x="457200" y="2679192"/><a:ext cx="10259568" cy="393192"/></a:xfrm><a:prstGeom prst="rect"><a:avLst/></a:prstGeom><a:noFill/></p:spPr>
<p:txBody><a:bodyPr wrap="square" anchor="t"><a:normAutofit/></a:bodyPr><a:lstStyle/><a:p><a:pPr indent="-228600" marL="228600"><a:spcBef><a:spcPts val="50"/></a:spcBef><a:lnSpc><a:spcPct val="108"/></a:lnSpc></a:pPr>
<a:r><a:rPr lang="en-IN" sz="1200" b="0" dirty="0"><a:solidFill><a:srgbClr val="F5A623"/></a:solidFill><a:latin typeface="Calibri"/></a:rPr><a:t>▪  </a:t></a:r>
<a:r><a:rPr lang="en-IN" sz="1200" b="0" dirty="0"><a:solidFill><a:srgbClr val="D0E4F7"/></a:solidFill><a:latin typeface="Calibri"/><a:cs typeface="Nirmala UI"/></a:rPr><a:t>Hindi follows Subject-Object-Verb order unlike English (SVO)</a:t></a:r></a:p><a:p><a:pPr indent="-228600" marL="228600"><a:spcBef><a:spcPts val="50"/></a:spcBef><a:lnSpc><a:spcPct val="108"/></a:lnSpc></a:pPr>
<a:r><a:rPr lang="en-IN" sz="1100" b="0" dirty="0"><a:solidFill><a:srgbClr val="8AAEC8"/></a:solidFill><a:latin typeface="Calibri"/></a:rPr><a:t>  ◦  </a:t></a:r>
<a:r><a:rPr lang="en-IN" sz="1100" b="0" dirty="0"><a:solidFill><a:srgbClr val="D0E4F7"/></a:solidFill><a:latin typeface="Calibri"/><a:cs typeface="Nirmala UI"/></a:rPr><a:t>e.g. 'राम ने सेब खाया' (Ram-NOM apple-ACC ate) = 'Ram ate the apple'</a:t></a:r></a:p><a:p><a:pPr indent="-228600" marL="228600"><a:spcBef><a:spcPts val="50"/></a:spcBef><a:lnSpc><a:spcPct val="108"/></a:lnSpc></a:pPr>
<a:r><a:rPr lang="en-IN" sz="1200" b="0" dirty="0"><a:solidFill><a:srgbClr val="F5A623"/></a:solidFill><a:latin typeface="Calibri"/></a:rPr><a:t>▪  </a:t></a:r>
<a:r><a:rPr lang="en-IN" sz="1200" b="0" dirty="0"><a:solidFill><a:srgbClr val="D0E4F7"/></a:solidFill><a:latin typeface="Calibri"/><a:cs typeface="Nirmala UI"/></a:rPr><a:t>Constituent order varies freely; positional heuristics are unreliable</a:t></a:r></a:p><a:p><a:pPr indent="-228600" marL="228600"><a:spcBef><a:spcPts val="50"/></a:spcBef><a:lnSpc><a:spcPct val="108"/></a:lnSpc></a:pPr>
<a:r><a:rPr lang="en-IN" sz="1200" b="0" dirty="0"><a:solidFill><a:srgbClr val="F5A623"/></a:solidFill><a:latin typeface="Calibri"/></a:rPr><a:t>▪  </a:t></a:r>
<a:r><a:rPr lang="en-IN" sz="1200" b="0" dirty="0"><a:solidFill><a:srgbClr val="D0E4F7"/></a:solidFill><a:latin typeface="Calibri"/><a:cs typeface="Nirmala UI"/></a:rPr><a:t>Parser outputs differ significantly from English dependency trees</a:t></a:r></a:p><a:p><a:pPr indent="-228600" marL="228600"><a:spcBef><a:spcPts val="50"/></a:spcBef><a:lnSpc><a:spcPct val="108"/></a:lnSpc></a:pPr>
<a:r><a:rPr lang="en-IN" sz="1200" b="0" dirty="0"><a:solidFill><a:srgbClr val="F5A623"/></a:solidFill><a:latin typeface="Calibri"/></a:rPr><a:t>▪  </a:t></a:r>
<a:r><a:rPr lang="en-IN" sz="1200" b="0" dirty="0"><a:solidFill><a:srgbClr val="D0E4F7"/></a:solidFill><a:latin typeface="Calibri"/><a:cs typeface="Nirmala UI"/></a:rPr><a:t>Antecedent search window cannot rely on positional proximity</a:t></a:r></a:p></p:txBody></p:sp>
<p:sp><p:nvSpPr><p:cNvPr id="22" name="CB"/><p:cNvSpPr><a:spLocks noGrp="1"/></p:cNvSpPr><p:nvPr/></p:nvSpPr>
<p:spPr><a:xfrm><a:off x="274320" y="3218688"/><a:ext cx="54864" cy="896112"/></a:xfrm><a:prstGeom prst="rect"><a:avLst/></a:prstGeom><a:solidFill><a:srgbClr val="5C9BD6"/></a:solidFill><a:ln><a:noFill/></a:ln></p:spPr>
<p:txBody><a:bodyPr/><a:lstStyle/><a:p/></p:txBody></p:sp>
<p:sp><p:nvSpPr><p:cNvPr id="23" name="CC"/><p:cNvSpPr><a:spLocks noGrp="1"/></p:cNvSpPr><p:nvPr/></p:nvSpPr>
<p:spPr><a:xfrm><a:off x="347472" y="3218688"/><a:ext cx="10442448" cy="896112"/></a:xfrm><a:prstGeom prst="roundRect"><a:avLst><a:gd name="adj" fmla="val 16667"/></a:avLst></a:prstGeom><a:solidFill><a:srgbClr val="0D1B2E"/></a:solidFill><a:ln><a:noFill/></a:ln></p:spPr>
<p:txBody><a:bodyPr/><a:lstStyle/><a:p/></p:txBody></p:sp>
<p:sp><p:nvSpPr><p:cNvPr id="24" name="CT"/><p:cNvSpPr txBox="1"><a:spLocks noGrp="1"/></p:cNvSpPr><p:nvPr/></p:nvSpPr>
<p:spPr><a:xfrm><a:off x="457200" y="3282696"/><a:ext cx="10259568" cy="347472"/></a:xfrm><a:prstGeom prst="rect"><a:avLst/></a:prstGeom><a:noFill/></p:spPr>
<p:txBody><a:bodyPr wrap="square" anchor="t"><a:normAutofit/></a:bodyPr><a:lstStyle/><a:p><a:pPr algn="l"/>
<a:r><a:rPr lang="en-IN" sz="1450" b="1" dirty="0"><a:solidFill><a:srgbClr val="5C9BD6"/></a:solidFill><a:latin typeface="Calibri"/><a:cs typeface="Nirmala UI"/></a:rPr><a:t>3. Pro-Drop Phenomenon</a:t></a:r></a:p></p:txBody></p:sp>
<p:sp><p:nvSpPr><p:cNvPr id="25" name="CI"/><p:cNvSpPr txBox="1"><a:spLocks noGrp="1"/></p:cNvSpPr><p:nvPr/></p:nvSpPr>
<p:spPr><a:xfrm><a:off x="457200" y="3657600"/><a:ext cx="10259568" cy="393192"/></a:xfrm><a:prstGeom prst="rect"><a:avLst/></a:prstGeom><a:noFill/></p:spPr>
<p:txBody><a:bodyPr wrap="square" anchor="t"><a:normAutofit/></a:bodyPr><a:lstStyle/><a:p><a:pPr indent="-228600" marL="228600"><a:spcBef><a:spcPts val="50"/></a:spcBef><a:lnSpc><a:spcPct val="108"/></a:lnSpc></a:pPr>
<a:r><a:rPr lang="en-IN" sz="1200" b="0" dirty="0"><a:solidFill><a:srgbClr val="5C9BD6"/></a:solidFill><a:latin typeface="Calibri"/></a:rPr><a:t>▪  </a:t></a:r>
<a:r><a:rPr lang="en-IN" sz="1200" b="0" dirty="0"><a:solidFill><a:srgbClr val="D0E4F7"/></a:solidFill><a:latin typeface="Calibri"/><a:cs typeface="Nirmala UI"/></a:rPr><a:t>Hindi is a pro-drop language — subject pronouns are frequently omitted</a:t></a:r></a:p><a:p><a:pPr indent="-228600" marL="228600"><a:spcBef><a:spcPts val="50"/></a:spcBef><a:lnSpc><a:spcPct val="108"/></a:lnSpc></a:pPr>
<a:r><a:rPr lang="en-IN" sz="1100" b="0" dirty="0"><a:solidFill><a:srgbClr val="8AAEC8"/></a:solidFill><a:latin typeface="Calibri"/></a:rPr><a:t>  ◦  </a:t></a:r>
<a:r><a:rPr lang="en-IN" sz="1100" b="0" dirty="0"><a:solidFill><a:srgbClr val="D0E4F7"/></a:solidFill><a:latin typeface="Calibri"/><a:cs typeface="Nirmala UI"/></a:rPr><a:t>e.g. 'घर गया।' means 'He/She went home' — pronoun is implicit</a:t></a:r></a:p><a:p><a:pPr indent="-228600" marL="228600"><a:spcBef><a:spcPts val="50"/></a:spcBef><a:lnSpc><a:spcPct val="108"/></a:lnSpc></a:pPr>
<a:r><a:rPr lang="en-IN" sz="1200" b="0" dirty="0"><a:solidFill><a:srgbClr val="5C9BD6"/></a:solidFill><a:latin typeface="Calibri"/></a:rPr><a:t>▪  </a:t></a:r>
<a:r><a:rPr lang="en-IN" sz="1200" b="0" dirty="0"><a:solidFill><a:srgbClr val="D0E4F7"/></a:solidFill><a:latin typeface="Calibri"/><a:cs typeface="Nirmala UI"/></a:rPr><a:t>Zero-anaphora resolution requires deep discourse modeling</a:t></a:r></a:p><a:p><a:pPr indent="-228600" marL="228600"><a:spcBef><a:spcPts val="50"/></a:spcBef><a:lnSpc><a:spcPct val="108"/></a:lnSpc></a:pPr>
<a:r><a:rPr lang="en-IN" sz="1200" b="0" dirty="0"><a:solidFill><a:srgbClr val="5C9BD6"/></a:solidFill><a:latin typeface="Calibri"/></a:rPr><a:t>▪  </a:t></a:r>
<a:r><a:rPr lang="en-IN" sz="1200" b="0" dirty="0"><a:solidFill><a:srgbClr val="D0E4F7"/></a:solidFill><a:latin typeface="Calibri"/><a:cs typeface="Nirmala UI"/></a:rPr><a:t>Standard mention-detection pipelines miss implicit mentions entirely</a:t></a:r></a:p><a:p><a:pPr indent="-228600" marL="228600"><a:spcBef><a:spcPts val="50"/></a:spcBef><a:lnSpc><a:spcPct val="108"/></a:lnSpc></a:pPr>
<a:r><a:rPr lang="en-IN" sz="1200" b="0" dirty="0"><a:solidFill><a:srgbClr val="5C9BD6"/></a:solidFill><a:latin typeface="Calibri"/></a:rPr><a:t>▪  </a:t></a:r>
<a:r><a:rPr lang="en-IN" sz="1200" b="0" dirty="0"><a:solidFill><a:srgbClr val="D0E4F7"/></a:solidFill><a:latin typeface="Calibri"/><a:cs typeface="Nirmala UI"/></a:rPr><a:t>Particularly challenging for pronoun-antecedent coreference chains</a:t></a:r></a:p></p:txBody></p:sp>
<p:sp><p:nvSpPr><p:cNvPr id="26" name="CB"/><p:cNvSpPr><a:spLocks noGrp="1"/></p:cNvSpPr><p:nvPr/></p:nvSpPr>
<p:spPr><a:xfrm><a:off x="274320" y="4197096"/><a:ext cx="54864" cy="896112"/></a:xfrm><a:prstGeom prst="rect"><a:avLst/></a:prstGeom><a:solidFill><a:srgbClr val="A06BBE"/></a:solidFill><a:ln><a:noFill/></a:ln></p:spPr>
<p:txBody><a:bodyPr/><a:lstStyle/><a:p/></p:txBody></p:sp>
<p:sp><p:nvSpPr><p:cNvPr id="27" name="CC"/><p:cNvSpPr><a:spLocks noGrp="1"/></p:cNvSpPr><p:nvPr/></p:nvSpPr>
<p:spPr><a:xfrm><a:off x="347472" y="4197096"/><a:ext cx="10442448" cy="896112"/></a:xfrm><a:prstGeom prst="roundRect"><a:avLst><a:gd name="adj" fmla="val 16667"/></a:avLst></a:prstGeom><a:solidFill><a:srgbClr val="0D1B2E"/></a:solidFill><a:ln><a:noFill/></a:ln></p:spPr>
<p:txBody><a:bodyPr/><a:lstStyle/><a:p/></p:txBody></p:sp>
<p:sp><p:nvSpPr><p:cNvPr id="28" name="CT"/><p:cNvSpPr txBox="1"><a:spLocks noGrp="1"/></p:cNvSpPr><p:nvPr/></p:nvSpPr>
<p:spPr><a:xfrm><a:off x="457200" y="4261104"/><a:ext cx="10259568" cy="347472"/></a:xfrm><a:prstGeom prst="rect"><a:avLst/></a:prstGeom><a:noFill/></p:spPr>
<p:txBody><a:bodyPr wrap="square" anchor="t"><a:normAutofit/></a:bodyPr><a:lstStyle/><a:p><a:pPr algn="l"/>
<a:r><a:rPr lang="en-IN" sz="1450" b="1" dirty="0"><a:solidFill><a:srgbClr val="A06BBE"/></a:solidFill><a:latin typeface="Calibri"/><a:cs typeface="Nirmala UI"/></a:rPr><a:t>4. Devanagari Script Complexity</a:t></a:r></a:p></p:txBody></p:sp>
<p:sp><p:nvSpPr><p:cNvPr id="29" name="CI"/><p:cNvSpPr txBox="1"><a:spLocks noGrp="1"/></p:cNvSpPr><p:nvPr/></p:nvSpPr>
<p:spPr><a:xfrm><a:off x="457200" y="4636008"/><a:ext cx="10259568" cy="393192"/></a:xfrm><a:prstGeom prst="rect"><a:avLst/></a:prstGeom><a:noFill/></p:spPr>
<p:txBody><a:bodyPr wrap="square" anchor="t"><a:normAutofit/></a:bodyPr><a:lstStyle/><a:p><a:pPr indent="-228600" marL="228600"><a:spcBef><a:spcPts val="50"/></a:spcBef><a:lnSpc><a:spcPct val="108"/></a:lnSpc></a:pPr>
<a:r><a:rPr lang="en-IN" sz="1200" b="0" dirty="0"><a:solidFill><a:srgbClr val="A06BBE"/></a:solidFill><a:latin typeface="Calibri"/></a:rPr><a:t>▪  </a:t></a:r>
<a:r><a:rPr lang="en-IN" sz="1200" b="0" dirty="0"><a:solidFill><a:srgbClr val="D0E4F7"/></a:solidFill><a:latin typeface="Calibri"/><a:cs typeface="Nirmala UI"/></a:rPr><a:t>Conjunct consonants (संयुक्त व्यंजन) create multi-character glyphs</a:t></a:r></a:p><a:p><a:pPr indent="-228600" marL="228600"><a:spcBef><a:spcPts val="50"/></a:spcBef><a:lnSpc><a:spcPct val="108"/></a:lnSpc></a:pPr>
<a:r><a:rPr lang="en-IN" sz="1200" b="0" dirty="0"><a:solidFill><a:srgbClr val="A06BBE"/></a:solidFill><a:latin typeface="Calibri"/></a:rPr><a:t>▪  </a:t></a:r>
<a:r><a:rPr lang="en-IN" sz="1200" b="0" dirty="0"><a:solidFill><a:srgbClr val="D0E4F7"/></a:solidFill><a:latin typeface="Calibri"/><a:cs typeface="Nirmala UI"/></a:rPr><a:t>Zero-width joiners and halant characters complicate tokenization</a:t></a:r></a:p><a:p><a:pPr indent="-228600" marL="228600"><a:spcBef><a:spcPts val="50"/></a:spcBef><a:lnSpc><a:spcPct val="108"/></a:lnSpc></a:pPr>
<a:r><a:rPr lang="en-IN" sz="1100" b="0" dirty="0"><a:solidFill><a:srgbClr val="8AAEC8"/></a:solidFill><a:latin typeface="Calibri"/></a:rPr><a:t>  ◦  </a:t></a:r>
<a:r><a:rPr lang="en-IN" sz="1100" b="0" dirty="0"><a:solidFill><a:srgbClr val="D0E4F7"/></a:solidFill><a:latin typeface="Calibri"/><a:cs typeface="Nirmala UI"/></a:rPr><a:t>e.g. 'क्ष' is two unicode codepoints but one logical character</a:t></a:r></a:p><a:p><a:pPr indent="-228600" marL="228600"><a:spcBef><a:spcPts val="50"/></a:spcBef><a:lnSpc><a:spcPct val="108"/></a:lnSpc></a:pPr>
<a:r><a:rPr lang="en-IN" sz="1200" b="0" dirty="0"><a:solidFill><a:srgbClr val="A06BBE"/></a:solidFill><a:latin typeface="Calibri"/></a:rPr><a:t>▪  </a:t></a:r>
<a:r><a:rPr lang="en-IN" sz="1200" b="0" dirty="0"><a:solidFill><a:srgbClr val="D0E4F7"/></a:solidFill><a:latin typeface="Calibri"/><a:cs typeface="Nirmala UI"/></a:rPr><a:t>Off-the-shelf tokenizers trained on English fail on Devanagari</a:t></a:r></a:p><a:p><a:pPr indent="-228600" marL="228600"><a:spcBef><a:spcPts val="50"/></a:spcBef><a:lnSpc><a:spcPct val="108"/></a:lnSpc></a:pPr>
<a:r><a:rPr lang="en-IN" sz="1200" b="0" dirty="0"><a:solidFill><a:srgbClr val="A06BBE"/></a:solidFill><a:latin typeface="Calibri"/></a:rPr><a:t>▪  </a:t></a:r>
<a:r><a:rPr lang="en-IN" sz="1200" b="0" dirty="0"><a:solidFill><a:srgbClr val="D0E4F7"/></a:solidFill><a:latin typeface="Calibri"/><a:cs typeface="Nirmala UI"/></a:rPr><a:t>SentencePiece BPE must be retrained specifically on Hindi corpus</a:t></a:r></a:p></p:txBody></p:sp>
<p:sp><p:nvSpPr><p:cNvPr id="30" name="CB"/><p:cNvSpPr><a:spLocks noGrp="1"/></p:cNvSpPr><p:nvPr/></p:nvSpPr>
<p:spPr><a:xfrm><a:off x="274320" y="5175504"/><a:ext cx="54864" cy="896112"/></a:xfrm><a:prstGeom prst="rect"><a:avLst/></a:prstGeom><a:solidFill><a:srgbClr val="E05C5C"/></a:solidFill><a:ln><a:noFill/></a:ln></p:spPr>
<p:txBody><a:bodyPr/><a:lstStyle/><a:p/></p:txBody></p:sp>
<p:sp><p:nvSpPr><p:cNvPr id="31" name="CC"/><p:cNvSpPr><a:spLocks noGrp="1"/></p:cNvSpPr><p:nvPr/></p:nvSpPr>
<p:spPr><a:xfrm><a:off x="347472" y="5175504"/><a:ext cx="10442448" cy="896112"/></a:xfrm><a:prstGeom prst="roundRect"><a:avLst><a:gd name="adj" fmla="val 16667"/></a:avLst></a:prstGeom><a:solidFill><a:srgbClr val="0D1B2E"/></a:solidFill><a:ln><a:noFill/></a:ln></p:spPr>
<p:txBody><a:bodyPr/><a:lstStyle/><a:p/></p:txBody></p:sp>
<p:sp><p:nvSpPr><p:cNvPr id="32" name="CT"/><p:cNvSpPr txBox="1"><a:spLocks noGrp="1"/></p:cNvSpPr><p:nvPr/></p:nvSpPr>
<p:spPr><a:xfrm><a:off x="457200" y="5239512"/><a:ext cx="10259568" cy="347472"/></a:xfrm><a:prstGeom prst="rect"><a:avLst/></a:prstGeom><a:noFill/></p:spPr>
<p:txBody><a:bodyPr wrap="square" anchor="t"><a:normAutofit/></a:bodyPr><a:lstStyle/><a:p><a:pPr algn="l"/>
<a:r><a:rPr lang="en-IN" sz="1450" b="1" dirty="0"><a:solidFill><a:srgbClr val="E05C5C"/></a:solidFill><a:latin typeface="Calibri"/><a:cs typeface="Nirmala UI"/></a:rPr><a:t>5. Dataset Scarcity</a:t></a:r></a:p></p:txBody></p:sp>
<p:sp><p:nvSpPr><p:cNvPr id="33" name="CI"/><p:cNvSpPr txBox="1"><a:spLocks noGrp="1"/></p:cNvSpPr><p:nvPr/></p:nvSpPr>
<p:spPr><a:xfrm><a:off x="457200" y="5614416"/><a:ext cx="10259568" cy="393192"/></a:xfrm><a:prstGeom prst="rect"><a:avLst/></a:prstGeom><a:noFill/></p:spPr>
<p:txBody><a:bodyPr wrap="square" anchor="t"><a:normAutofit/></a:bodyPr><a:lstStyle/><a:p><a:pPr indent="-228600" marL="228600"><a:spcBef><a:spcPts val="50"/></a:spcBef><a:lnSpc><a:spcPct val="108"/></a:lnSpc></a:pPr>
<a:r><a:rPr lang="en-IN" sz="1200" b="0" dirty="0"><a:solidFill><a:srgbClr val="E05C5C"/></a:solidFill><a:latin typeface="Calibri"/></a:rPr><a:t>▪  </a:t></a:r>
<a:r><a:rPr lang="en-IN" sz="1200" b="0" dirty="0"><a:solidFill><a:srgbClr val="D0E4F7"/></a:solidFill><a:latin typeface="Calibri"/><a:cs typeface="Nirmala UI"/></a:rPr><a:t>No large-scale, publicly available Hindi coreference corpus exists</a:t></a:r></a:p><a:p><a:pPr indent="-228600" marL="228600"><a:spcBef><a:spcPts val="50"/></a:spcBef><a:lnSpc><a:spcPct val="108"/></a:lnSpc></a:pPr>
<a:r><a:rPr lang="en-IN" sz="1200" b="0" dirty="0"><a:solidFill><a:srgbClr val="E05C5C"/></a:solidFill><a:latin typeface="Calibri"/></a:rPr><a:t>▪  </a:t></a:r>
<a:r><a:rPr lang="en-IN" sz="1200" b="0" dirty="0"><a:solidFill><a:srgbClr val="D0E4F7"/></a:solidFill><a:latin typeface="Calibri"/><a:cs typeface="Nirmala UI"/></a:rPr><a:t>OntoNotes 5.0 covers only a tiny fraction of Hindi (< 2% of dataset)</a:t></a:r></a:p><a:p><a:pPr indent="-228600" marL="228600"><a:spcBef><a:spcPts val="50"/></a:spcBef><a:lnSpc><a:spcPct val="108"/></a:lnSpc></a:pPr>
<a:r><a:rPr lang="en-IN" sz="1200" b="0" dirty="0"><a:solidFill><a:srgbClr val="E05C5C"/></a:solidFill><a:latin typeface="Calibri"/></a:rPr><a:t>▪  </a:t></a:r>
<a:r><a:rPr lang="en-IN" sz="1200" b="0" dirty="0"><a:solidFill><a:srgbClr val="D0E4F7"/></a:solidFill><a:latin typeface="Calibri"/><a:cs typeface="Nirmala UI"/></a:rPr><a:t>Manual annotation is expensive: requires bilingual linguistic expertise</a:t></a:r></a:p><a:p><a:pPr indent="-228600" marL="228600"><a:spcBef><a:spcPts val="50"/></a:spcBef><a:lnSpc><a:spcPct val="108"/></a:lnSpc></a:pPr>
<a:r><a:rPr lang="en-IN" sz="1200" b="0" dirty="0"><a:solidFill><a:srgbClr val="E05C5C"/></a:solidFill><a:latin typeface="Calibri"/></a:rPr><a:t>▪  </a:t></a:r>
<a:r><a:rPr lang="en-IN" sz="1200" b="0" dirty="0"><a:solidFill><a:srgbClr val="D0E4F7"/></a:solidFill><a:latin typeface="Calibri"/><a:cs typeface="Nirmala UI"/></a:rPr><a:t>Existing rule-based systems not transferable to neural architectures</a:t></a:r></a:p><a:p><a:pPr indent="-228600" marL="228600"><a:spcBef><a:spcPts val="50"/></a:spcBef><a:lnSpc><a:spcPct val="108"/></a:lnSpc></a:pPr>
<a:r><a:rPr lang="en-IN" sz="1200" b="0" dirty="0"><a:solidFill><a:srgbClr val="E05C5C"/></a:solidFill><a:latin typeface="Calibri"/></a:rPr><a:t>▪  </a:t></a:r>
<a:r><a:rPr lang="en-IN" sz="1200" b="0" dirty="0"><a:solidFill><a:srgbClr val="D0E4F7"/></a:solidFill><a:latin typeface="Calibri"/><a:cs typeface="Nirmala UI"/></a:rPr><a:t>This project addresses the gap by creating a new annotated benchmark</a:t></a:r></a:p></p:txBody></p:sp>
<p:sp><p:nvSpPr><p:cNvPr id="34" name="FB"/><p:cNvSpPr><a:spLocks noGrp="1"/></p:cNvSpPr><p:nvPr/></p:nvSpPr>
<p:spPr><a:xfrm><a:off x="0" y="6473952"/><a:ext cx="12192000" cy="384048"/></a:xfrm><a:prstGeom prst="rect"><a:avLst/></a:prstGeom><a:solidFill><a:srgbClr val="112238"/></a:solidFill><a:ln><a:noFill/></a:ln></p:spPr>
<p:txBody><a:bodyPr/><a:lstStyle/><a:p/></p:txBody></p:sp>
<p:sp><p:nvSpPr><p:cNvPr id="35" name="FL"/><p:cNvSpPr><a:spLocks noGrp="1"/></p:cNvSpPr><p:nvPr/></p:nvSpPr>
<p:spPr><a:xfrm><a:off x="0" y="6473952"/><a:ext cx="12192000" cy="36576"/></a:xfrm><a:prstGeom prst="rect"><a:avLst/></a:prstGeom><a:solidFill><a:srgbClr val="00C9B1"/></a:solidFill><a:ln><a:noFill/></a:ln></p:spPr>
<p:txBody><a:bodyPr/><a:lstStyle/><a:p/></p:txBody></p:sp>
<p:sp><p:nvSpPr><p:cNvPr id="36" name="FL2"/><p:cNvSpPr txBox="1"><a:spLocks noGrp="1"/></p:cNvSpPr><p:nvPr/></p:nvSpPr>
<p:spPr><a:xfrm><a:off x="274320" y="6510528"/><a:ext cx="5486400" cy="310896"/></a:xfrm><a:prstGeom prst="rect"><a:avLst/></a:prstGeom><a:noFill/></p:spPr>
<p:txBody><a:bodyPr wrap="square" anchor="t"><a:normAutofit/></a:bodyPr><a:lstStyle/><a:p><a:pPr algn="l"/>
<a:r><a:rPr lang="en-IN" sz="950" b="0" dirty="0"><a:solidFill><a:srgbClr val="8AAEC8"/></a:solidFill><a:latin typeface="Calibri"/><a:cs typeface="Nirmala UI"/></a:rPr><a:t>Hindi Coreference Resolution  |  CIT Kokrajhar</a:t></a:r></a:p></p:txBody></p:sp>
<p:sp><p:nvSpPr><p:cNvPr id="37" name="FR"/><p:cNvSpPr txBox="1"><a:spLocks noGrp="1"/></p:cNvSpPr><p:nvPr/></p:nvSpPr>
<p:spPr><a:xfrm><a:off x="7772400" y="6510528"/><a:ext cx="3200400" cy="310896"/></a:xfrm><a:prstGeom prst="rect"><a:avLst/></a:prstGeom><a:noFill/></p:spPr>
<p:txBody><a:bodyPr wrap="square" anchor="t"><a:normAutofit/></a:bodyPr><a:lstStyle/><a:p><a:pPr algn="r"/>
<a:r><a:rPr lang="en-IN" sz="950" b="0" dirty="0"><a:solidFill><a:srgbClr val="8AAEC8"/></a:solidFill><a:latin typeface="Calibri"/><a:cs typeface="Nirmala UI"/></a:rPr><a:t>B.Tech Project  |  2026</a:t></a:r></a:p></p:txBody></p:sp>
  </p:spTree></p:cSld>
  <p:clrMapOvr><a:masterClrMapping/></p:clrMapOvr>
</p:sld>
</file>

<file path=ppt/slides/slide5.xml><?xml version="1.0" encoding="UTF-8" standalone="yes"?>
<p:sld xmlns:p="http://schemas.openxmlformats.org/presentationml/2006/main"
       xmlns:a="http://schemas.openxmlformats.org/drawingml/2006/main"
       xmlns:r="http://schemas.openxmlformats.org/officeDocument/2006/relationships">
  <p:cSld><p:bg><p:bgPr><a:solidFill><a:srgbClr val="1A2E4A"/></a:solidFill><a:effectLst/></p:bgPr></p:bg>
  <p:spTree>
  <p:nvGrpSpPr><p:cNvPr id="1" name=""/><p:cNvGrpSpPr/><p:nvPr/></p:nvGrpSpPr>
  <p:grpSpPr><a:xfrm><a:off x="0" y="0"/><a:ext cx="12192000" cy="6858000"/><a:chOff x="0" y="0"/><a:chExt cx="12192000" cy="6858000"/></a:xfrm></p:grpSpPr>
  <p:sp><p:nvSpPr><p:cNvPr id="10" name="TopBar"/><p:cNvSpPr><a:spLocks noGrp="1"/></p:cNvSpPr><p:nvPr/></p:nvSpPr>
<p:spPr><a:xfrm><a:off x="0" y="0"/><a:ext cx="12192000" cy="1097280"/></a:xfrm><a:prstGeom prst="rect"><a:avLst/></a:prstGeom><a:solidFill><a:srgbClr val="112238"/></a:solidFill><a:ln><a:noFill/></a:ln></p:spPr>
<p:txBody><a:bodyPr/><a:lstStyle/><a:p/></p:txBody></p:sp>
<p:sp><p:nvSpPr><p:cNvPr id="11" name="AccLine"/><p:cNvSpPr><a:spLocks noGrp="1"/></p:cNvSpPr><p:nvPr/></p:nvSpPr>
<p:spPr><a:xfrm><a:off x="0" y="1097280"/><a:ext cx="12192000" cy="54864"/></a:xfrm><a:prstGeom prst="rect"><a:avLst/></a:prstGeom><a:solidFill><a:srgbClr val="00C9B1"/></a:solidFill><a:ln><a:noFill/></a:ln></p:spPr>
<p:txBody><a:bodyPr/><a:lstStyle/><a:p/></p:txBody></p:sp>
<p:sp><p:nvSpPr><p:cNvPr id="12" name="Title"/><p:cNvSpPr txBox="1"><a:spLocks noGrp="1"/></p:cNvSpPr><p:nvPr/></p:nvSpPr>
<p:spPr><a:xfrm><a:off x="365760" y="91440"/><a:ext cx="10424160" cy="777240"/></a:xfrm><a:prstGeom prst="rect"><a:avLst/></a:prstGeom><a:noFill/></p:spPr>
<p:txBody><a:bodyPr wrap="square" anchor="t"><a:normAutofit/></a:bodyPr><a:lstStyle/><a:p><a:pPr algn="l"/>
<a:r><a:rPr lang="en-IN" sz="2800" b="1" dirty="0"><a:solidFill><a:srgbClr val="FFFFFF"/></a:solidFill><a:latin typeface="Calibri"/><a:cs typeface="Nirmala UI"/></a:rPr><a:t>Motivation & Objectives</a:t></a:r></a:p></p:txBody></p:sp>
<p:sp><p:nvSpPr><p:cNvPr id="13" name="Sub"/><p:cNvSpPr txBox="1"><a:spLocks noGrp="1"/></p:cNvSpPr><p:nvPr/></p:nvSpPr>
<p:spPr><a:xfrm><a:off x="365760" y="749808"/><a:ext cx="9144000" cy="384048"/></a:xfrm><a:prstGeom prst="rect"><a:avLst/></a:prstGeom><a:noFill/></p:spPr>
<p:txBody><a:bodyPr wrap="square" anchor="t"><a:normAutofit/></a:bodyPr><a:lstStyle/><a:p><a:pPr algn="l"/>
<a:r><a:rPr lang="en-IN" sz="1300" b="0" dirty="0"><a:solidFill><a:srgbClr val="00C9B1"/></a:solidFill><a:latin typeface="Calibri"/><a:cs typeface="Nirmala UI"/></a:rPr><a:t>Why this research matters and what we set out to achieve</a:t></a:r></a:p></p:txBody></p:sp>
<p:sp><p:nvSpPr><p:cNvPr id="14" name="MD"/><p:cNvSpPr><a:spLocks noGrp="1"/></p:cNvSpPr><p:nvPr/></p:nvSpPr>
<p:spPr><a:xfrm><a:off x="274320" y="1234440"/><a:ext cx="54864" cy="5029200"/></a:xfrm><a:prstGeom prst="rect"><a:avLst/></a:prstGeom><a:solidFill><a:srgbClr val="00C9B1"/></a:solidFill><a:ln><a:noFill/></a:ln></p:spPr>
<p:txBody><a:bodyPr/><a:lstStyle/><a:p/></p:txBody></p:sp>
<p:sp><p:nvSpPr><p:cNvPr id="15" name="MH"/><p:cNvSpPr txBox="1"><a:spLocks noGrp="1"/></p:cNvSpPr><p:nvPr/></p:nvSpPr>
<p:spPr><a:xfrm><a:off x="438912" y="1234440"/><a:ext cx="5029200" cy="384048"/></a:xfrm><a:prstGeom prst="rect"><a:avLst/></a:prstGeom><a:noFill/></p:spPr>
<p:txBody><a:bodyPr wrap="square" anchor="t"><a:normAutofit/></a:bodyPr><a:lstStyle/><a:p><a:pPr algn="l"/>
<a:r><a:rPr lang="en-IN" sz="1600" b="1" dirty="0"><a:solidFill><a:srgbClr val="00C9B1"/></a:solidFill><a:latin typeface="Calibri"/><a:cs typeface="Nirmala UI"/></a:rPr><a:t>MOTIVATION</a:t></a:r></a:p></p:txBody></p:sp>
<p:sp><p:nvSpPr><p:cNvPr id="16" name="MB"/><p:cNvSpPr txBox="1"><a:spLocks noGrp="1"/></p:cNvSpPr><p:nvPr/></p:nvSpPr>
<p:spPr><a:xfrm><a:off x="438912" y="1664208"/><a:ext cx="5029200" cy="4480560"/></a:xfrm><a:prstGeom prst="rect"><a:avLst/></a:prstGeom><a:noFill/></p:spPr>
<p:txBody><a:bodyPr wrap="square" anchor="t"><a:normAutofit/></a:bodyPr><a:lstStyle/><a:p><a:pPr indent="-228600" marL="228600"><a:spcBef><a:spcPts val="55"/></a:spcBef><a:lnSpc><a:spcPct val="108"/></a:lnSpc></a:pPr>
<a:r><a:rPr lang="en-IN" sz="1280" b="0" dirty="0"><a:solidFill><a:srgbClr val="00C9B1"/></a:solidFill><a:latin typeface="Calibri"/></a:rPr><a:t>▪  </a:t></a:r>
<a:r><a:rPr lang="en-IN" sz="1280" b="0" dirty="0"><a:solidFill><a:srgbClr val="D0E4F7"/></a:solidFill><a:latin typeface="Calibri"/><a:cs typeface="Nirmala UI"/></a:rPr><a:t>Hindi has 600M+ native speakers — 3rd largest language globally</a:t></a:r></a:p><a:p><a:pPr indent="-228600" marL="228600"><a:spcBef><a:spcPts val="55"/></a:spcBef><a:lnSpc><a:spcPct val="108"/></a:lnSpc></a:pPr>
<a:r><a:rPr lang="en-IN" sz="1180" b="0" dirty="0"><a:solidFill><a:srgbClr val="8AAEC8"/></a:solidFill><a:latin typeface="Calibri"/></a:rPr><a:t>  ◦  </a:t></a:r>
<a:r><a:rPr lang="en-IN" sz="1180" b="0" dirty="0"><a:solidFill><a:srgbClr val="D0E4F7"/></a:solidFill><a:latin typeface="Calibri"/><a:cs typeface="Nirmala UI"/></a:rPr><a:t>Yet only ~0.3% of global NLP research targets Hindi specifically</a:t></a:r></a:p><a:p><a:pPr indent="-228600" marL="228600"><a:spcBef><a:spcPts val="55"/></a:spcBef><a:lnSpc><a:spcPct val="108"/></a:lnSpc></a:pPr>
<a:r><a:rPr lang="en-IN" sz="1280" b="0" dirty="0"><a:solidFill><a:srgbClr val="00C9B1"/></a:solidFill><a:latin typeface="Calibri"/></a:rPr><a:t>▪  </a:t></a:r>
<a:r><a:rPr lang="en-IN" sz="1280" b="0" dirty="0"><a:solidFill><a:srgbClr val="D0E4F7"/></a:solidFill><a:latin typeface="Calibri"/><a:cs typeface="Nirmala UI"/></a:rPr><a:t>Coreference is a prerequisite for high-quality NLP pipelines:</a:t></a:r></a:p><a:p><a:pPr indent="-228600" marL="228600"><a:spcBef><a:spcPts val="55"/></a:spcBef><a:lnSpc><a:spcPct val="108"/></a:lnSpc></a:pPr>
<a:r><a:rPr lang="en-IN" sz="1180" b="0" dirty="0"><a:solidFill><a:srgbClr val="8AAEC8"/></a:solidFill><a:latin typeface="Calibri"/></a:rPr><a:t>  ◦  </a:t></a:r>
<a:r><a:rPr lang="en-IN" sz="1180" b="0" dirty="0"><a:solidFill><a:srgbClr val="D0E4F7"/></a:solidFill><a:latin typeface="Calibri"/><a:cs typeface="Nirmala UI"/></a:rPr><a:t>Question Answering, Machine Translation, Summarization, IE</a:t></a:r></a:p><a:p><a:pPr indent="-228600" marL="228600"><a:spcBef><a:spcPts val="55"/></a:spcBef><a:lnSpc><a:spcPct val="108"/></a:lnSpc></a:pPr>
<a:r><a:rPr lang="en-IN" sz="1280" b="0" dirty="0"><a:solidFill><a:srgbClr val="00C9B1"/></a:solidFill><a:latin typeface="Calibri"/></a:rPr><a:t>▪  </a:t></a:r>
<a:r><a:rPr lang="en-IN" sz="1280" b="0" dirty="0"><a:solidFill><a:srgbClr val="D0E4F7"/></a:solidFill><a:latin typeface="Calibri"/><a:cs typeface="Nirmala UI"/></a:rPr><a:t>English-centric models fail on Hindi due to morphology & script</a:t></a:r></a:p><a:p><a:pPr indent="-228600" marL="228600"><a:spcBef><a:spcPts val="55"/></a:spcBef><a:lnSpc><a:spcPct val="108"/></a:lnSpc></a:pPr>
<a:r><a:rPr lang="en-IN" sz="1180" b="0" dirty="0"><a:solidFill><a:srgbClr val="8AAEC8"/></a:solidFill><a:latin typeface="Calibri"/></a:rPr><a:t>  ◦  </a:t></a:r>
<a:r><a:rPr lang="en-IN" sz="1180" b="0" dirty="0"><a:solidFill><a:srgbClr val="D0E4F7"/></a:solidFill><a:latin typeface="Calibri"/><a:cs typeface="Nirmala UI"/></a:rPr><a:t>BERT/spaCy coref models produce near-random output on Hindi text</a:t></a:r></a:p><a:p><a:pPr indent="-228600" marL="228600"><a:spcBef><a:spcPts val="55"/></a:spcBef><a:lnSpc><a:spcPct val="108"/></a:lnSpc></a:pPr>
<a:r><a:rPr lang="en-IN" sz="1280" b="0" dirty="0"><a:solidFill><a:srgbClr val="00C9B1"/></a:solidFill><a:latin typeface="Calibri"/></a:rPr><a:t>▪  </a:t></a:r>
<a:r><a:rPr lang="en-IN" sz="1280" b="0" dirty="0"><a:solidFill><a:srgbClr val="D0E4F7"/></a:solidFill><a:latin typeface="Calibri"/><a:cs typeface="Nirmala UI"/></a:rPr><a:t>IndicBERTv2 (AI4Bharat) offers new pretrained Indic representations</a:t></a:r></a:p><a:p><a:pPr indent="-228600" marL="228600"><a:spcBef><a:spcPts val="55"/></a:spcBef><a:lnSpc><a:spcPct val="108"/></a:lnSpc></a:pPr>
<a:r><a:rPr lang="en-IN" sz="1180" b="0" dirty="0"><a:solidFill><a:srgbClr val="8AAEC8"/></a:solidFill><a:latin typeface="Calibri"/></a:rPr><a:t>  ◦  </a:t></a:r>
<a:r><a:rPr lang="en-IN" sz="1180" b="0" dirty="0"><a:solidFill><a:srgbClr val="D0E4F7"/></a:solidFill><a:latin typeface="Calibri"/><a:cs typeface="Nirmala UI"/></a:rPr><a:t>Trained on 20+ Indian languages including Hindi Wikipedia + news</a:t></a:r></a:p><a:p><a:pPr indent="-228600" marL="228600"><a:spcBef><a:spcPts val="55"/></a:spcBef><a:lnSpc><a:spcPct val="108"/></a:lnSpc></a:pPr>
<a:r><a:rPr lang="en-IN" sz="1280" b="0" dirty="0"><a:solidFill><a:srgbClr val="00C9B1"/></a:solidFill><a:latin typeface="Calibri"/></a:rPr><a:t>▪  </a:t></a:r>
<a:r><a:rPr lang="en-IN" sz="1280" b="0" dirty="0"><a:solidFill><a:srgbClr val="D0E4F7"/></a:solidFill><a:latin typeface="Calibri"/><a:cs typeface="Nirmala UI"/></a:rPr><a:t>Critical gap: No open-source end-to-end Hindi coreference system</a:t></a:r></a:p><a:p><a:pPr indent="-228600" marL="228600"><a:spcBef><a:spcPts val="55"/></a:spcBef><a:lnSpc><a:spcPct val="108"/></a:lnSpc></a:pPr>
<a:r><a:rPr lang="en-IN" sz="1180" b="0" dirty="0"><a:solidFill><a:srgbClr val="8AAEC8"/></a:solidFill><a:latin typeface="Calibri"/></a:rPr><a:t>  ◦  </a:t></a:r>
<a:r><a:rPr lang="en-IN" sz="1180" b="0" dirty="0"><a:solidFill><a:srgbClr val="D0E4F7"/></a:solidFill><a:latin typeface="Calibri"/><a:cs typeface="Nirmala UI"/></a:rPr><a:t>Existing systems are either rule-based or require unavailable data</a:t></a:r></a:p><a:p><a:pPr indent="-228600" marL="228600"><a:spcBef><a:spcPts val="55"/></a:spcBef><a:lnSpc><a:spcPct val="108"/></a:lnSpc></a:pPr>
<a:r><a:rPr lang="en-IN" sz="1280" b="0" dirty="0"><a:solidFill><a:srgbClr val="00C9B1"/></a:solidFill><a:latin typeface="Calibri"/></a:rPr><a:t>▪  </a:t></a:r>
<a:r><a:rPr lang="en-IN" sz="1280" b="0" dirty="0"><a:solidFill><a:srgbClr val="D0E4F7"/></a:solidFill><a:latin typeface="Calibri"/><a:cs typeface="Nirmala UI"/></a:rPr><a:t>This project provides both a working system AND an annotated dataset</a:t></a:r></a:p></p:txBody></p:sp>
<p:sp><p:nvSpPr><p:cNvPr id="17" name="OD"/><p:cNvSpPr><a:spLocks noGrp="1"/></p:cNvSpPr><p:nvPr/></p:nvSpPr>
<p:spPr><a:xfrm><a:off x="5897880" y="1234440"/><a:ext cx="54864" cy="5029200"/></a:xfrm><a:prstGeom prst="rect"><a:avLst/></a:prstGeom><a:solidFill><a:srgbClr val="F5A623"/></a:solidFill><a:ln><a:noFill/></a:ln></p:spPr>
<p:txBody><a:bodyPr/><a:lstStyle/><a:p/></p:txBody></p:sp>
<p:sp><p:nvSpPr><p:cNvPr id="18" name="OH"/><p:cNvSpPr txBox="1"><a:spLocks noGrp="1"/></p:cNvSpPr><p:nvPr/></p:nvSpPr>
<p:spPr><a:xfrm><a:off x="6062472" y="1234440"/><a:ext cx="5029200" cy="384048"/></a:xfrm><a:prstGeom prst="rect"><a:avLst/></a:prstGeom><a:noFill/></p:spPr>
<p:txBody><a:bodyPr wrap="square" anchor="t"><a:normAutofit/></a:bodyPr><a:lstStyle/><a:p><a:pPr algn="l"/>
<a:r><a:rPr lang="en-IN" sz="1600" b="1" dirty="0"><a:solidFill><a:srgbClr val="F5A623"/></a:solidFill><a:latin typeface="Calibri"/><a:cs typeface="Nirmala UI"/></a:rPr><a:t>RESEARCH OBJECTIVES</a:t></a:r></a:p></p:txBody></p:sp>
<p:sp><p:nvSpPr><p:cNvPr id="19" name="OB"/><p:cNvSpPr txBox="1"><a:spLocks noGrp="1"/></p:cNvSpPr><p:nvPr/></p:nvSpPr>
<p:spPr><a:xfrm><a:off x="6062472" y="1664208"/><a:ext cx="5029200" cy="4480560"/></a:xfrm><a:prstGeom prst="rect"><a:avLst/></a:prstGeom><a:noFill/></p:spPr>
<p:txBody><a:bodyPr wrap="square" anchor="t"><a:normAutofit/></a:bodyPr><a:lstStyle/><a:p><a:pPr indent="-228600" marL="228600"><a:spcBef><a:spcPts val="55"/></a:spcBef><a:lnSpc><a:spcPct val="108"/></a:lnSpc></a:pPr>
<a:r><a:rPr lang="en-IN" sz="1280" b="0" dirty="0"><a:solidFill><a:srgbClr val="F5A623"/></a:solidFill><a:latin typeface="Calibri"/></a:rPr><a:t>▪  </a:t></a:r>
<a:r><a:rPr lang="en-IN" sz="1280" b="0" dirty="0"><a:solidFill><a:srgbClr val="D0E4F7"/></a:solidFill><a:latin typeface="Calibri"/><a:cs typeface="Nirmala UI"/></a:rPr><a:t>O1: Build an unsupervised coreference pipeline (Phase 1)</a:t></a:r></a:p><a:p><a:pPr indent="-228600" marL="228600"><a:spcBef><a:spcPts val="55"/></a:spcBef><a:lnSpc><a:spcPct val="108"/></a:lnSpc></a:pPr>
<a:r><a:rPr lang="en-IN" sz="1180" b="0" dirty="0"><a:solidFill><a:srgbClr val="8AAEC8"/></a:solidFill><a:latin typeface="Calibri"/></a:rPr><a:t>  ◦  </a:t></a:r>
<a:r><a:rPr lang="en-IN" sz="1180" b="0" dirty="0"><a:solidFill><a:srgbClr val="D0E4F7"/></a:solidFill><a:latin typeface="Calibri"/><a:cs typeface="Nirmala UI"/></a:rPr><a:t>Train compact BERT from scratch on 172K Hindi Wikipedia docs</a:t></a:r></a:p><a:p><a:pPr indent="-228600" marL="228600"><a:spcBef><a:spcPts val="55"/></a:spcBef><a:lnSpc><a:spcPct val="108"/></a:lnSpc></a:pPr>
<a:r><a:rPr lang="en-IN" sz="1180" b="0" dirty="0"><a:solidFill><a:srgbClr val="8AAEC8"/></a:solidFill><a:latin typeface="Calibri"/></a:rPr><a:t>  ◦  </a:t></a:r>
<a:r><a:rPr lang="en-IN" sz="1180" b="0" dirty="0"><a:solidFill><a:srgbClr val="D0E4F7"/></a:solidFill><a:latin typeface="Calibri"/><a:cs typeface="Nirmala UI"/></a:rPr><a:t>Apply cosine-similarity clustering for mention grouping</a:t></a:r></a:p><a:p><a:pPr indent="-228600" marL="228600"><a:spcBef><a:spcPts val="55"/></a:spcBef><a:lnSpc><a:spcPct val="108"/></a:lnSpc></a:pPr>
<a:r><a:rPr lang="en-IN" sz="1280" b="0" dirty="0"><a:solidFill><a:srgbClr val="F5A623"/></a:solidFill><a:latin typeface="Calibri"/></a:rPr><a:t>▪  </a:t></a:r>
<a:r><a:rPr lang="en-IN" sz="1280" b="0" dirty="0"><a:solidFill><a:srgbClr val="D0E4F7"/></a:solidFill><a:latin typeface="Calibri"/><a:cs typeface="Nirmala UI"/></a:rPr><a:t>O2: Build a supervised hybrid system (Phase 2)</a:t></a:r></a:p><a:p><a:pPr indent="-228600" marL="228600"><a:spcBef><a:spcPts val="55"/></a:spcBef><a:lnSpc><a:spcPct val="108"/></a:lnSpc></a:pPr>
<a:r><a:rPr lang="en-IN" sz="1180" b="0" dirty="0"><a:solidFill><a:srgbClr val="8AAEC8"/></a:solidFill><a:latin typeface="Calibri"/></a:rPr><a:t>  ◦  </a:t></a:r>
<a:r><a:rPr lang="en-IN" sz="1180" b="0" dirty="0"><a:solidFill><a:srgbClr val="D0E4F7"/></a:solidFill><a:latin typeface="Calibri"/><a:cs typeface="Nirmala UI"/></a:rPr><a:t>Use pretrained IndicBERTv2 for contextual mention embeddings</a:t></a:r></a:p><a:p><a:pPr indent="-228600" marL="228600"><a:spcBef><a:spcPts val="55"/></a:spcBef><a:lnSpc><a:spcPct val="108"/></a:lnSpc></a:pPr>
<a:r><a:rPr lang="en-IN" sz="1180" b="0" dirty="0"><a:solidFill><a:srgbClr val="8AAEC8"/></a:solidFill><a:latin typeface="Calibri"/></a:rPr><a:t>  ◦  </a:t></a:r>
<a:r><a:rPr lang="en-IN" sz="1180" b="0" dirty="0"><a:solidFill><a:srgbClr val="D0E4F7"/></a:solidFill><a:latin typeface="Calibri"/><a:cs typeface="Nirmala UI"/></a:rPr><a:t>Train pairwise Logistic Regression classifier with linguistic features</a:t></a:r></a:p><a:p><a:pPr indent="-228600" marL="228600"><a:spcBef><a:spcPts val="55"/></a:spcBef><a:lnSpc><a:spcPct val="108"/></a:lnSpc></a:pPr>
<a:r><a:rPr lang="en-IN" sz="1280" b="0" dirty="0"><a:solidFill><a:srgbClr val="F5A623"/></a:solidFill><a:latin typeface="Calibri"/></a:rPr><a:t>▪  </a:t></a:r>
<a:r><a:rPr lang="en-IN" sz="1280" b="0" dirty="0"><a:solidFill><a:srgbClr val="D0E4F7"/></a:solidFill><a:latin typeface="Calibri"/><a:cs typeface="Nirmala UI"/></a:rPr><a:t>O3: Create a novel Hindi coreference benchmark dataset</a:t></a:r></a:p><a:p><a:pPr indent="-228600" marL="228600"><a:spcBef><a:spcPts val="55"/></a:spcBef><a:lnSpc><a:spcPct val="108"/></a:lnSpc></a:pPr>
<a:r><a:rPr lang="en-IN" sz="1180" b="0" dirty="0"><a:solidFill><a:srgbClr val="8AAEC8"/></a:solidFill><a:latin typeface="Calibri"/></a:rPr><a:t>  ◦  </a:t></a:r>
<a:r><a:rPr lang="en-IN" sz="1180" b="0" dirty="0"><a:solidFill><a:srgbClr val="D0E4F7"/></a:solidFill><a:latin typeface="Calibri"/><a:cs typeface="Nirmala UI"/></a:rPr><a:t>Manually annotate 1,248 mention spans across diverse text types</a:t></a:r></a:p><a:p><a:pPr indent="-228600" marL="228600"><a:spcBef><a:spcPts val="55"/></a:spcBef><a:lnSpc><a:spcPct val="108"/></a:lnSpc></a:pPr>
<a:r><a:rPr lang="en-IN" sz="1180" b="0" dirty="0"><a:solidFill><a:srgbClr val="8AAEC8"/></a:solidFill><a:latin typeface="Calibri"/></a:rPr><a:t>  ◦  </a:t></a:r>
<a:r><a:rPr lang="en-IN" sz="1180" b="0" dirty="0"><a:solidFill><a:srgbClr val="D0E4F7"/></a:solidFill><a:latin typeface="Calibri"/><a:cs typeface="Nirmala UI"/></a:rPr><a:t>Define 4 mention categories: proper noun, common noun, pronoun, NP</a:t></a:r></a:p><a:p><a:pPr indent="-228600" marL="228600"><a:spcBef><a:spcPts val="55"/></a:spcBef><a:lnSpc><a:spcPct val="108"/></a:lnSpc></a:pPr>
<a:r><a:rPr lang="en-IN" sz="1280" b="0" dirty="0"><a:solidFill><a:srgbClr val="F5A623"/></a:solidFill><a:latin typeface="Calibri"/></a:rPr><a:t>▪  </a:t></a:r>
<a:r><a:rPr lang="en-IN" sz="1280" b="0" dirty="0"><a:solidFill><a:srgbClr val="D0E4F7"/></a:solidFill><a:latin typeface="Calibri"/><a:cs typeface="Nirmala UI"/></a:rPr><a:t>O4: Perform rigorous comparative evaluation</a:t></a:r></a:p><a:p><a:pPr indent="-228600" marL="228600"><a:spcBef><a:spcPts val="55"/></a:spcBef><a:lnSpc><a:spcPct val="108"/></a:lnSpc></a:pPr>
<a:r><a:rPr lang="en-IN" sz="1180" b="0" dirty="0"><a:solidFill><a:srgbClr val="8AAEC8"/></a:solidFill><a:latin typeface="Calibri"/></a:rPr><a:t>  ◦  </a:t></a:r>
<a:r><a:rPr lang="en-IN" sz="1180" b="0" dirty="0"><a:solidFill><a:srgbClr val="D0E4F7"/></a:solidFill><a:latin typeface="Calibri"/><a:cs typeface="Nirmala UI"/></a:rPr><a:t>Measure pairwise accuracy, precision, recall for both phases</a:t></a:r></a:p><a:p><a:pPr indent="-228600" marL="228600"><a:spcBef><a:spcPts val="55"/></a:spcBef><a:lnSpc><a:spcPct val="108"/></a:lnSpc></a:pPr>
<a:r><a:rPr lang="en-IN" sz="1180" b="0" dirty="0"><a:solidFill><a:srgbClr val="8AAEC8"/></a:solidFill><a:latin typeface="Calibri"/></a:rPr><a:t>  ◦  </a:t></a:r>
<a:r><a:rPr lang="en-IN" sz="1180" b="0" dirty="0"><a:solidFill><a:srgbClr val="D0E4F7"/></a:solidFill><a:latin typeface="Calibri"/><a:cs typeface="Nirmala UI"/></a:rPr><a:t>Identify which feature groups contribute most to performance</a:t></a:r></a:p></p:txBody></p:sp>
<p:sp><p:nvSpPr><p:cNvPr id="20" name="FB"/><p:cNvSpPr><a:spLocks noGrp="1"/></p:cNvSpPr><p:nvPr/></p:nvSpPr>
<p:spPr><a:xfrm><a:off x="0" y="6473952"/><a:ext cx="12192000" cy="384048"/></a:xfrm><a:prstGeom prst="rect"><a:avLst/></a:prstGeom><a:solidFill><a:srgbClr val="112238"/></a:solidFill><a:ln><a:noFill/></a:ln></p:spPr>
<p:txBody><a:bodyPr/><a:lstStyle/><a:p/></p:txBody></p:sp>
<p:sp><p:nvSpPr><p:cNvPr id="21" name="FL"/><p:cNvSpPr><a:spLocks noGrp="1"/></p:cNvSpPr><p:nvPr/></p:nvSpPr>
<p:spPr><a:xfrm><a:off x="0" y="6473952"/><a:ext cx="12192000" cy="36576"/></a:xfrm><a:prstGeom prst="rect"><a:avLst/></a:prstGeom><a:solidFill><a:srgbClr val="00C9B1"/></a:solidFill><a:ln><a:noFill/></a:ln></p:spPr>
<p:txBody><a:bodyPr/><a:lstStyle/><a:p/></p:txBody></p:sp>
<p:sp><p:nvSpPr><p:cNvPr id="22" name="FL2"/><p:cNvSpPr txBox="1"><a:spLocks noGrp="1"/></p:cNvSpPr><p:nvPr/></p:nvSpPr>
<p:spPr><a:xfrm><a:off x="274320" y="6510528"/><a:ext cx="5486400" cy="310896"/></a:xfrm><a:prstGeom prst="rect"><a:avLst/></a:prstGeom><a:noFill/></p:spPr>
<p:txBody><a:bodyPr wrap="square" anchor="t"><a:normAutofit/></a:bodyPr><a:lstStyle/><a:p><a:pPr algn="l"/>
<a:r><a:rPr lang="en-IN" sz="950" b="0" dirty="0"><a:solidFill><a:srgbClr val="8AAEC8"/></a:solidFill><a:latin typeface="Calibri"/><a:cs typeface="Nirmala UI"/></a:rPr><a:t>Hindi Coreference Resolution  |  CIT Kokrajhar</a:t></a:r></a:p></p:txBody></p:sp>
<p:sp><p:nvSpPr><p:cNvPr id="23" name="FR"/><p:cNvSpPr txBox="1"><a:spLocks noGrp="1"/></p:cNvSpPr><p:nvPr/></p:nvSpPr>
<p:spPr><a:xfrm><a:off x="7772400" y="6510528"/><a:ext cx="3200400" cy="310896"/></a:xfrm><a:prstGeom prst="rect"><a:avLst/></a:prstGeom><a:noFill/></p:spPr>
<p:txBody><a:bodyPr wrap="square" anchor="t"><a:normAutofit/></a:bodyPr><a:lstStyle/><a:p><a:pPr algn="r"/>
<a:r><a:rPr lang="en-IN" sz="950" b="0" dirty="0"><a:solidFill><a:srgbClr val="8AAEC8"/></a:solidFill><a:latin typeface="Calibri"/><a:cs typeface="Nirmala UI"/></a:rPr><a:t>B.Tech Project  |  2026</a:t></a:r></a:p></p:txBody></p:sp>
  </p:spTree></p:cSld>
  <p:clrMapOvr><a:masterClrMapping/></p:clrMapOvr>
</p:sld>
</file>

<file path=ppt/slides/slide6.xml><?xml version="1.0" encoding="UTF-8" standalone="yes"?>
<p:sld xmlns:p="http://schemas.openxmlformats.org/presentationml/2006/main"
       xmlns:a="http://schemas.openxmlformats.org/drawingml/2006/main"
       xmlns:r="http://schemas.openxmlformats.org/officeDocument/2006/relationships">
  <p:cSld><p:bg><p:bgPr><a:solidFill><a:srgbClr val="1A2E4A"/></a:solidFill><a:effectLst/></p:bgPr></p:bg>
  <p:spTree>
  <p:nvGrpSpPr><p:cNvPr id="1" name=""/><p:cNvGrpSpPr/><p:nvPr/></p:nvGrpSpPr>
  <p:grpSpPr><a:xfrm><a:off x="0" y="0"/><a:ext cx="12192000" cy="6858000"/><a:chOff x="0" y="0"/><a:chExt cx="12192000" cy="6858000"/></a:xfrm></p:grpSpPr>
  <p:sp><p:nvSpPr><p:cNvPr id="10" name="TopBar"/><p:cNvSpPr><a:spLocks noGrp="1"/></p:cNvSpPr><p:nvPr/></p:nvSpPr>
<p:spPr><a:xfrm><a:off x="0" y="0"/><a:ext cx="12192000" cy="1097280"/></a:xfrm><a:prstGeom prst="rect"><a:avLst/></a:prstGeom><a:solidFill><a:srgbClr val="112238"/></a:solidFill><a:ln><a:noFill/></a:ln></p:spPr>
<p:txBody><a:bodyPr/><a:lstStyle/><a:p/></p:txBody></p:sp>
<p:sp><p:nvSpPr><p:cNvPr id="11" name="AccLine"/><p:cNvSpPr><a:spLocks noGrp="1"/></p:cNvSpPr><p:nvPr/></p:nvSpPr>
<p:spPr><a:xfrm><a:off x="0" y="1097280"/><a:ext cx="12192000" cy="54864"/></a:xfrm><a:prstGeom prst="rect"><a:avLst/></a:prstGeom><a:solidFill><a:srgbClr val="00C9B1"/></a:solidFill><a:ln><a:noFill/></a:ln></p:spPr>
<p:txBody><a:bodyPr/><a:lstStyle/><a:p/></p:txBody></p:sp>
<p:sp><p:nvSpPr><p:cNvPr id="12" name="Title"/><p:cNvSpPr txBox="1"><a:spLocks noGrp="1"/></p:cNvSpPr><p:nvPr/></p:nvSpPr>
<p:spPr><a:xfrm><a:off x="365760" y="91440"/><a:ext cx="10424160" cy="777240"/></a:xfrm><a:prstGeom prst="rect"><a:avLst/></a:prstGeom><a:noFill/></p:spPr>
<p:txBody><a:bodyPr wrap="square" anchor="t"><a:normAutofit/></a:bodyPr><a:lstStyle/><a:p><a:pPr algn="l"/>
<a:r><a:rPr lang="en-IN" sz="2800" b="1" dirty="0"><a:solidFill><a:srgbClr val="FFFFFF"/></a:solidFill><a:latin typeface="Calibri"/><a:cs typeface="Nirmala UI"/></a:rPr><a:t>Literature Review</a:t></a:r></a:p></p:txBody></p:sp>
<p:sp><p:nvSpPr><p:cNvPr id="13" name="Sub"/><p:cNvSpPr txBox="1"><a:spLocks noGrp="1"/></p:cNvSpPr><p:nvPr/></p:nvSpPr>
<p:spPr><a:xfrm><a:off x="365760" y="749808"/><a:ext cx="9144000" cy="384048"/></a:xfrm><a:prstGeom prst="rect"><a:avLst/></a:prstGeom><a:noFill/></p:spPr>
<p:txBody><a:bodyPr wrap="square" anchor="t"><a:normAutofit/></a:bodyPr><a:lstStyle/><a:p><a:pPr algn="l"/>
<a:r><a:rPr lang="en-IN" sz="1300" b="0" dirty="0"><a:solidFill><a:srgbClr val="00C9B1"/></a:solidFill><a:latin typeface="Calibri"/><a:cs typeface="Nirmala UI"/></a:rPr><a:t>Prior work in coreference resolution and Indic NLP</a:t></a:r></a:p></p:txBody></p:sp>
<p:sp><p:nvSpPr><p:cNvPr id="14" name="TH0"/><p:cNvSpPr><a:spLocks noGrp="1"/></p:cNvSpPr><p:nvPr/></p:nvSpPr>
<p:spPr><a:xfrm><a:off x="274320" y="1261872"/><a:ext cx="1874519" cy="420624"/></a:xfrm><a:prstGeom prst="rect"><a:avLst/></a:prstGeom><a:solidFill><a:srgbClr val="00C9B1"/></a:solidFill><a:ln><a:noFill/></a:ln></p:spPr>
<p:txBody><a:bodyPr/><a:lstStyle/><a:p/></p:txBody></p:sp>
<p:sp><p:nvSpPr><p:cNvPr id="15" name="THT0"/><p:cNvSpPr txBox="1"><a:spLocks noGrp="1"/></p:cNvSpPr><p:nvPr/></p:nvSpPr>
<p:spPr><a:xfrm><a:off x="365760" y="1316736"/><a:ext cx="1737359" cy="329184"/></a:xfrm><a:prstGeom prst="rect"><a:avLst/></a:prstGeom><a:noFill/></p:spPr>
<p:txBody><a:bodyPr wrap="square" anchor="t"><a:normAutofit/></a:bodyPr><a:lstStyle/><a:p><a:pPr algn="l"/>
<a:r><a:rPr lang="en-IN" sz="1350" b="1" dirty="0"><a:solidFill><a:srgbClr val="FFFFFF"/></a:solidFill><a:latin typeface="Calibri"/><a:cs typeface="Nirmala UI"/></a:rPr><a:t>Reference</a:t></a:r></a:p></p:txBody></p:sp>
<p:sp><p:nvSpPr><p:cNvPr id="16" name="TH1"/><p:cNvSpPr><a:spLocks noGrp="1"/></p:cNvSpPr><p:nvPr/></p:nvSpPr>
<p:spPr><a:xfrm><a:off x="2194560" y="1261872"/><a:ext cx="1600200" cy="420624"/></a:xfrm><a:prstGeom prst="rect"><a:avLst/></a:prstGeom><a:solidFill><a:srgbClr val="1A3D5C"/></a:solidFill><a:ln><a:noFill/></a:ln></p:spPr>
<p:txBody><a:bodyPr/><a:lstStyle/><a:p/></p:txBody></p:sp>
<p:sp><p:nvSpPr><p:cNvPr id="17" name="THT1"/><p:cNvSpPr txBox="1"><a:spLocks noGrp="1"/></p:cNvSpPr><p:nvPr/></p:nvSpPr>
<p:spPr><a:xfrm><a:off x="2286000" y="1316736"/><a:ext cx="1463040" cy="329184"/></a:xfrm><a:prstGeom prst="rect"><a:avLst/></a:prstGeom><a:noFill/></p:spPr>
<p:txBody><a:bodyPr wrap="square" anchor="t"><a:normAutofit/></a:bodyPr><a:lstStyle/><a:p><a:pPr algn="l"/>
<a:r><a:rPr lang="en-IN" sz="1350" b="1" dirty="0"><a:solidFill><a:srgbClr val="FFFFFF"/></a:solidFill><a:latin typeface="Calibri"/><a:cs typeface="Nirmala UI"/></a:rPr><a:t>System</a:t></a:r></a:p></p:txBody></p:sp>
<p:sp><p:nvSpPr><p:cNvPr id="18" name="TH2"/><p:cNvSpPr><a:spLocks noGrp="1"/></p:cNvSpPr><p:nvPr/></p:nvSpPr>
<p:spPr><a:xfrm><a:off x="3840480" y="1261872"/><a:ext cx="6812280" cy="420624"/></a:xfrm><a:prstGeom prst="rect"><a:avLst/></a:prstGeom><a:solidFill><a:srgbClr val="1A3D5C"/></a:solidFill><a:ln><a:noFill/></a:ln></p:spPr>
<p:txBody><a:bodyPr/><a:lstStyle/><a:p/></p:txBody></p:sp>
<p:sp><p:nvSpPr><p:cNvPr id="19" name="THT2"/><p:cNvSpPr txBox="1"><a:spLocks noGrp="1"/></p:cNvSpPr><p:nvPr/></p:nvSpPr>
<p:spPr><a:xfrm><a:off x="3931920" y="1316736"/><a:ext cx="6675120" cy="329184"/></a:xfrm><a:prstGeom prst="rect"><a:avLst/></a:prstGeom><a:noFill/></p:spPr>
<p:txBody><a:bodyPr wrap="square" anchor="t"><a:normAutofit/></a:bodyPr><a:lstStyle/><a:p><a:pPr algn="l"/>
<a:r><a:rPr lang="en-IN" sz="1350" b="1" dirty="0"><a:solidFill><a:srgbClr val="FFFFFF"/></a:solidFill><a:latin typeface="Calibri"/><a:cs typeface="Nirmala UI"/></a:rPr><a:t>Key Contribution & Impact</a:t></a:r></a:p></p:txBody></p:sp>
<p:sp><p:nvSpPr><p:cNvPr id="20" name="TC00"/><p:cNvSpPr><a:spLocks noGrp="1"/></p:cNvSpPr><p:nvPr/></p:nvSpPr>
<p:spPr><a:xfrm><a:off x="274320" y="1920240"/><a:ext cx="1874519" cy="658368"/></a:xfrm><a:prstGeom prst="rect"><a:avLst/></a:prstGeom><a:solidFill><a:srgbClr val="122840"/></a:solidFill><a:ln><a:noFill/></a:ln></p:spPr>
<p:txBody><a:bodyPr/><a:lstStyle/><a:p/></p:txBody></p:sp>
<p:sp><p:nvSpPr><p:cNvPr id="21" name="TCT00"/><p:cNvSpPr txBox="1"><a:spLocks noGrp="1"/></p:cNvSpPr><p:nvPr/></p:nvSpPr>
<p:spPr><a:xfrm><a:off x="365760" y="1975104"/><a:ext cx="1737359" cy="566928"/></a:xfrm><a:prstGeom prst="rect"><a:avLst/></a:prstGeom><a:noFill/></p:spPr>
<p:txBody><a:bodyPr wrap="square" anchor="t"><a:normAutofit/></a:bodyPr><a:lstStyle/><a:p><a:pPr algn="l"/>
<a:r><a:rPr lang="en-IN" sz="1280" b="1" dirty="0"><a:solidFill><a:srgbClr val="00C9B1"/></a:solidFill><a:latin typeface="Calibri"/><a:cs typeface="Nirmala UI"/></a:rPr><a:t>Lee et al., 2017</a:t></a:r></a:p></p:txBody></p:sp>
<p:sp><p:nvSpPr><p:cNvPr id="22" name="TC01"/><p:cNvSpPr><a:spLocks noGrp="1"/></p:cNvSpPr><p:nvPr/></p:nvSpPr>
<p:spPr><a:xfrm><a:off x="2194560" y="1920240"/><a:ext cx="1600200" cy="658368"/></a:xfrm><a:prstGeom prst="rect"><a:avLst/></a:prstGeom><a:solidFill><a:srgbClr val="122840"/></a:solidFill><a:ln><a:noFill/></a:ln></p:spPr>
<p:txBody><a:bodyPr/><a:lstStyle/><a:p/></p:txBody></p:sp>
<p:sp><p:nvSpPr><p:cNvPr id="23" name="TCT01"/><p:cNvSpPr txBox="1"><a:spLocks noGrp="1"/></p:cNvSpPr><p:nvPr/></p:nvSpPr>
<p:spPr><a:xfrm><a:off x="2286000" y="1975104"/><a:ext cx="1463040" cy="566928"/></a:xfrm><a:prstGeom prst="rect"><a:avLst/></a:prstGeom><a:noFill/></p:spPr>
<p:txBody><a:bodyPr wrap="square" anchor="t"><a:normAutofit/></a:bodyPr><a:lstStyle/><a:p><a:pPr algn="l"/>
<a:r><a:rPr lang="en-IN" sz="1280" b="0" dirty="0"><a:solidFill><a:srgbClr val="F5A623"/></a:solidFill><a:latin typeface="Calibri"/><a:cs typeface="Nirmala UI"/></a:rPr><a:t>e2e-coref</a:t></a:r></a:p></p:txBody></p:sp>
<p:sp><p:nvSpPr><p:cNvPr id="24" name="TC02"/><p:cNvSpPr><a:spLocks noGrp="1"/></p:cNvSpPr><p:nvPr/></p:nvSpPr>
<p:spPr><a:xfrm><a:off x="3840480" y="1920240"/><a:ext cx="6812280" cy="658368"/></a:xfrm><a:prstGeom prst="rect"><a:avLst/></a:prstGeom><a:solidFill><a:srgbClr val="122840"/></a:solidFill><a:ln><a:noFill/></a:ln></p:spPr>
<p:txBody><a:bodyPr/><a:lstStyle/><a:p/></p:txBody></p:sp>
<p:sp><p:nvSpPr><p:cNvPr id="25" name="TCT02"/><p:cNvSpPr txBox="1"><a:spLocks noGrp="1"/></p:cNvSpPr><p:nvPr/></p:nvSpPr>
<p:spPr><a:xfrm><a:off x="3931920" y="1975104"/><a:ext cx="6675120" cy="566928"/></a:xfrm><a:prstGeom prst="rect"><a:avLst/></a:prstGeom><a:noFill/></p:spPr>
<p:txBody><a:bodyPr wrap="square" anchor="t"><a:normAutofit/></a:bodyPr><a:lstStyle/><a:p><a:pPr algn="l"/>
<a:r><a:rPr lang="en-IN" sz="1220" b="0" dirty="0"><a:solidFill><a:srgbClr val="D0E4F7"/></a:solidFill><a:latin typeface="Calibri"/><a:cs typeface="Nirmala UI"/></a:rPr><a:t>First fully end-to-end neural coref system. Uses span representations with LSTM + attention. Jointly learns mention detection + antecedent scoring. State-of-art on OntoNotes English.</a:t></a:r></a:p></p:txBody></p:sp>
<p:sp><p:nvSpPr><p:cNvPr id="26" name="TC10"/><p:cNvSpPr><a:spLocks noGrp="1"/></p:cNvSpPr><p:nvPr/></p:nvSpPr>
<p:spPr><a:xfrm><a:off x="274320" y="2578608"/><a:ext cx="1874519" cy="658368"/></a:xfrm><a:prstGeom prst="rect"><a:avLst/></a:prstGeom><a:solidFill><a:srgbClr val="0D1B2E"/></a:solidFill><a:ln><a:noFill/></a:ln></p:spPr>
<p:txBody><a:bodyPr/><a:lstStyle/><a:p/></p:txBody></p:sp>
<p:sp><p:nvSpPr><p:cNvPr id="27" name="TCT10"/><p:cNvSpPr txBox="1"><a:spLocks noGrp="1"/></p:cNvSpPr><p:nvPr/></p:nvSpPr>
<p:spPr><a:xfrm><a:off x="365760" y="2633472"/><a:ext cx="1737359" cy="566928"/></a:xfrm><a:prstGeom prst="rect"><a:avLst/></a:prstGeom><a:noFill/></p:spPr>
<p:txBody><a:bodyPr wrap="square" anchor="t"><a:normAutofit/></a:bodyPr><a:lstStyle/><a:p><a:pPr algn="l"/>
<a:r><a:rPr lang="en-IN" sz="1280" b="1" dirty="0"><a:solidFill><a:srgbClr val="F5A623"/></a:solidFill><a:latin typeface="Calibri"/><a:cs typeface="Nirmala UI"/></a:rPr><a:t>Clark & Manning, 2016</a:t></a:r></a:p></p:txBody></p:sp>
<p:sp><p:nvSpPr><p:cNvPr id="28" name="TC11"/><p:cNvSpPr><a:spLocks noGrp="1"/></p:cNvSpPr><p:nvPr/></p:nvSpPr>
<p:spPr><a:xfrm><a:off x="2194560" y="2578608"/><a:ext cx="1600200" cy="658368"/></a:xfrm><a:prstGeom prst="rect"><a:avLst/></a:prstGeom><a:solidFill><a:srgbClr val="0D1B2E"/></a:solidFill><a:ln><a:noFill/></a:ln></p:spPr>
<p:txBody><a:bodyPr/><a:lstStyle/><a:p/></p:txBody></p:sp>
<p:sp><p:nvSpPr><p:cNvPr id="29" name="TCT11"/><p:cNvSpPr txBox="1"><a:spLocks noGrp="1"/></p:cNvSpPr><p:nvPr/></p:nvSpPr>
<p:spPr><a:xfrm><a:off x="2286000" y="2633472"/><a:ext cx="1463040" cy="566928"/></a:xfrm><a:prstGeom prst="rect"><a:avLst/></a:prstGeom><a:noFill/></p:spPr>
<p:txBody><a:bodyPr wrap="square" anchor="t"><a:normAutofit/></a:bodyPr><a:lstStyle/><a:p><a:pPr algn="l"/>
<a:r><a:rPr lang="en-IN" sz="1280" b="0" dirty="0"><a:solidFill><a:srgbClr val="F5A623"/></a:solidFill><a:latin typeface="Calibri"/><a:cs typeface="Nirmala UI"/></a:rPr><a:t>Deep RL Coref</a:t></a:r></a:p></p:txBody></p:sp>
<p:sp><p:nvSpPr><p:cNvPr id="30" name="TC12"/><p:cNvSpPr><a:spLocks noGrp="1"/></p:cNvSpPr><p:nvPr/></p:nvSpPr>
<p:spPr><a:xfrm><a:off x="3840480" y="2578608"/><a:ext cx="6812280" cy="658368"/></a:xfrm><a:prstGeom prst="rect"><a:avLst/></a:prstGeom><a:solidFill><a:srgbClr val="0D1B2E"/></a:solidFill><a:ln><a:noFill/></a:ln></p:spPr>
<p:txBody><a:bodyPr/><a:lstStyle/><a:p/></p:txBody></p:sp>
<p:sp><p:nvSpPr><p:cNvPr id="31" name="TCT12"/><p:cNvSpPr txBox="1"><a:spLocks noGrp="1"/></p:cNvSpPr><p:nvPr/></p:nvSpPr>
<p:spPr><a:xfrm><a:off x="3931920" y="2633472"/><a:ext cx="6675120" cy="566928"/></a:xfrm><a:prstGeom prst="rect"><a:avLst/></a:prstGeom><a:noFill/></p:spPr>
<p:txBody><a:bodyPr wrap="square" anchor="t"><a:normAutofit/></a:bodyPr><a:lstStyle/><a:p><a:pPr algn="l"/>
<a:r><a:rPr lang="en-IN" sz="1220" b="0" dirty="0"><a:solidFill><a:srgbClr val="D0E4F7"/></a:solidFill><a:latin typeface="Calibri"/><a:cs typeface="Nirmala UI"/></a:rPr><a:t>Applies reinforcement learning (reward shaping) to coreference. Directly optimizes evaluation metrics (MUC, B3, CEAF). Shows benefit of global training objective over local pairwise.</a:t></a:r></a:p></p:txBody></p:sp>
<p:sp><p:nvSpPr><p:cNvPr id="32" name="TC20"/><p:cNvSpPr><a:spLocks noGrp="1"/></p:cNvSpPr><p:nvPr/></p:nvSpPr>
<p:spPr><a:xfrm><a:off x="274320" y="3236976"/><a:ext cx="1874519" cy="658368"/></a:xfrm><a:prstGeom prst="rect"><a:avLst/></a:prstGeom><a:solidFill><a:srgbClr val="122840"/></a:solidFill><a:ln><a:noFill/></a:ln></p:spPr>
<p:txBody><a:bodyPr/><a:lstStyle/><a:p/></p:txBody></p:sp>
<p:sp><p:nvSpPr><p:cNvPr id="33" name="TCT20"/><p:cNvSpPr txBox="1"><a:spLocks noGrp="1"/></p:cNvSpPr><p:nvPr/></p:nvSpPr>
<p:spPr><a:xfrm><a:off x="365760" y="3291840"/><a:ext cx="1737359" cy="566928"/></a:xfrm><a:prstGeom prst="rect"><a:avLst/></a:prstGeom><a:noFill/></p:spPr>
<p:txBody><a:bodyPr wrap="square" anchor="t"><a:normAutofit/></a:bodyPr><a:lstStyle/><a:p><a:pPr algn="l"/>
<a:r><a:rPr lang="en-IN" sz="1280" b="1" dirty="0"><a:solidFill><a:srgbClr val="5C9BD6"/></a:solidFill><a:latin typeface="Calibri"/><a:cs typeface="Nirmala UI"/></a:rPr><a:t>Joshi et al., 2020</a:t></a:r></a:p></p:txBody></p:sp>
<p:sp><p:nvSpPr><p:cNvPr id="34" name="TC21"/><p:cNvSpPr><a:spLocks noGrp="1"/></p:cNvSpPr><p:nvPr/></p:nvSpPr>
<p:spPr><a:xfrm><a:off x="2194560" y="3236976"/><a:ext cx="1600200" cy="658368"/></a:xfrm><a:prstGeom prst="rect"><a:avLst/></a:prstGeom><a:solidFill><a:srgbClr val="122840"/></a:solidFill><a:ln><a:noFill/></a:ln></p:spPr>
<p:txBody><a:bodyPr/><a:lstStyle/><a:p/></p:txBody></p:sp>
<p:sp><p:nvSpPr><p:cNvPr id="35" name="TCT21"/><p:cNvSpPr txBox="1"><a:spLocks noGrp="1"/></p:cNvSpPr><p:nvPr/></p:nvSpPr>
<p:spPr><a:xfrm><a:off x="2286000" y="3291840"/><a:ext cx="1463040" cy="566928"/></a:xfrm><a:prstGeom prst="rect"><a:avLst/></a:prstGeom><a:noFill/></p:spPr>
<p:txBody><a:bodyPr wrap="square" anchor="t"><a:normAutofit/></a:bodyPr><a:lstStyle/><a:p><a:pPr algn="l"/>
<a:r><a:rPr lang="en-IN" sz="1280" b="0" dirty="0"><a:solidFill><a:srgbClr val="F5A623"/></a:solidFill><a:latin typeface="Calibri"/><a:cs typeface="Nirmala UI"/></a:rPr><a:t>SpanBERT-Coref</a:t></a:r></a:p></p:txBody></p:sp>
<p:sp><p:nvSpPr><p:cNvPr id="36" name="TC22"/><p:cNvSpPr><a:spLocks noGrp="1"/></p:cNvSpPr><p:nvPr/></p:nvSpPr>
<p:spPr><a:xfrm><a:off x="3840480" y="3236976"/><a:ext cx="6812280" cy="658368"/></a:xfrm><a:prstGeom prst="rect"><a:avLst/></a:prstGeom><a:solidFill><a:srgbClr val="122840"/></a:solidFill><a:ln><a:noFill/></a:ln></p:spPr>
<p:txBody><a:bodyPr/><a:lstStyle/><a:p/></p:txBody></p:sp>
<p:sp><p:nvSpPr><p:cNvPr id="37" name="TCT22"/><p:cNvSpPr txBox="1"><a:spLocks noGrp="1"/></p:cNvSpPr><p:nvPr/></p:nvSpPr>
<p:spPr><a:xfrm><a:off x="3931920" y="3291840"/><a:ext cx="6675120" cy="566928"/></a:xfrm><a:prstGeom prst="rect"><a:avLst/></a:prstGeom><a:noFill/></p:spPr>
<p:txBody><a:bodyPr wrap="square" anchor="t"><a:normAutofit/></a:bodyPr><a:lstStyle/><a:p><a:pPr algn="l"/>
<a:r><a:rPr lang="en-IN" sz="1220" b="0" dirty="0"><a:solidFill><a:srgbClr val="D0E4F7"/></a:solidFill><a:latin typeface="Calibri"/><a:cs typeface="Nirmala UI"/></a:rPr><a:t>Fine-tunes SpanBERT (span-masked pretraining) for coreference. Span representations capture better entity boundaries. Sets new SOTA on OntoNotes 5.0 with F1=79.6%.</a:t></a:r></a:p></p:txBody></p:sp>
<p:sp><p:nvSpPr><p:cNvPr id="38" name="TC30"/><p:cNvSpPr><a:spLocks noGrp="1"/></p:cNvSpPr><p:nvPr/></p:nvSpPr>
<p:spPr><a:xfrm><a:off x="274320" y="3895344"/><a:ext cx="1874519" cy="658368"/></a:xfrm><a:prstGeom prst="rect"><a:avLst/></a:prstGeom><a:solidFill><a:srgbClr val="0D1B2E"/></a:solidFill><a:ln><a:noFill/></a:ln></p:spPr>
<p:txBody><a:bodyPr/><a:lstStyle/><a:p/></p:txBody></p:sp>
<p:sp><p:nvSpPr><p:cNvPr id="39" name="TCT30"/><p:cNvSpPr txBox="1"><a:spLocks noGrp="1"/></p:cNvSpPr><p:nvPr/></p:nvSpPr>
<p:spPr><a:xfrm><a:off x="365760" y="3950208"/><a:ext cx="1737359" cy="566928"/></a:xfrm><a:prstGeom prst="rect"><a:avLst/></a:prstGeom><a:noFill/></p:spPr>
<p:txBody><a:bodyPr wrap="square" anchor="t"><a:normAutofit/></a:bodyPr><a:lstStyle/><a:p><a:pPr algn="l"/>
<a:r><a:rPr lang="en-IN" sz="1280" b="1" dirty="0"><a:solidFill><a:srgbClr val="A06BBE"/></a:solidFill><a:latin typeface="Calibri"/><a:cs typeface="Nirmala UI"/></a:rPr><a:t>Kumar et al., 2020</a:t></a:r></a:p></p:txBody></p:sp>
<p:sp><p:nvSpPr><p:cNvPr id="40" name="TC31"/><p:cNvSpPr><a:spLocks noGrp="1"/></p:cNvSpPr><p:nvPr/></p:nvSpPr>
<p:spPr><a:xfrm><a:off x="2194560" y="3895344"/><a:ext cx="1600200" cy="658368"/></a:xfrm><a:prstGeom prst="rect"><a:avLst/></a:prstGeom><a:solidFill><a:srgbClr val="0D1B2E"/></a:solidFill><a:ln><a:noFill/></a:ln></p:spPr>
<p:txBody><a:bodyPr/><a:lstStyle/><a:p/></p:txBody></p:sp>
<p:sp><p:nvSpPr><p:cNvPr id="41" name="TCT31"/><p:cNvSpPr txBox="1"><a:spLocks noGrp="1"/></p:cNvSpPr><p:nvPr/></p:nvSpPr>
<p:spPr><a:xfrm><a:off x="2286000" y="3950208"/><a:ext cx="1463040" cy="566928"/></a:xfrm><a:prstGeom prst="rect"><a:avLst/></a:prstGeom><a:noFill/></p:spPr>
<p:txBody><a:bodyPr wrap="square" anchor="t"><a:normAutofit/></a:bodyPr><a:lstStyle/><a:p><a:pPr algn="l"/>
<a:r><a:rPr lang="en-IN" sz="1280" b="0" dirty="0"><a:solidFill><a:srgbClr val="F5A623"/></a:solidFill><a:latin typeface="Calibri"/><a:cs typeface="Nirmala UI"/></a:rPr><a:t>Hindi Rule-Based</a:t></a:r></a:p></p:txBody></p:sp>
<p:sp><p:nvSpPr><p:cNvPr id="42" name="TC32"/><p:cNvSpPr><a:spLocks noGrp="1"/></p:cNvSpPr><p:nvPr/></p:nvSpPr>
<p:spPr><a:xfrm><a:off x="3840480" y="3895344"/><a:ext cx="6812280" cy="658368"/></a:xfrm><a:prstGeom prst="rect"><a:avLst/></a:prstGeom><a:solidFill><a:srgbClr val="0D1B2E"/></a:solidFill><a:ln><a:noFill/></a:ln></p:spPr>
<p:txBody><a:bodyPr/><a:lstStyle/><a:p/></p:txBody></p:sp>
<p:sp><p:nvSpPr><p:cNvPr id="43" name="TCT32"/><p:cNvSpPr txBox="1"><a:spLocks noGrp="1"/></p:cNvSpPr><p:nvPr/></p:nvSpPr>
<p:spPr><a:xfrm><a:off x="3931920" y="3950208"/><a:ext cx="6675120" cy="566928"/></a:xfrm><a:prstGeom prst="rect"><a:avLst/></a:prstGeom><a:noFill/></p:spPr>
<p:txBody><a:bodyPr wrap="square" anchor="t"><a:normAutofit/></a:bodyPr><a:lstStyle/><a:p><a:pPr algn="l"/>
<a:r><a:rPr lang="en-IN" sz="1220" b="0" dirty="0"><a:solidFill><a:srgbClr val="D0E4F7"/></a:solidFill><a:latin typeface="Calibri"/><a:cs typeface="Nirmala UI"/></a:rPr><a:t>Rule-based Hindi coreference using morphological agreement (gender/number/case). Works well for pronoun-antecedent but fails on nominal and zero-anaphora cases.</a:t></a:r></a:p></p:txBody></p:sp>
<p:sp><p:nvSpPr><p:cNvPr id="44" name="TC40"/><p:cNvSpPr><a:spLocks noGrp="1"/></p:cNvSpPr><p:nvPr/></p:nvSpPr>
<p:spPr><a:xfrm><a:off x="274320" y="4553712"/><a:ext cx="1874519" cy="658368"/></a:xfrm><a:prstGeom prst="rect"><a:avLst/></a:prstGeom><a:solidFill><a:srgbClr val="122840"/></a:solidFill><a:ln><a:noFill/></a:ln></p:spPr>
<p:txBody><a:bodyPr/><a:lstStyle/><a:p/></p:txBody></p:sp>
<p:sp><p:nvSpPr><p:cNvPr id="45" name="TCT40"/><p:cNvSpPr txBox="1"><a:spLocks noGrp="1"/></p:cNvSpPr><p:nvPr/></p:nvSpPr>
<p:spPr><a:xfrm><a:off x="365760" y="4608576"/><a:ext cx="1737359" cy="566928"/></a:xfrm><a:prstGeom prst="rect"><a:avLst/></a:prstGeom><a:noFill/></p:spPr>
<p:txBody><a:bodyPr wrap="square" anchor="t"><a:normAutofit/></a:bodyPr><a:lstStyle/><a:p><a:pPr algn="l"/>
<a:r><a:rPr lang="en-IN" sz="1280" b="1" dirty="0"><a:solidFill><a:srgbClr val="00C9B1"/></a:solidFill><a:latin typeface="Calibri"/><a:cs typeface="Nirmala UI"/></a:rPr><a:t>AI4Bharat, 2022</a:t></a:r></a:p></p:txBody></p:sp>
<p:sp><p:nvSpPr><p:cNvPr id="46" name="TC41"/><p:cNvSpPr><a:spLocks noGrp="1"/></p:cNvSpPr><p:nvPr/></p:nvSpPr>
<p:spPr><a:xfrm><a:off x="2194560" y="4553712"/><a:ext cx="1600200" cy="658368"/></a:xfrm><a:prstGeom prst="rect"><a:avLst/></a:prstGeom><a:solidFill><a:srgbClr val="122840"/></a:solidFill><a:ln><a:noFill/></a:ln></p:spPr>
<p:txBody><a:bodyPr/><a:lstStyle/><a:p/></p:txBody></p:sp>
<p:sp><p:nvSpPr><p:cNvPr id="47" name="TCT41"/><p:cNvSpPr txBox="1"><a:spLocks noGrp="1"/></p:cNvSpPr><p:nvPr/></p:nvSpPr>
<p:spPr><a:xfrm><a:off x="2286000" y="4608576"/><a:ext cx="1463040" cy="566928"/></a:xfrm><a:prstGeom prst="rect"><a:avLst/></a:prstGeom><a:noFill/></p:spPr>
<p:txBody><a:bodyPr wrap="square" anchor="t"><a:normAutofit/></a:bodyPr><a:lstStyle/><a:p><a:pPr algn="l"/>
<a:r><a:rPr lang="en-IN" sz="1280" b="0" dirty="0"><a:solidFill><a:srgbClr val="F5A623"/></a:solidFill><a:latin typeface="Calibri"/><a:cs typeface="Nirmala UI"/></a:rPr><a:t>IndicBERTv2</a:t></a:r></a:p></p:txBody></p:sp>
<p:sp><p:nvSpPr><p:cNvPr id="48" name="TC42"/><p:cNvSpPr><a:spLocks noGrp="1"/></p:cNvSpPr><p:nvPr/></p:nvSpPr>
<p:spPr><a:xfrm><a:off x="3840480" y="4553712"/><a:ext cx="6812280" cy="658368"/></a:xfrm><a:prstGeom prst="rect"><a:avLst/></a:prstGeom><a:solidFill><a:srgbClr val="122840"/></a:solidFill><a:ln><a:noFill/></a:ln></p:spPr>
<p:txBody><a:bodyPr/><a:lstStyle/><a:p/></p:txBody></p:sp>
<p:sp><p:nvSpPr><p:cNvPr id="49" name="TCT42"/><p:cNvSpPr txBox="1"><a:spLocks noGrp="1"/></p:cNvSpPr><p:nvPr/></p:nvSpPr>
<p:spPr><a:xfrm><a:off x="3931920" y="4608576"/><a:ext cx="6675120" cy="566928"/></a:xfrm><a:prstGeom prst="rect"><a:avLst/></a:prstGeom><a:noFill/></p:spPr>
<p:txBody><a:bodyPr wrap="square" anchor="t"><a:normAutofit/></a:bodyPr><a:lstStyle/><a:p><a:pPr algn="l"/>
<a:r><a:rPr lang="en-IN" sz="1220" b="0" dirty="0"><a:solidFill><a:srgbClr val="D0E4F7"/></a:solidFill><a:latin typeface="Calibri"/><a:cs typeface="Nirmala UI"/></a:rPr><a:t>Pretrained BERT-style model on 24 Indic languages. Uses IndicCorp v2 (20B+ tokens). Achieves SOTA on IndicGLUE benchmarks. Key building block for our Phase 2 system.</a:t></a:r></a:p></p:txBody></p:sp>
<p:sp><p:nvSpPr><p:cNvPr id="50" name="TC50"/><p:cNvSpPr><a:spLocks noGrp="1"/></p:cNvSpPr><p:nvPr/></p:nvSpPr>
<p:spPr><a:xfrm><a:off x="274320" y="5212080"/><a:ext cx="1874519" cy="658368"/></a:xfrm><a:prstGeom prst="rect"><a:avLst/></a:prstGeom><a:solidFill><a:srgbClr val="0D1B2E"/></a:solidFill><a:ln><a:noFill/></a:ln></p:spPr>
<p:txBody><a:bodyPr/><a:lstStyle/><a:p/></p:txBody></p:sp>
<p:sp><p:nvSpPr><p:cNvPr id="51" name="TCT50"/><p:cNvSpPr txBox="1"><a:spLocks noGrp="1"/></p:cNvSpPr><p:nvPr/></p:nvSpPr>
<p:spPr><a:xfrm><a:off x="365760" y="5266944"/><a:ext cx="1737359" cy="566928"/></a:xfrm><a:prstGeom prst="rect"><a:avLst/></a:prstGeom><a:noFill/></p:spPr>
<p:txBody><a:bodyPr wrap="square" anchor="t"><a:normAutofit/></a:bodyPr><a:lstStyle/><a:p><a:pPr algn="l"/>
<a:r><a:rPr lang="en-IN" sz="1280" b="1" dirty="0"><a:solidFill><a:srgbClr val="6BBE8C"/></a:solidFill><a:latin typeface="Calibri"/><a:cs typeface="Nirmala UI"/></a:rPr><a:t>Dobrovolskii, 2021</a:t></a:r></a:p></p:txBody></p:sp>
<p:sp><p:nvSpPr><p:cNvPr id="52" name="TC51"/><p:cNvSpPr><a:spLocks noGrp="1"/></p:cNvSpPr><p:nvPr/></p:nvSpPr>
<p:spPr><a:xfrm><a:off x="2194560" y="5212080"/><a:ext cx="1600200" cy="658368"/></a:xfrm><a:prstGeom prst="rect"><a:avLst/></a:prstGeom><a:solidFill><a:srgbClr val="0D1B2E"/></a:solidFill><a:ln><a:noFill/></a:ln></p:spPr>
<p:txBody><a:bodyPr/><a:lstStyle/><a:p/></p:txBody></p:sp>
<p:sp><p:nvSpPr><p:cNvPr id="53" name="TCT51"/><p:cNvSpPr txBox="1"><a:spLocks noGrp="1"/></p:cNvSpPr><p:nvPr/></p:nvSpPr>
<p:spPr><a:xfrm><a:off x="2286000" y="5266944"/><a:ext cx="1463040" cy="566928"/></a:xfrm><a:prstGeom prst="rect"><a:avLst/></a:prstGeom><a:noFill/></p:spPr>
<p:txBody><a:bodyPr wrap="square" anchor="t"><a:normAutofit/></a:bodyPr><a:lstStyle/><a:p><a:pPr algn="l"/>
<a:r><a:rPr lang="en-IN" sz="1280" b="0" dirty="0"><a:solidFill><a:srgbClr val="F5A623"/></a:solidFill><a:latin typeface="Calibri"/><a:cs typeface="Nirmala UI"/></a:rPr><a:t>Word-Level Coref</a:t></a:r></a:p></p:txBody></p:sp>
<p:sp><p:nvSpPr><p:cNvPr id="54" name="TC52"/><p:cNvSpPr><a:spLocks noGrp="1"/></p:cNvSpPr><p:nvPr/></p:nvSpPr>
<p:spPr><a:xfrm><a:off x="3840480" y="5212080"/><a:ext cx="6812280" cy="658368"/></a:xfrm><a:prstGeom prst="rect"><a:avLst/></a:prstGeom><a:solidFill><a:srgbClr val="0D1B2E"/></a:solidFill><a:ln><a:noFill/></a:ln></p:spPr>
<p:txBody><a:bodyPr/><a:lstStyle/><a:p/></p:txBody></p:sp>
<p:sp><p:nvSpPr><p:cNvPr id="55" name="TCT52"/><p:cNvSpPr txBox="1"><a:spLocks noGrp="1"/></p:cNvSpPr><p:nvPr/></p:nvSpPr>
<p:spPr><a:xfrm><a:off x="3931920" y="5266944"/><a:ext cx="6675120" cy="566928"/></a:xfrm><a:prstGeom prst="rect"><a:avLst/></a:prstGeom><a:noFill/></p:spPr>
<p:txBody><a:bodyPr wrap="square" anchor="t"><a:normAutofit/></a:bodyPr><a:lstStyle/><a:p><a:pPr algn="l"/>
<a:r><a:rPr lang="en-IN" sz="1220" b="0" dirty="0"><a:solidFill><a:srgbClr val="D0E4F7"/></a:solidFill><a:latin typeface="Calibri"/><a:cs typeface="Nirmala UI"/></a:rPr><a:t>Reformulates coreference at word level (not span level), avoiding span enumeration bottleneck. Scales to long documents. Efficient O(n^2) complexity over words not O(n^3) over spans.</a:t></a:r></a:p></p:txBody></p:sp>
<p:sp><p:nvSpPr><p:cNvPr id="56" name="GapBox"/><p:cNvSpPr><a:spLocks noGrp="1"/></p:cNvSpPr><p:nvPr/></p:nvSpPr>
<p:spPr><a:xfrm><a:off x="274320" y="6080760"/><a:ext cx="10515600" cy="566928"/></a:xfrm><a:prstGeom prst="roundRect"><a:avLst><a:gd name="adj" fmla="val 16667"/></a:avLst></a:prstGeom><a:solidFill><a:srgbClr val="0D1B2E"/></a:solidFill><a:ln w="12700"><a:solidFill><a:srgbClr val="F5A623"/></a:solidFill></a:ln></p:spPr>
<p:txBody><a:bodyPr/><a:lstStyle/><a:p/></p:txBody></p:sp>
<p:sp><p:nvSpPr><p:cNvPr id="57" name="GapTxt"/><p:cNvSpPr txBox="1"><a:spLocks noGrp="1"/></p:cNvSpPr><p:nvPr/></p:nvSpPr>
<p:spPr><a:xfrm><a:off x="457200" y="6126480"/><a:ext cx="10149840" cy="475488"/></a:xfrm><a:prstGeom prst="rect"><a:avLst/></a:prstGeom><a:noFill/></p:spPr>
<p:txBody><a:bodyPr wrap="square" anchor="t"><a:normAutofit/></a:bodyPr><a:lstStyle/><a:p><a:pPr algn="l"/>
<a:r><a:rPr lang="en-IN" sz="1280" b="0" dirty="0"><a:solidFill><a:srgbClr val="D0E4F7"/></a:solidFill><a:latin typeface="Calibri"/><a:cs typeface="Nirmala UI"/></a:rPr><a:t>Research Gap: No end-to-end supervised Hindi coreference system exists that leverages pretrained Indic transformers (IndicBERTv2). This project fills that gap.</a:t></a:r></a:p></p:txBody></p:sp>
<p:sp><p:nvSpPr><p:cNvPr id="58" name="FB"/><p:cNvSpPr><a:spLocks noGrp="1"/></p:cNvSpPr><p:nvPr/></p:nvSpPr>
<p:spPr><a:xfrm><a:off x="0" y="6473952"/><a:ext cx="12192000" cy="384048"/></a:xfrm><a:prstGeom prst="rect"><a:avLst/></a:prstGeom><a:solidFill><a:srgbClr val="112238"/></a:solidFill><a:ln><a:noFill/></a:ln></p:spPr>
<p:txBody><a:bodyPr/><a:lstStyle/><a:p/></p:txBody></p:sp>
<p:sp><p:nvSpPr><p:cNvPr id="59" name="FL"/><p:cNvSpPr><a:spLocks noGrp="1"/></p:cNvSpPr><p:nvPr/></p:nvSpPr>
<p:spPr><a:xfrm><a:off x="0" y="6473952"/><a:ext cx="12192000" cy="36576"/></a:xfrm><a:prstGeom prst="rect"><a:avLst/></a:prstGeom><a:solidFill><a:srgbClr val="00C9B1"/></a:solidFill><a:ln><a:noFill/></a:ln></p:spPr>
<p:txBody><a:bodyPr/><a:lstStyle/><a:p/></p:txBody></p:sp>
<p:sp><p:nvSpPr><p:cNvPr id="60" name="FL2"/><p:cNvSpPr txBox="1"><a:spLocks noGrp="1"/></p:cNvSpPr><p:nvPr/></p:nvSpPr>
<p:spPr><a:xfrm><a:off x="274320" y="6510528"/><a:ext cx="5486400" cy="310896"/></a:xfrm><a:prstGeom prst="rect"><a:avLst/></a:prstGeom><a:noFill/></p:spPr>
<p:txBody><a:bodyPr wrap="square" anchor="t"><a:normAutofit/></a:bodyPr><a:lstStyle/><a:p><a:pPr algn="l"/>
<a:r><a:rPr lang="en-IN" sz="950" b="0" dirty="0"><a:solidFill><a:srgbClr val="8AAEC8"/></a:solidFill><a:latin typeface="Calibri"/><a:cs typeface="Nirmala UI"/></a:rPr><a:t>Hindi Coreference Resolution  |  CIT Kokrajhar</a:t></a:r></a:p></p:txBody></p:sp>
<p:sp><p:nvSpPr><p:cNvPr id="61" name="FR"/><p:cNvSpPr txBox="1"><a:spLocks noGrp="1"/></p:cNvSpPr><p:nvPr/></p:nvSpPr>
<p:spPr><a:xfrm><a:off x="7772400" y="6510528"/><a:ext cx="3200400" cy="310896"/></a:xfrm><a:prstGeom prst="rect"><a:avLst/></a:prstGeom><a:noFill/></p:spPr>
<p:txBody><a:bodyPr wrap="square" anchor="t"><a:normAutofit/></a:bodyPr><a:lstStyle/><a:p><a:pPr algn="r"/>
<a:r><a:rPr lang="en-IN" sz="950" b="0" dirty="0"><a:solidFill><a:srgbClr val="8AAEC8"/></a:solidFill><a:latin typeface="Calibri"/><a:cs typeface="Nirmala UI"/></a:rPr><a:t>B.Tech Project  |  2026</a:t></a:r></a:p></p:txBody></p:sp>
  </p:spTree></p:cSld>
  <p:clrMapOvr><a:masterClrMapping/>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10" name="TopBar"/>
          <p:cNvSpPr>
            <a:spLocks noGrp="1"/>
          </p:cNvSpPr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12238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AccLine"/>
          <p:cNvSpPr>
            <a:spLocks noGrp="1"/>
          </p:cNvSpPr>
          <p:nvPr/>
        </p:nvSpPr>
        <p:spPr>
          <a:xfrm>
            <a:off x="0" y="1097280"/>
            <a:ext cx="12192000" cy="54864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itle"/>
          <p:cNvSpPr txBox="1">
            <a:spLocks noGrp="1"/>
          </p:cNvSpPr>
          <p:nvPr/>
        </p:nvSpPr>
        <p:spPr>
          <a:xfrm>
            <a:off x="365760" y="91440"/>
            <a:ext cx="10424160" cy="7772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n-IN" sz="2800" b="1" dirty="0">
                <a:solidFill>
                  <a:srgbClr val="FFFFFF"/>
                </a:solidFill>
                <a:latin typeface="Calibri"/>
                <a:cs typeface="Nirmala UI"/>
              </a:rPr>
              <a:t>Dataset Description</a:t>
            </a:r>
          </a:p>
        </p:txBody>
      </p:sp>
      <p:sp>
        <p:nvSpPr>
          <p:cNvPr id="13" name="Sub"/>
          <p:cNvSpPr txBox="1">
            <a:spLocks noGrp="1"/>
          </p:cNvSpPr>
          <p:nvPr/>
        </p:nvSpPr>
        <p:spPr>
          <a:xfrm>
            <a:off x="365760" y="749808"/>
            <a:ext cx="9144000" cy="38404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n-IN" sz="1300" b="0" dirty="0">
                <a:solidFill>
                  <a:srgbClr val="00C9B1"/>
                </a:solidFill>
                <a:latin typeface="Calibri"/>
                <a:cs typeface="Nirmala UI"/>
              </a:rPr>
              <a:t>Two distinct corpora — pretraining corpus and annotated benchmark</a:t>
            </a:r>
          </a:p>
        </p:txBody>
      </p:sp>
      <p:sp>
        <p:nvSpPr>
          <p:cNvPr id="14" name="P1"/>
          <p:cNvSpPr>
            <a:spLocks noGrp="1"/>
          </p:cNvSpPr>
          <p:nvPr/>
        </p:nvSpPr>
        <p:spPr>
          <a:xfrm>
            <a:off x="274320" y="1234440"/>
            <a:ext cx="5074920" cy="5074920"/>
          </a:xfrm>
          <a:prstGeom prst="roundRect">
            <a:avLst>
              <a:gd name="adj" fmla="val 16667"/>
            </a:avLst>
          </a:prstGeom>
          <a:solidFill>
            <a:srgbClr val="0D1B2E"/>
          </a:solidFill>
          <a:ln w="14000">
            <a:solidFill>
              <a:srgbClr val="00C9B1"/>
            </a:solidFill>
          </a:ln>
        </p:spPr>
        <p:txBody>
          <a:bodyPr/>
          <a:lstStyle/>
          <a:p/>
        </p:txBody>
      </p:sp>
      <p:sp>
        <p:nvSpPr>
          <p:cNvPr id="15" name="P1H"/>
          <p:cNvSpPr>
            <a:spLocks noGrp="1"/>
          </p:cNvSpPr>
          <p:nvPr/>
        </p:nvSpPr>
        <p:spPr>
          <a:xfrm>
            <a:off x="274320" y="1234440"/>
            <a:ext cx="5074920" cy="493776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P1HT"/>
          <p:cNvSpPr txBox="1">
            <a:spLocks noGrp="1"/>
          </p:cNvSpPr>
          <p:nvPr/>
        </p:nvSpPr>
        <p:spPr>
          <a:xfrm>
            <a:off x="411480" y="1261872"/>
            <a:ext cx="4846320" cy="43891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n-IN" sz="1500" b="1" dirty="0">
                <a:solidFill>
                  <a:srgbClr val="1A2E4A"/>
                </a:solidFill>
                <a:latin typeface="Calibri"/>
                <a:cs typeface="Nirmala UI"/>
              </a:rPr>
              <a:t>PHASE 1  —  Pretraining Corpus</a:t>
            </a:r>
          </a:p>
        </p:txBody>
      </p:sp>
      <p:sp>
        <p:nvSpPr>
          <p:cNvPr id="17" name="P1B"/>
          <p:cNvSpPr txBox="1">
            <a:spLocks noGrp="1"/>
          </p:cNvSpPr>
          <p:nvPr/>
        </p:nvSpPr>
        <p:spPr>
          <a:xfrm>
            <a:off x="411480" y="1783080"/>
            <a:ext cx="4800600" cy="43891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indent="-228600" marL="228600">
              <a:spcBef>
                <a:spcPts val="48"/>
              </a:spcBef>
              <a:lnSpc>
                <a:spcPct val="107"/>
              </a:lnSpc>
            </a:pPr>
            <a:r>
              <a:rPr lang="en-IN" sz="1230" b="0" dirty="0">
                <a:solidFill>
                  <a:srgbClr val="00C9B1"/>
                </a:solidFill>
                <a:latin typeface="Calibri"/>
              </a:rPr>
              <a:t>▪  </a:t>
            </a:r>
            <a:r>
              <a:rPr lang="en-IN" sz="1230" b="0" dirty="0">
                <a:solidFill>
                  <a:srgbClr val="D0E4F7"/>
                </a:solidFill>
                <a:latin typeface="Calibri"/>
                <a:cs typeface="Nirmala UI"/>
              </a:rPr>
              <a:t>Source: Hindi Wikipedia dump (Oct 2023)</a:t>
            </a:r>
          </a:p>
          <a:p>
            <a:pPr indent="-228600" marL="228600">
              <a:spcBef>
                <a:spcPts val="48"/>
              </a:spcBef>
              <a:lnSpc>
                <a:spcPct val="107"/>
              </a:lnSpc>
            </a:pPr>
            <a:r>
              <a:rPr lang="en-IN" sz="1130" b="0" dirty="0">
                <a:solidFill>
                  <a:srgbClr val="8AAEC8"/>
                </a:solidFill>
                <a:latin typeface="Calibri"/>
              </a:rPr>
              <a:t>  ◦  </a:t>
            </a:r>
            <a:r>
              <a:rPr lang="en-IN" sz="1130" b="0" dirty="0">
                <a:solidFill>
                  <a:srgbClr val="D0E4F7"/>
                </a:solidFill>
                <a:latin typeface="Calibri"/>
                <a:cs typeface="Nirmala UI"/>
              </a:rPr>
              <a:t>~172,000 documents, ~48M tokens after cleaning</a:t>
            </a:r>
          </a:p>
          <a:p>
            <a:pPr indent="-228600" marL="228600">
              <a:spcBef>
                <a:spcPts val="48"/>
              </a:spcBef>
              <a:lnSpc>
                <a:spcPct val="107"/>
              </a:lnSpc>
            </a:pPr>
            <a:r>
              <a:rPr lang="en-IN" sz="1130" b="0" dirty="0">
                <a:solidFill>
                  <a:srgbClr val="8AAEC8"/>
                </a:solidFill>
                <a:latin typeface="Calibri"/>
              </a:rPr>
              <a:t>  ◦  </a:t>
            </a:r>
            <a:r>
              <a:rPr lang="en-IN" sz="1130" b="0" dirty="0">
                <a:solidFill>
                  <a:srgbClr val="D0E4F7"/>
                </a:solidFill>
                <a:latin typeface="Calibri"/>
                <a:cs typeface="Nirmala UI"/>
              </a:rPr>
              <a:t>Cleaned: removed markup, tables, infoboxes, citations</a:t>
            </a:r>
          </a:p>
          <a:p>
            <a:pPr indent="-228600" marL="228600">
              <a:spcBef>
                <a:spcPts val="48"/>
              </a:spcBef>
              <a:lnSpc>
                <a:spcPct val="107"/>
              </a:lnSpc>
            </a:pPr>
            <a:r>
              <a:rPr lang="en-IN" sz="1230" b="0" dirty="0">
                <a:solidFill>
                  <a:srgbClr val="00C9B1"/>
                </a:solidFill>
                <a:latin typeface="Calibri"/>
              </a:rPr>
              <a:t>▪  </a:t>
            </a:r>
            <a:r>
              <a:rPr lang="en-IN" sz="1230" b="0" dirty="0">
                <a:solidFill>
                  <a:srgbClr val="D0E4F7"/>
                </a:solidFill>
                <a:latin typeface="Calibri"/>
                <a:cs typeface="Nirmala UI"/>
              </a:rPr>
              <a:t>Tokenizer: SentencePiece BPE</a:t>
            </a:r>
          </a:p>
          <a:p>
            <a:pPr indent="-228600" marL="228600">
              <a:spcBef>
                <a:spcPts val="48"/>
              </a:spcBef>
              <a:lnSpc>
                <a:spcPct val="107"/>
              </a:lnSpc>
            </a:pPr>
            <a:r>
              <a:rPr lang="en-IN" sz="1130" b="0" dirty="0">
                <a:solidFill>
                  <a:srgbClr val="8AAEC8"/>
                </a:solidFill>
                <a:latin typeface="Calibri"/>
              </a:rPr>
              <a:t>  ◦  </a:t>
            </a:r>
            <a:r>
              <a:rPr lang="en-IN" sz="1130" b="0" dirty="0">
                <a:solidFill>
                  <a:srgbClr val="D0E4F7"/>
                </a:solidFill>
                <a:latin typeface="Calibri"/>
                <a:cs typeface="Nirmala UI"/>
              </a:rPr>
              <a:t>Vocabulary size: 32,000 subword tokens</a:t>
            </a:r>
          </a:p>
          <a:p>
            <a:pPr indent="-228600" marL="228600">
              <a:spcBef>
                <a:spcPts val="48"/>
              </a:spcBef>
              <a:lnSpc>
                <a:spcPct val="107"/>
              </a:lnSpc>
            </a:pPr>
            <a:r>
              <a:rPr lang="en-IN" sz="1130" b="0" dirty="0">
                <a:solidFill>
                  <a:srgbClr val="8AAEC8"/>
                </a:solidFill>
                <a:latin typeface="Calibri"/>
              </a:rPr>
              <a:t>  ◦  </a:t>
            </a:r>
            <a:r>
              <a:rPr lang="en-IN" sz="1130" b="0" dirty="0">
                <a:solidFill>
                  <a:srgbClr val="D0E4F7"/>
                </a:solidFill>
                <a:latin typeface="Calibri"/>
                <a:cs typeface="Nirmala UI"/>
              </a:rPr>
              <a:t>Trained from scratch on same Hindi Wikipedia corpus</a:t>
            </a:r>
          </a:p>
          <a:p>
            <a:pPr indent="-228600" marL="228600">
              <a:spcBef>
                <a:spcPts val="48"/>
              </a:spcBef>
              <a:lnSpc>
                <a:spcPct val="107"/>
              </a:lnSpc>
            </a:pPr>
            <a:r>
              <a:rPr lang="en-IN" sz="1130" b="0" dirty="0">
                <a:solidFill>
                  <a:srgbClr val="8AAEC8"/>
                </a:solidFill>
                <a:latin typeface="Calibri"/>
              </a:rPr>
              <a:t>  ◦  </a:t>
            </a:r>
            <a:r>
              <a:rPr lang="en-IN" sz="1130" b="0" dirty="0">
                <a:solidFill>
                  <a:srgbClr val="D0E4F7"/>
                </a:solidFill>
                <a:latin typeface="Calibri"/>
                <a:cs typeface="Nirmala UI"/>
              </a:rPr>
              <a:t>Handles Devanagari script natively without romanization</a:t>
            </a:r>
          </a:p>
          <a:p>
            <a:pPr indent="-228600" marL="228600">
              <a:spcBef>
                <a:spcPts val="48"/>
              </a:spcBef>
              <a:lnSpc>
                <a:spcPct val="107"/>
              </a:lnSpc>
            </a:pPr>
            <a:r>
              <a:rPr lang="en-IN" sz="1230" b="0" dirty="0">
                <a:solidFill>
                  <a:srgbClr val="00C9B1"/>
                </a:solidFill>
                <a:latin typeface="Calibri"/>
              </a:rPr>
              <a:t>▪  </a:t>
            </a:r>
            <a:r>
              <a:rPr lang="en-IN" sz="1230" b="0" dirty="0">
                <a:solidFill>
                  <a:srgbClr val="D0E4F7"/>
                </a:solidFill>
                <a:latin typeface="Calibri"/>
                <a:cs typeface="Nirmala UI"/>
              </a:rPr>
              <a:t>BERT Architecture (custom compact):</a:t>
            </a:r>
          </a:p>
          <a:p>
            <a:pPr indent="-228600" marL="228600">
              <a:spcBef>
                <a:spcPts val="48"/>
              </a:spcBef>
              <a:lnSpc>
                <a:spcPct val="107"/>
              </a:lnSpc>
            </a:pPr>
            <a:r>
              <a:rPr lang="en-IN" sz="1130" b="0" dirty="0">
                <a:solidFill>
                  <a:srgbClr val="8AAEC8"/>
                </a:solidFill>
                <a:latin typeface="Calibri"/>
              </a:rPr>
              <a:t>  ◦  </a:t>
            </a:r>
            <a:r>
              <a:rPr lang="en-IN" sz="1130" b="0" dirty="0">
                <a:solidFill>
                  <a:srgbClr val="D0E4F7"/>
                </a:solidFill>
                <a:latin typeface="Calibri"/>
                <a:cs typeface="Nirmala UI"/>
              </a:rPr>
              <a:t>6 transformer layers, 8 attention heads</a:t>
            </a:r>
          </a:p>
          <a:p>
            <a:pPr indent="-228600" marL="228600">
              <a:spcBef>
                <a:spcPts val="48"/>
              </a:spcBef>
              <a:lnSpc>
                <a:spcPct val="107"/>
              </a:lnSpc>
            </a:pPr>
            <a:r>
              <a:rPr lang="en-IN" sz="1130" b="0" dirty="0">
                <a:solidFill>
                  <a:srgbClr val="8AAEC8"/>
                </a:solidFill>
                <a:latin typeface="Calibri"/>
              </a:rPr>
              <a:t>  ◦  </a:t>
            </a:r>
            <a:r>
              <a:rPr lang="en-IN" sz="1130" b="0" dirty="0">
                <a:solidFill>
                  <a:srgbClr val="D0E4F7"/>
                </a:solidFill>
                <a:latin typeface="Calibri"/>
                <a:cs typeface="Nirmala UI"/>
              </a:rPr>
              <a:t>Hidden dimension: 512, FFN dimension: 2048</a:t>
            </a:r>
          </a:p>
          <a:p>
            <a:pPr indent="-228600" marL="228600">
              <a:spcBef>
                <a:spcPts val="48"/>
              </a:spcBef>
              <a:lnSpc>
                <a:spcPct val="107"/>
              </a:lnSpc>
            </a:pPr>
            <a:r>
              <a:rPr lang="en-IN" sz="1130" b="0" dirty="0">
                <a:solidFill>
                  <a:srgbClr val="8AAEC8"/>
                </a:solidFill>
                <a:latin typeface="Calibri"/>
              </a:rPr>
              <a:t>  ◦  </a:t>
            </a:r>
            <a:r>
              <a:rPr lang="en-IN" sz="1130" b="0" dirty="0">
                <a:solidFill>
                  <a:srgbClr val="D0E4F7"/>
                </a:solidFill>
                <a:latin typeface="Calibri"/>
                <a:cs typeface="Nirmala UI"/>
              </a:rPr>
              <a:t>Max sequence length: 128 tokens</a:t>
            </a:r>
          </a:p>
          <a:p>
            <a:pPr indent="-228600" marL="228600">
              <a:spcBef>
                <a:spcPts val="48"/>
              </a:spcBef>
              <a:lnSpc>
                <a:spcPct val="107"/>
              </a:lnSpc>
            </a:pPr>
            <a:r>
              <a:rPr lang="en-IN" sz="1230" b="0" dirty="0">
                <a:solidFill>
                  <a:srgbClr val="00C9B1"/>
                </a:solidFill>
                <a:latin typeface="Calibri"/>
              </a:rPr>
              <a:t>▪  </a:t>
            </a:r>
            <a:r>
              <a:rPr lang="en-IN" sz="1230" b="0" dirty="0">
                <a:solidFill>
                  <a:srgbClr val="D0E4F7"/>
                </a:solidFill>
                <a:latin typeface="Calibri"/>
                <a:cs typeface="Nirmala UI"/>
              </a:rPr>
              <a:t>Training Setup:</a:t>
            </a:r>
          </a:p>
          <a:p>
            <a:pPr indent="-228600" marL="228600">
              <a:spcBef>
                <a:spcPts val="48"/>
              </a:spcBef>
              <a:lnSpc>
                <a:spcPct val="107"/>
              </a:lnSpc>
            </a:pPr>
            <a:r>
              <a:rPr lang="en-IN" sz="1130" b="0" dirty="0">
                <a:solidFill>
                  <a:srgbClr val="8AAEC8"/>
                </a:solidFill>
                <a:latin typeface="Calibri"/>
              </a:rPr>
              <a:t>  ◦  </a:t>
            </a:r>
            <a:r>
              <a:rPr lang="en-IN" sz="1130" b="0" dirty="0">
                <a:solidFill>
                  <a:srgbClr val="D0E4F7"/>
                </a:solidFill>
                <a:latin typeface="Calibri"/>
                <a:cs typeface="Nirmala UI"/>
              </a:rPr>
              <a:t>Objective: Masked Language Modeling (MLM, 15% masking)</a:t>
            </a:r>
          </a:p>
          <a:p>
            <a:pPr indent="-228600" marL="228600">
              <a:spcBef>
                <a:spcPts val="48"/>
              </a:spcBef>
              <a:lnSpc>
                <a:spcPct val="107"/>
              </a:lnSpc>
            </a:pPr>
            <a:r>
              <a:rPr lang="en-IN" sz="1130" b="0" dirty="0">
                <a:solidFill>
                  <a:srgbClr val="8AAEC8"/>
                </a:solidFill>
                <a:latin typeface="Calibri"/>
              </a:rPr>
              <a:t>  ◦  </a:t>
            </a:r>
            <a:r>
              <a:rPr lang="en-IN" sz="1130" b="0" dirty="0">
                <a:solidFill>
                  <a:srgbClr val="D0E4F7"/>
                </a:solidFill>
                <a:latin typeface="Calibri"/>
                <a:cs typeface="Nirmala UI"/>
              </a:rPr>
              <a:t>Optimizer: AdamW, LR=1e-4, warmup=10K steps</a:t>
            </a:r>
          </a:p>
          <a:p>
            <a:pPr indent="-228600" marL="228600">
              <a:spcBef>
                <a:spcPts val="48"/>
              </a:spcBef>
              <a:lnSpc>
                <a:spcPct val="107"/>
              </a:lnSpc>
            </a:pPr>
            <a:r>
              <a:rPr lang="en-IN" sz="1130" b="0" dirty="0">
                <a:solidFill>
                  <a:srgbClr val="8AAEC8"/>
                </a:solidFill>
                <a:latin typeface="Calibri"/>
              </a:rPr>
              <a:t>  ◦  </a:t>
            </a:r>
            <a:r>
              <a:rPr lang="en-IN" sz="1130" b="0" dirty="0">
                <a:solidFill>
                  <a:srgbClr val="D0E4F7"/>
                </a:solidFill>
                <a:latin typeface="Calibri"/>
                <a:cs typeface="Nirmala UI"/>
              </a:rPr>
              <a:t>Batch size: 64, Epochs: 3 over full corpus</a:t>
            </a:r>
          </a:p>
          <a:p>
            <a:pPr indent="-228600" marL="228600">
              <a:spcBef>
                <a:spcPts val="48"/>
              </a:spcBef>
              <a:lnSpc>
                <a:spcPct val="107"/>
              </a:lnSpc>
            </a:pPr>
            <a:r>
              <a:rPr lang="en-IN" sz="1130" b="0" dirty="0">
                <a:solidFill>
                  <a:srgbClr val="8AAEC8"/>
                </a:solidFill>
                <a:latin typeface="Calibri"/>
              </a:rPr>
              <a:t>  ◦  </a:t>
            </a:r>
            <a:r>
              <a:rPr lang="en-IN" sz="1130" b="0" dirty="0">
                <a:solidFill>
                  <a:srgbClr val="D0E4F7"/>
                </a:solidFill>
                <a:latin typeface="Calibri"/>
                <a:cs typeface="Nirmala UI"/>
              </a:rPr>
              <a:t>Hardware: Google Colab T4 GPU (~18 hrs training)</a:t>
            </a:r>
          </a:p>
        </p:txBody>
      </p:sp>
      <p:sp>
        <p:nvSpPr>
          <p:cNvPr id="18" name="P2"/>
          <p:cNvSpPr>
            <a:spLocks noGrp="1"/>
          </p:cNvSpPr>
          <p:nvPr/>
        </p:nvSpPr>
        <p:spPr>
          <a:xfrm>
            <a:off x="5577840" y="1234440"/>
            <a:ext cx="5074920" cy="5074920"/>
          </a:xfrm>
          <a:prstGeom prst="roundRect">
            <a:avLst>
              <a:gd name="adj" fmla="val 16667"/>
            </a:avLst>
          </a:prstGeom>
          <a:solidFill>
            <a:srgbClr val="0D1B2E"/>
          </a:solidFill>
          <a:ln w="14000">
            <a:solidFill>
              <a:srgbClr val="F5A623"/>
            </a:solidFill>
          </a:ln>
        </p:spPr>
        <p:txBody>
          <a:bodyPr/>
          <a:lstStyle/>
          <a:p/>
        </p:txBody>
      </p:sp>
      <p:sp>
        <p:nvSpPr>
          <p:cNvPr id="19" name="P2H"/>
          <p:cNvSpPr>
            <a:spLocks noGrp="1"/>
          </p:cNvSpPr>
          <p:nvPr/>
        </p:nvSpPr>
        <p:spPr>
          <a:xfrm>
            <a:off x="5577840" y="1234440"/>
            <a:ext cx="5074920" cy="4937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P2HT"/>
          <p:cNvSpPr txBox="1">
            <a:spLocks noGrp="1"/>
          </p:cNvSpPr>
          <p:nvPr/>
        </p:nvSpPr>
        <p:spPr>
          <a:xfrm>
            <a:off x="5715000" y="1261872"/>
            <a:ext cx="4846320" cy="43891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n-IN" sz="1500" b="1" dirty="0">
                <a:solidFill>
                  <a:srgbClr val="1A2E4A"/>
                </a:solidFill>
                <a:latin typeface="Calibri"/>
                <a:cs typeface="Nirmala UI"/>
              </a:rPr>
              <a:t>PHASE 2  —  Annotated Benchmark</a:t>
            </a:r>
          </a:p>
        </p:txBody>
      </p:sp>
      <p:sp>
        <p:nvSpPr>
          <p:cNvPr id="21" name="P2B"/>
          <p:cNvSpPr txBox="1">
            <a:spLocks noGrp="1"/>
          </p:cNvSpPr>
          <p:nvPr/>
        </p:nvSpPr>
        <p:spPr>
          <a:xfrm>
            <a:off x="5715000" y="1783080"/>
            <a:ext cx="4800600" cy="43891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indent="-228600" marL="228600">
              <a:spcBef>
                <a:spcPts val="48"/>
              </a:spcBef>
              <a:lnSpc>
                <a:spcPct val="107"/>
              </a:lnSpc>
            </a:pPr>
            <a:r>
              <a:rPr lang="en-IN" sz="1230" b="0" dirty="0">
                <a:solidFill>
                  <a:srgbClr val="F5A623"/>
                </a:solidFill>
                <a:latin typeface="Calibri"/>
              </a:rPr>
              <a:t>▪  </a:t>
            </a:r>
            <a:r>
              <a:rPr lang="en-IN" sz="1230" b="0" dirty="0">
                <a:solidFill>
                  <a:srgbClr val="D0E4F7"/>
                </a:solidFill>
                <a:latin typeface="Calibri"/>
                <a:cs typeface="Nirmala UI"/>
              </a:rPr>
              <a:t>Annotation Statistics:</a:t>
            </a:r>
          </a:p>
          <a:p>
            <a:pPr indent="-228600" marL="228600">
              <a:spcBef>
                <a:spcPts val="48"/>
              </a:spcBef>
              <a:lnSpc>
                <a:spcPct val="107"/>
              </a:lnSpc>
            </a:pPr>
            <a:r>
              <a:rPr lang="en-IN" sz="1130" b="0" dirty="0">
                <a:solidFill>
                  <a:srgbClr val="8AAEC8"/>
                </a:solidFill>
                <a:latin typeface="Calibri"/>
              </a:rPr>
              <a:t>  ◦  </a:t>
            </a:r>
            <a:r>
              <a:rPr lang="en-IN" sz="1130" b="0" dirty="0">
                <a:solidFill>
                  <a:srgbClr val="D0E4F7"/>
                </a:solidFill>
                <a:latin typeface="Calibri"/>
                <a:cs typeface="Nirmala UI"/>
              </a:rPr>
              <a:t>1,248 manually labeled mention spans</a:t>
            </a:r>
          </a:p>
          <a:p>
            <a:pPr indent="-228600" marL="228600">
              <a:spcBef>
                <a:spcPts val="48"/>
              </a:spcBef>
              <a:lnSpc>
                <a:spcPct val="107"/>
              </a:lnSpc>
            </a:pPr>
            <a:r>
              <a:rPr lang="en-IN" sz="1130" b="0" dirty="0">
                <a:solidFill>
                  <a:srgbClr val="8AAEC8"/>
                </a:solidFill>
                <a:latin typeface="Calibri"/>
              </a:rPr>
              <a:t>  ◦  </a:t>
            </a:r>
            <a:r>
              <a:rPr lang="en-IN" sz="1130" b="0" dirty="0">
                <a:solidFill>
                  <a:srgbClr val="D0E4F7"/>
                </a:solidFill>
                <a:latin typeface="Calibri"/>
                <a:cs typeface="Nirmala UI"/>
              </a:rPr>
              <a:t>Drawn from 87 distinct Hindi sentences / passages</a:t>
            </a:r>
          </a:p>
          <a:p>
            <a:pPr indent="-228600" marL="228600">
              <a:spcBef>
                <a:spcPts val="48"/>
              </a:spcBef>
              <a:lnSpc>
                <a:spcPct val="107"/>
              </a:lnSpc>
            </a:pPr>
            <a:r>
              <a:rPr lang="en-IN" sz="1130" b="0" dirty="0">
                <a:solidFill>
                  <a:srgbClr val="8AAEC8"/>
                </a:solidFill>
                <a:latin typeface="Calibri"/>
              </a:rPr>
              <a:t>  ◦  </a:t>
            </a:r>
            <a:r>
              <a:rPr lang="en-IN" sz="1130" b="0" dirty="0">
                <a:solidFill>
                  <a:srgbClr val="D0E4F7"/>
                </a:solidFill>
                <a:latin typeface="Calibri"/>
                <a:cs typeface="Nirmala UI"/>
              </a:rPr>
              <a:t>Average 14.3 mentions per passage</a:t>
            </a:r>
          </a:p>
          <a:p>
            <a:pPr indent="-228600" marL="228600">
              <a:spcBef>
                <a:spcPts val="48"/>
              </a:spcBef>
              <a:lnSpc>
                <a:spcPct val="107"/>
              </a:lnSpc>
            </a:pPr>
            <a:r>
              <a:rPr lang="en-IN" sz="1230" b="0" dirty="0">
                <a:solidFill>
                  <a:srgbClr val="F5A623"/>
                </a:solidFill>
                <a:latin typeface="Calibri"/>
              </a:rPr>
              <a:t>▪  </a:t>
            </a:r>
            <a:r>
              <a:rPr lang="en-IN" sz="1230" b="0" dirty="0">
                <a:solidFill>
                  <a:srgbClr val="D0E4F7"/>
                </a:solidFill>
                <a:latin typeface="Calibri"/>
                <a:cs typeface="Nirmala UI"/>
              </a:rPr>
              <a:t>Mention Type Distribution:</a:t>
            </a:r>
          </a:p>
          <a:p>
            <a:pPr indent="-228600" marL="228600">
              <a:spcBef>
                <a:spcPts val="48"/>
              </a:spcBef>
              <a:lnSpc>
                <a:spcPct val="107"/>
              </a:lnSpc>
            </a:pPr>
            <a:r>
              <a:rPr lang="en-IN" sz="1130" b="0" dirty="0">
                <a:solidFill>
                  <a:srgbClr val="8AAEC8"/>
                </a:solidFill>
                <a:latin typeface="Calibri"/>
              </a:rPr>
              <a:t>  ◦  </a:t>
            </a:r>
            <a:r>
              <a:rPr lang="en-IN" sz="1130" b="0" dirty="0">
                <a:solidFill>
                  <a:srgbClr val="D0E4F7"/>
                </a:solidFill>
                <a:latin typeface="Calibri"/>
                <a:cs typeface="Nirmala UI"/>
              </a:rPr>
              <a:t>Proper Nouns (नाम): 312 spans  (25%)</a:t>
            </a:r>
          </a:p>
          <a:p>
            <a:pPr indent="-228600" marL="228600">
              <a:spcBef>
                <a:spcPts val="48"/>
              </a:spcBef>
              <a:lnSpc>
                <a:spcPct val="107"/>
              </a:lnSpc>
            </a:pPr>
            <a:r>
              <a:rPr lang="en-IN" sz="1130" b="0" dirty="0">
                <a:solidFill>
                  <a:srgbClr val="8AAEC8"/>
                </a:solidFill>
                <a:latin typeface="Calibri"/>
              </a:rPr>
              <a:t>  ◦  </a:t>
            </a:r>
            <a:r>
              <a:rPr lang="en-IN" sz="1130" b="0" dirty="0">
                <a:solidFill>
                  <a:srgbClr val="D0E4F7"/>
                </a:solidFill>
                <a:latin typeface="Calibri"/>
                <a:cs typeface="Nirmala UI"/>
              </a:rPr>
              <a:t>Common Nouns (संज्ञा): 289 spans  (23%)</a:t>
            </a:r>
          </a:p>
          <a:p>
            <a:pPr indent="-228600" marL="228600">
              <a:spcBef>
                <a:spcPts val="48"/>
              </a:spcBef>
              <a:lnSpc>
                <a:spcPct val="107"/>
              </a:lnSpc>
            </a:pPr>
            <a:r>
              <a:rPr lang="en-IN" sz="1130" b="0" dirty="0">
                <a:solidFill>
                  <a:srgbClr val="8AAEC8"/>
                </a:solidFill>
                <a:latin typeface="Calibri"/>
              </a:rPr>
              <a:t>  ◦  </a:t>
            </a:r>
            <a:r>
              <a:rPr lang="en-IN" sz="1130" b="0" dirty="0">
                <a:solidFill>
                  <a:srgbClr val="D0E4F7"/>
                </a:solidFill>
                <a:latin typeface="Calibri"/>
                <a:cs typeface="Nirmala UI"/>
              </a:rPr>
              <a:t>Pronouns (सर्वनाम): 431 spans  (35%)</a:t>
            </a:r>
          </a:p>
          <a:p>
            <a:pPr indent="-228600" marL="228600">
              <a:spcBef>
                <a:spcPts val="48"/>
              </a:spcBef>
              <a:lnSpc>
                <a:spcPct val="107"/>
              </a:lnSpc>
            </a:pPr>
            <a:r>
              <a:rPr lang="en-IN" sz="1130" b="0" dirty="0">
                <a:solidFill>
                  <a:srgbClr val="8AAEC8"/>
                </a:solidFill>
                <a:latin typeface="Calibri"/>
              </a:rPr>
              <a:t>  ◦  </a:t>
            </a:r>
            <a:r>
              <a:rPr lang="en-IN" sz="1130" b="0" dirty="0">
                <a:solidFill>
                  <a:srgbClr val="D0E4F7"/>
                </a:solidFill>
                <a:latin typeface="Calibri"/>
                <a:cs typeface="Nirmala UI"/>
              </a:rPr>
              <a:t>Nominal Phrases (NP): 216 spans  (17%)</a:t>
            </a:r>
          </a:p>
          <a:p>
            <a:pPr indent="-228600" marL="228600">
              <a:spcBef>
                <a:spcPts val="48"/>
              </a:spcBef>
              <a:lnSpc>
                <a:spcPct val="107"/>
              </a:lnSpc>
            </a:pPr>
            <a:r>
              <a:rPr lang="en-IN" sz="1230" b="0" dirty="0">
                <a:solidFill>
                  <a:srgbClr val="F5A623"/>
                </a:solidFill>
                <a:latin typeface="Calibri"/>
              </a:rPr>
              <a:t>▪  </a:t>
            </a:r>
            <a:r>
              <a:rPr lang="en-IN" sz="1230" b="0" dirty="0">
                <a:solidFill>
                  <a:srgbClr val="D0E4F7"/>
                </a:solidFill>
                <a:latin typeface="Calibri"/>
                <a:cs typeface="Nirmala UI"/>
              </a:rPr>
              <a:t>Annotation Process:</a:t>
            </a:r>
          </a:p>
          <a:p>
            <a:pPr indent="-228600" marL="228600">
              <a:spcBef>
                <a:spcPts val="48"/>
              </a:spcBef>
              <a:lnSpc>
                <a:spcPct val="107"/>
              </a:lnSpc>
            </a:pPr>
            <a:r>
              <a:rPr lang="en-IN" sz="1130" b="0" dirty="0">
                <a:solidFill>
                  <a:srgbClr val="8AAEC8"/>
                </a:solidFill>
                <a:latin typeface="Calibri"/>
              </a:rPr>
              <a:t>  ◦  </a:t>
            </a:r>
            <a:r>
              <a:rPr lang="en-IN" sz="1130" b="0" dirty="0">
                <a:solidFill>
                  <a:srgbClr val="D0E4F7"/>
                </a:solidFill>
                <a:latin typeface="Calibri"/>
                <a:cs typeface="Nirmala UI"/>
              </a:rPr>
              <a:t>3-pass methodology: (1) mention identification,</a:t>
            </a:r>
          </a:p>
          <a:p>
            <a:pPr indent="-228600" marL="228600">
              <a:spcBef>
                <a:spcPts val="48"/>
              </a:spcBef>
              <a:lnSpc>
                <a:spcPct val="107"/>
              </a:lnSpc>
            </a:pPr>
            <a:r>
              <a:rPr lang="en-IN" sz="1130" b="0" dirty="0">
                <a:solidFill>
                  <a:srgbClr val="8AAEC8"/>
                </a:solidFill>
                <a:latin typeface="Calibri"/>
              </a:rPr>
              <a:t>  ◦  </a:t>
            </a:r>
            <a:r>
              <a:rPr lang="en-IN" sz="1130" b="0" dirty="0">
                <a:solidFill>
                  <a:srgbClr val="D0E4F7"/>
                </a:solidFill>
                <a:latin typeface="Calibri"/>
                <a:cs typeface="Nirmala UI"/>
              </a:rPr>
              <a:t>(2) cluster assignment, (3) cross-annotator review</a:t>
            </a:r>
          </a:p>
          <a:p>
            <a:pPr indent="-228600" marL="228600">
              <a:spcBef>
                <a:spcPts val="48"/>
              </a:spcBef>
              <a:lnSpc>
                <a:spcPct val="107"/>
              </a:lnSpc>
            </a:pPr>
            <a:r>
              <a:rPr lang="en-IN" sz="1130" b="0" dirty="0">
                <a:solidFill>
                  <a:srgbClr val="8AAEC8"/>
                </a:solidFill>
                <a:latin typeface="Calibri"/>
              </a:rPr>
              <a:t>  ◦  </a:t>
            </a:r>
            <a:r>
              <a:rPr lang="en-IN" sz="1130" b="0" dirty="0">
                <a:solidFill>
                  <a:srgbClr val="D0E4F7"/>
                </a:solidFill>
                <a:latin typeface="Calibri"/>
                <a:cs typeface="Nirmala UI"/>
              </a:rPr>
              <a:t>Inter-annotator agreement: Cohen's κ = 0.81 (strong)</a:t>
            </a:r>
          </a:p>
          <a:p>
            <a:pPr indent="-228600" marL="228600">
              <a:spcBef>
                <a:spcPts val="48"/>
              </a:spcBef>
              <a:lnSpc>
                <a:spcPct val="107"/>
              </a:lnSpc>
            </a:pPr>
            <a:r>
              <a:rPr lang="en-IN" sz="1230" b="0" dirty="0">
                <a:solidFill>
                  <a:srgbClr val="F5A623"/>
                </a:solidFill>
                <a:latin typeface="Calibri"/>
              </a:rPr>
              <a:t>▪  </a:t>
            </a:r>
            <a:r>
              <a:rPr lang="en-IN" sz="1230" b="0" dirty="0">
                <a:solidFill>
                  <a:srgbClr val="D0E4F7"/>
                </a:solidFill>
                <a:latin typeface="Calibri"/>
                <a:cs typeface="Nirmala UI"/>
              </a:rPr>
              <a:t>Label Schema:</a:t>
            </a:r>
          </a:p>
          <a:p>
            <a:pPr indent="-228600" marL="228600">
              <a:spcBef>
                <a:spcPts val="48"/>
              </a:spcBef>
              <a:lnSpc>
                <a:spcPct val="107"/>
              </a:lnSpc>
            </a:pPr>
            <a:r>
              <a:rPr lang="en-IN" sz="1130" b="0" dirty="0">
                <a:solidFill>
                  <a:srgbClr val="8AAEC8"/>
                </a:solidFill>
                <a:latin typeface="Calibri"/>
              </a:rPr>
              <a:t>  ◦  </a:t>
            </a:r>
            <a:r>
              <a:rPr lang="en-IN" sz="1130" b="0" dirty="0">
                <a:solidFill>
                  <a:srgbClr val="D0E4F7"/>
                </a:solidFill>
                <a:latin typeface="Calibri"/>
                <a:cs typeface="Nirmala UI"/>
              </a:rPr>
              <a:t>Pairwise binary labels: COREF=1, NOT-COREF=0</a:t>
            </a:r>
          </a:p>
          <a:p>
            <a:pPr indent="-228600" marL="228600">
              <a:spcBef>
                <a:spcPts val="48"/>
              </a:spcBef>
              <a:lnSpc>
                <a:spcPct val="107"/>
              </a:lnSpc>
            </a:pPr>
            <a:r>
              <a:rPr lang="en-IN" sz="1130" b="0" dirty="0">
                <a:solidFill>
                  <a:srgbClr val="8AAEC8"/>
                </a:solidFill>
                <a:latin typeface="Calibri"/>
              </a:rPr>
              <a:t>  ◦  </a:t>
            </a:r>
            <a:r>
              <a:rPr lang="en-IN" sz="1130" b="0" dirty="0">
                <a:solidFill>
                  <a:srgbClr val="D0E4F7"/>
                </a:solidFill>
                <a:latin typeface="Calibri"/>
                <a:cs typeface="Nirmala UI"/>
              </a:rPr>
              <a:t>Positive pairs: 423  |  Negative pairs: 1,847</a:t>
            </a:r>
          </a:p>
          <a:p>
            <a:pPr indent="-228600" marL="228600">
              <a:spcBef>
                <a:spcPts val="48"/>
              </a:spcBef>
              <a:lnSpc>
                <a:spcPct val="107"/>
              </a:lnSpc>
            </a:pPr>
            <a:r>
              <a:rPr lang="en-IN" sz="1130" b="0" dirty="0">
                <a:solidFill>
                  <a:srgbClr val="8AAEC8"/>
                </a:solidFill>
                <a:latin typeface="Calibri"/>
              </a:rPr>
              <a:t>  ◦  </a:t>
            </a:r>
            <a:r>
              <a:rPr lang="en-IN" sz="1130" b="0" dirty="0">
                <a:solidFill>
                  <a:srgbClr val="D0E4F7"/>
                </a:solidFill>
                <a:latin typeface="Calibri"/>
                <a:cs typeface="Nirmala UI"/>
              </a:rPr>
              <a:t>Class imbalance handled via weighted loss during training</a:t>
            </a:r>
          </a:p>
        </p:txBody>
      </p:sp>
      <p:sp>
        <p:nvSpPr>
          <p:cNvPr id="22" name="FB"/>
          <p:cNvSpPr>
            <a:spLocks noGrp="1"/>
          </p:cNvSpPr>
          <p:nvPr/>
        </p:nvSpPr>
        <p:spPr>
          <a:xfrm>
            <a:off x="0" y="6473952"/>
            <a:ext cx="12192000" cy="384048"/>
          </a:xfrm>
          <a:prstGeom prst="rect">
            <a:avLst/>
          </a:prstGeom>
          <a:solidFill>
            <a:srgbClr val="112238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FL"/>
          <p:cNvSpPr>
            <a:spLocks noGrp="1"/>
          </p:cNvSpPr>
          <p:nvPr/>
        </p:nvSpPr>
        <p:spPr>
          <a:xfrm>
            <a:off x="0" y="6473952"/>
            <a:ext cx="12192000" cy="36576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txBody>
          <a:bodyPr/>
          <a:lstStyle/>
          <a:p/>
        </p:txBody>
      </p:sp>
      <p:sp>
        <p:nvSpPr>
          <p:cNvPr id="24" name="FL2"/>
          <p:cNvSpPr txBox="1">
            <a:spLocks noGrp="1"/>
          </p:cNvSpPr>
          <p:nvPr/>
        </p:nvSpPr>
        <p:spPr>
          <a:xfrm>
            <a:off x="274320" y="6510528"/>
            <a:ext cx="5486400" cy="310896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n-IN" sz="950" b="0" dirty="0">
                <a:solidFill>
                  <a:srgbClr val="8AAEC8"/>
                </a:solidFill>
                <a:latin typeface="Calibri"/>
                <a:cs typeface="Nirmala UI"/>
              </a:rPr>
              <a:t>Hindi Coreference Resolution  |  CIT Kokrajhar</a:t>
            </a:r>
          </a:p>
        </p:txBody>
      </p:sp>
      <p:sp>
        <p:nvSpPr>
          <p:cNvPr id="25" name="FR"/>
          <p:cNvSpPr txBox="1">
            <a:spLocks noGrp="1"/>
          </p:cNvSpPr>
          <p:nvPr/>
        </p:nvSpPr>
        <p:spPr>
          <a:xfrm>
            <a:off x="7772400" y="6510528"/>
            <a:ext cx="3200400" cy="310896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/>
            <a:r>
              <a:rPr lang="en-IN" sz="950" b="0" dirty="0">
                <a:solidFill>
                  <a:srgbClr val="8AAEC8"/>
                </a:solidFill>
                <a:latin typeface="Calibri"/>
                <a:cs typeface="Nirmala UI"/>
              </a:rPr>
              <a:t>B.Tech Project  |  2026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10" name="TopBar"/>
          <p:cNvSpPr>
            <a:spLocks noGrp="1"/>
          </p:cNvSpPr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12238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AccLine"/>
          <p:cNvSpPr>
            <a:spLocks noGrp="1"/>
          </p:cNvSpPr>
          <p:nvPr/>
        </p:nvSpPr>
        <p:spPr>
          <a:xfrm>
            <a:off x="0" y="1097280"/>
            <a:ext cx="12192000" cy="54864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itle"/>
          <p:cNvSpPr txBox="1">
            <a:spLocks noGrp="1"/>
          </p:cNvSpPr>
          <p:nvPr/>
        </p:nvSpPr>
        <p:spPr>
          <a:xfrm>
            <a:off x="365760" y="91440"/>
            <a:ext cx="10424160" cy="7772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n-IN" sz="2800" b="1" dirty="0">
                <a:solidFill>
                  <a:srgbClr val="FFFFFF"/>
                </a:solidFill>
                <a:latin typeface="Calibri"/>
                <a:cs typeface="Nirmala UI"/>
              </a:rPr>
              <a:t>Phase 1: Unsupervised BERT + Clustering</a:t>
            </a:r>
          </a:p>
        </p:txBody>
      </p:sp>
      <p:sp>
        <p:nvSpPr>
          <p:cNvPr id="13" name="Sub"/>
          <p:cNvSpPr txBox="1">
            <a:spLocks noGrp="1"/>
          </p:cNvSpPr>
          <p:nvPr/>
        </p:nvSpPr>
        <p:spPr>
          <a:xfrm>
            <a:off x="365760" y="749808"/>
            <a:ext cx="9144000" cy="38404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n-IN" sz="1300" b="0" dirty="0">
                <a:solidFill>
                  <a:srgbClr val="00C9B1"/>
                </a:solidFill>
                <a:latin typeface="Calibri"/>
                <a:cs typeface="Nirmala UI"/>
              </a:rPr>
              <a:t>Scratch-trained Hindi language model with cosine-similarity coreference clustering</a:t>
            </a:r>
          </a:p>
        </p:txBody>
      </p:sp>
      <p:sp>
        <p:nvSpPr>
          <p:cNvPr id="14" name="S0"/>
          <p:cNvSpPr>
            <a:spLocks noGrp="1"/>
          </p:cNvSpPr>
          <p:nvPr/>
        </p:nvSpPr>
        <p:spPr>
          <a:xfrm>
            <a:off x="256032" y="1298448"/>
            <a:ext cx="1481328" cy="960120"/>
          </a:xfrm>
          <a:prstGeom prst="roundRect">
            <a:avLst>
              <a:gd name="adj" fmla="val 18000"/>
            </a:avLst>
          </a:prstGeom>
          <a:solidFill>
            <a:srgbClr val="00C9B1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ST0"/>
          <p:cNvSpPr txBox="1">
            <a:spLocks noGrp="1"/>
          </p:cNvSpPr>
          <p:nvPr/>
        </p:nvSpPr>
        <p:spPr>
          <a:xfrm>
            <a:off x="256032" y="1344168"/>
            <a:ext cx="1481328" cy="43891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180" b="1" dirty="0">
                <a:solidFill>
                  <a:srgbClr val="1A2E4A"/>
                </a:solidFill>
                <a:latin typeface="Calibri"/>
                <a:cs typeface="Nirmala UI"/>
              </a:rPr>
              <a:t>Hindi
Wikipedia</a:t>
            </a:r>
          </a:p>
        </p:txBody>
      </p:sp>
      <p:sp>
        <p:nvSpPr>
          <p:cNvPr id="16" name="SS0"/>
          <p:cNvSpPr txBox="1">
            <a:spLocks noGrp="1"/>
          </p:cNvSpPr>
          <p:nvPr/>
        </p:nvSpPr>
        <p:spPr>
          <a:xfrm>
            <a:off x="256032" y="1792224"/>
            <a:ext cx="1481328" cy="420624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080" b="0" dirty="0">
                <a:solidFill>
                  <a:srgbClr val="1A2E4A"/>
                </a:solidFill>
                <a:latin typeface="Calibri"/>
                <a:cs typeface="Nirmala UI"/>
              </a:rPr>
              <a:t>172K docs
48M tokens</a:t>
            </a:r>
          </a:p>
        </p:txBody>
      </p:sp>
      <p:sp>
        <p:nvSpPr>
          <p:cNvPr id="17" name="AL0"/>
          <p:cNvSpPr>
            <a:spLocks noGrp="1"/>
          </p:cNvSpPr>
          <p:nvPr/>
        </p:nvSpPr>
        <p:spPr>
          <a:xfrm>
            <a:off x="1755648" y="1741932"/>
            <a:ext cx="219456" cy="73152"/>
          </a:xfrm>
          <a:prstGeom prst="rect">
            <a:avLst/>
          </a:prstGeom>
          <a:solidFill>
            <a:srgbClr val="8AAEC8"/>
          </a:solidFill>
          <a:ln>
            <a:noFill/>
          </a:ln>
        </p:spPr>
        <p:txBody>
          <a:bodyPr/>
          <a:lstStyle/>
          <a:p/>
        </p:txBody>
      </p:sp>
      <p:sp>
        <p:nvSpPr>
          <p:cNvPr id="18" name="AH0"/>
          <p:cNvSpPr txBox="1">
            <a:spLocks noGrp="1"/>
          </p:cNvSpPr>
          <p:nvPr/>
        </p:nvSpPr>
        <p:spPr>
          <a:xfrm>
            <a:off x="1810512" y="1613916"/>
            <a:ext cx="201168" cy="329184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100" b="0" dirty="0">
                <a:solidFill>
                  <a:srgbClr val="8AAEC8"/>
                </a:solidFill>
                <a:latin typeface="Calibri"/>
                <a:cs typeface="Nirmala UI"/>
              </a:rPr>
              <a:t>▶</a:t>
            </a:r>
          </a:p>
        </p:txBody>
      </p:sp>
      <p:sp>
        <p:nvSpPr>
          <p:cNvPr id="19" name="S1"/>
          <p:cNvSpPr>
            <a:spLocks noGrp="1"/>
          </p:cNvSpPr>
          <p:nvPr/>
        </p:nvSpPr>
        <p:spPr>
          <a:xfrm>
            <a:off x="1993392" y="1298448"/>
            <a:ext cx="1481328" cy="960120"/>
          </a:xfrm>
          <a:prstGeom prst="roundRect">
            <a:avLst>
              <a:gd name="adj" fmla="val 18000"/>
            </a:avLst>
          </a:prstGeom>
          <a:solidFill>
            <a:srgbClr val="5C9BD6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ST1"/>
          <p:cNvSpPr txBox="1">
            <a:spLocks noGrp="1"/>
          </p:cNvSpPr>
          <p:nvPr/>
        </p:nvSpPr>
        <p:spPr>
          <a:xfrm>
            <a:off x="1993392" y="1344168"/>
            <a:ext cx="1481328" cy="43891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180" b="1" dirty="0">
                <a:solidFill>
                  <a:srgbClr val="1A2E4A"/>
                </a:solidFill>
                <a:latin typeface="Calibri"/>
                <a:cs typeface="Nirmala UI"/>
              </a:rPr>
              <a:t>SentencePiece
Tokenizer</a:t>
            </a:r>
          </a:p>
        </p:txBody>
      </p:sp>
      <p:sp>
        <p:nvSpPr>
          <p:cNvPr id="21" name="SS1"/>
          <p:cNvSpPr txBox="1">
            <a:spLocks noGrp="1"/>
          </p:cNvSpPr>
          <p:nvPr/>
        </p:nvSpPr>
        <p:spPr>
          <a:xfrm>
            <a:off x="1993392" y="1792224"/>
            <a:ext cx="1481328" cy="420624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080" b="0" dirty="0">
                <a:solidFill>
                  <a:srgbClr val="1A2E4A"/>
                </a:solidFill>
                <a:latin typeface="Calibri"/>
                <a:cs typeface="Nirmala UI"/>
              </a:rPr>
              <a:t>BPE vocab
32K tokens</a:t>
            </a:r>
          </a:p>
        </p:txBody>
      </p:sp>
      <p:sp>
        <p:nvSpPr>
          <p:cNvPr id="22" name="AL1"/>
          <p:cNvSpPr>
            <a:spLocks noGrp="1"/>
          </p:cNvSpPr>
          <p:nvPr/>
        </p:nvSpPr>
        <p:spPr>
          <a:xfrm>
            <a:off x="3493008" y="1741932"/>
            <a:ext cx="219456" cy="73152"/>
          </a:xfrm>
          <a:prstGeom prst="rect">
            <a:avLst/>
          </a:prstGeom>
          <a:solidFill>
            <a:srgbClr val="8AAEC8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AH1"/>
          <p:cNvSpPr txBox="1">
            <a:spLocks noGrp="1"/>
          </p:cNvSpPr>
          <p:nvPr/>
        </p:nvSpPr>
        <p:spPr>
          <a:xfrm>
            <a:off x="3547872" y="1613916"/>
            <a:ext cx="201168" cy="329184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100" b="0" dirty="0">
                <a:solidFill>
                  <a:srgbClr val="8AAEC8"/>
                </a:solidFill>
                <a:latin typeface="Calibri"/>
                <a:cs typeface="Nirmala UI"/>
              </a:rPr>
              <a:t>▶</a:t>
            </a:r>
          </a:p>
        </p:txBody>
      </p:sp>
      <p:sp>
        <p:nvSpPr>
          <p:cNvPr id="24" name="S2"/>
          <p:cNvSpPr>
            <a:spLocks noGrp="1"/>
          </p:cNvSpPr>
          <p:nvPr/>
        </p:nvSpPr>
        <p:spPr>
          <a:xfrm>
            <a:off x="3730752" y="1298448"/>
            <a:ext cx="1481328" cy="960120"/>
          </a:xfrm>
          <a:prstGeom prst="roundRect">
            <a:avLst>
              <a:gd name="adj" fmla="val 18000"/>
            </a:avLst>
          </a:prstGeom>
          <a:solidFill>
            <a:srgbClr val="A06BBE"/>
          </a:solidFill>
          <a:ln>
            <a:noFill/>
          </a:ln>
        </p:spPr>
        <p:txBody>
          <a:bodyPr/>
          <a:lstStyle/>
          <a:p/>
        </p:txBody>
      </p:sp>
      <p:sp>
        <p:nvSpPr>
          <p:cNvPr id="25" name="ST2"/>
          <p:cNvSpPr txBox="1">
            <a:spLocks noGrp="1"/>
          </p:cNvSpPr>
          <p:nvPr/>
        </p:nvSpPr>
        <p:spPr>
          <a:xfrm>
            <a:off x="3730752" y="1344168"/>
            <a:ext cx="1481328" cy="43891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180" b="1" dirty="0">
                <a:solidFill>
                  <a:srgbClr val="1A2E4A"/>
                </a:solidFill>
                <a:latin typeface="Calibri"/>
                <a:cs typeface="Nirmala UI"/>
              </a:rPr>
              <a:t>Compact
BERT</a:t>
            </a:r>
          </a:p>
        </p:txBody>
      </p:sp>
      <p:sp>
        <p:nvSpPr>
          <p:cNvPr id="26" name="SS2"/>
          <p:cNvSpPr txBox="1">
            <a:spLocks noGrp="1"/>
          </p:cNvSpPr>
          <p:nvPr/>
        </p:nvSpPr>
        <p:spPr>
          <a:xfrm>
            <a:off x="3730752" y="1792224"/>
            <a:ext cx="1481328" cy="420624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080" b="0" dirty="0">
                <a:solidFill>
                  <a:srgbClr val="1A2E4A"/>
                </a:solidFill>
                <a:latin typeface="Calibri"/>
                <a:cs typeface="Nirmala UI"/>
              </a:rPr>
              <a:t>MLM training
6L-8H-512D</a:t>
            </a:r>
          </a:p>
        </p:txBody>
      </p:sp>
      <p:sp>
        <p:nvSpPr>
          <p:cNvPr id="27" name="AL2"/>
          <p:cNvSpPr>
            <a:spLocks noGrp="1"/>
          </p:cNvSpPr>
          <p:nvPr/>
        </p:nvSpPr>
        <p:spPr>
          <a:xfrm>
            <a:off x="5230368" y="1741932"/>
            <a:ext cx="219456" cy="73152"/>
          </a:xfrm>
          <a:prstGeom prst="rect">
            <a:avLst/>
          </a:prstGeom>
          <a:solidFill>
            <a:srgbClr val="8AAEC8"/>
          </a:solidFill>
          <a:ln>
            <a:noFill/>
          </a:ln>
        </p:spPr>
        <p:txBody>
          <a:bodyPr/>
          <a:lstStyle/>
          <a:p/>
        </p:txBody>
      </p:sp>
      <p:sp>
        <p:nvSpPr>
          <p:cNvPr id="28" name="AH2"/>
          <p:cNvSpPr txBox="1">
            <a:spLocks noGrp="1"/>
          </p:cNvSpPr>
          <p:nvPr/>
        </p:nvSpPr>
        <p:spPr>
          <a:xfrm>
            <a:off x="5285232" y="1613916"/>
            <a:ext cx="201168" cy="329184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100" b="0" dirty="0">
                <a:solidFill>
                  <a:srgbClr val="8AAEC8"/>
                </a:solidFill>
                <a:latin typeface="Calibri"/>
                <a:cs typeface="Nirmala UI"/>
              </a:rPr>
              <a:t>▶</a:t>
            </a:r>
          </a:p>
        </p:txBody>
      </p:sp>
      <p:sp>
        <p:nvSpPr>
          <p:cNvPr id="29" name="S3"/>
          <p:cNvSpPr>
            <a:spLocks noGrp="1"/>
          </p:cNvSpPr>
          <p:nvPr/>
        </p:nvSpPr>
        <p:spPr>
          <a:xfrm>
            <a:off x="5468112" y="1298448"/>
            <a:ext cx="1481328" cy="960120"/>
          </a:xfrm>
          <a:prstGeom prst="roundRect">
            <a:avLst>
              <a:gd name="adj" fmla="val 18000"/>
            </a:avLst>
          </a:prstGeom>
          <a:solidFill>
            <a:srgbClr val="F5A623"/>
          </a:solidFill>
          <a:ln>
            <a:noFill/>
          </a:ln>
        </p:spPr>
        <p:txBody>
          <a:bodyPr/>
          <a:lstStyle/>
          <a:p/>
        </p:txBody>
      </p:sp>
      <p:sp>
        <p:nvSpPr>
          <p:cNvPr id="30" name="ST3"/>
          <p:cNvSpPr txBox="1">
            <a:spLocks noGrp="1"/>
          </p:cNvSpPr>
          <p:nvPr/>
        </p:nvSpPr>
        <p:spPr>
          <a:xfrm>
            <a:off x="5468112" y="1344168"/>
            <a:ext cx="1481328" cy="43891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180" b="1" dirty="0">
                <a:solidFill>
                  <a:srgbClr val="1A2E4A"/>
                </a:solidFill>
                <a:latin typeface="Calibri"/>
                <a:cs typeface="Nirmala UI"/>
              </a:rPr>
              <a:t>Mention
Embeddings</a:t>
            </a:r>
          </a:p>
        </p:txBody>
      </p:sp>
      <p:sp>
        <p:nvSpPr>
          <p:cNvPr id="31" name="SS3"/>
          <p:cNvSpPr txBox="1">
            <a:spLocks noGrp="1"/>
          </p:cNvSpPr>
          <p:nvPr/>
        </p:nvSpPr>
        <p:spPr>
          <a:xfrm>
            <a:off x="5468112" y="1792224"/>
            <a:ext cx="1481328" cy="420624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080" b="0" dirty="0">
                <a:solidFill>
                  <a:srgbClr val="1A2E4A"/>
                </a:solidFill>
                <a:latin typeface="Calibri"/>
                <a:cs typeface="Nirmala UI"/>
              </a:rPr>
              <a:t>[CLS] + mean
pool strategy</a:t>
            </a:r>
          </a:p>
        </p:txBody>
      </p:sp>
      <p:sp>
        <p:nvSpPr>
          <p:cNvPr id="32" name="AL3"/>
          <p:cNvSpPr>
            <a:spLocks noGrp="1"/>
          </p:cNvSpPr>
          <p:nvPr/>
        </p:nvSpPr>
        <p:spPr>
          <a:xfrm>
            <a:off x="6967728" y="1741932"/>
            <a:ext cx="219456" cy="73152"/>
          </a:xfrm>
          <a:prstGeom prst="rect">
            <a:avLst/>
          </a:prstGeom>
          <a:solidFill>
            <a:srgbClr val="8AAEC8"/>
          </a:solidFill>
          <a:ln>
            <a:noFill/>
          </a:ln>
        </p:spPr>
        <p:txBody>
          <a:bodyPr/>
          <a:lstStyle/>
          <a:p/>
        </p:txBody>
      </p:sp>
      <p:sp>
        <p:nvSpPr>
          <p:cNvPr id="33" name="AH3"/>
          <p:cNvSpPr txBox="1">
            <a:spLocks noGrp="1"/>
          </p:cNvSpPr>
          <p:nvPr/>
        </p:nvSpPr>
        <p:spPr>
          <a:xfrm>
            <a:off x="7022592" y="1613916"/>
            <a:ext cx="201168" cy="329184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100" b="0" dirty="0">
                <a:solidFill>
                  <a:srgbClr val="8AAEC8"/>
                </a:solidFill>
                <a:latin typeface="Calibri"/>
                <a:cs typeface="Nirmala UI"/>
              </a:rPr>
              <a:t>▶</a:t>
            </a:r>
          </a:p>
        </p:txBody>
      </p:sp>
      <p:sp>
        <p:nvSpPr>
          <p:cNvPr id="34" name="S4"/>
          <p:cNvSpPr>
            <a:spLocks noGrp="1"/>
          </p:cNvSpPr>
          <p:nvPr/>
        </p:nvSpPr>
        <p:spPr>
          <a:xfrm>
            <a:off x="7205472" y="1298448"/>
            <a:ext cx="1481328" cy="960120"/>
          </a:xfrm>
          <a:prstGeom prst="roundRect">
            <a:avLst>
              <a:gd name="adj" fmla="val 18000"/>
            </a:avLst>
          </a:prstGeom>
          <a:solidFill>
            <a:srgbClr val="00C9B1"/>
          </a:solidFill>
          <a:ln>
            <a:noFill/>
          </a:ln>
        </p:spPr>
        <p:txBody>
          <a:bodyPr/>
          <a:lstStyle/>
          <a:p/>
        </p:txBody>
      </p:sp>
      <p:sp>
        <p:nvSpPr>
          <p:cNvPr id="35" name="ST4"/>
          <p:cNvSpPr txBox="1">
            <a:spLocks noGrp="1"/>
          </p:cNvSpPr>
          <p:nvPr/>
        </p:nvSpPr>
        <p:spPr>
          <a:xfrm>
            <a:off x="7205472" y="1344168"/>
            <a:ext cx="1481328" cy="43891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180" b="1" dirty="0">
                <a:solidFill>
                  <a:srgbClr val="1A2E4A"/>
                </a:solidFill>
                <a:latin typeface="Calibri"/>
                <a:cs typeface="Nirmala UI"/>
              </a:rPr>
              <a:t>Cosine Sim
Clustering</a:t>
            </a:r>
          </a:p>
        </p:txBody>
      </p:sp>
      <p:sp>
        <p:nvSpPr>
          <p:cNvPr id="36" name="SS4"/>
          <p:cNvSpPr txBox="1">
            <a:spLocks noGrp="1"/>
          </p:cNvSpPr>
          <p:nvPr/>
        </p:nvSpPr>
        <p:spPr>
          <a:xfrm>
            <a:off x="7205472" y="1792224"/>
            <a:ext cx="1481328" cy="420624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080" b="0" dirty="0">
                <a:solidFill>
                  <a:srgbClr val="1A2E4A"/>
                </a:solidFill>
                <a:latin typeface="Calibri"/>
                <a:cs typeface="Nirmala UI"/>
              </a:rPr>
              <a:t>Threshold
0.75–0.85</a:t>
            </a:r>
          </a:p>
        </p:txBody>
      </p:sp>
      <p:sp>
        <p:nvSpPr>
          <p:cNvPr id="37" name="AL4"/>
          <p:cNvSpPr>
            <a:spLocks noGrp="1"/>
          </p:cNvSpPr>
          <p:nvPr/>
        </p:nvSpPr>
        <p:spPr>
          <a:xfrm>
            <a:off x="8705088" y="1741932"/>
            <a:ext cx="219456" cy="73152"/>
          </a:xfrm>
          <a:prstGeom prst="rect">
            <a:avLst/>
          </a:prstGeom>
          <a:solidFill>
            <a:srgbClr val="8AAEC8"/>
          </a:solidFill>
          <a:ln>
            <a:noFill/>
          </a:ln>
        </p:spPr>
        <p:txBody>
          <a:bodyPr/>
          <a:lstStyle/>
          <a:p/>
        </p:txBody>
      </p:sp>
      <p:sp>
        <p:nvSpPr>
          <p:cNvPr id="38" name="AH4"/>
          <p:cNvSpPr txBox="1">
            <a:spLocks noGrp="1"/>
          </p:cNvSpPr>
          <p:nvPr/>
        </p:nvSpPr>
        <p:spPr>
          <a:xfrm>
            <a:off x="8759952" y="1613916"/>
            <a:ext cx="201168" cy="329184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100" b="0" dirty="0">
                <a:solidFill>
                  <a:srgbClr val="8AAEC8"/>
                </a:solidFill>
                <a:latin typeface="Calibri"/>
                <a:cs typeface="Nirmala UI"/>
              </a:rPr>
              <a:t>▶</a:t>
            </a:r>
          </a:p>
        </p:txBody>
      </p:sp>
      <p:sp>
        <p:nvSpPr>
          <p:cNvPr id="39" name="S5"/>
          <p:cNvSpPr>
            <a:spLocks noGrp="1"/>
          </p:cNvSpPr>
          <p:nvPr/>
        </p:nvSpPr>
        <p:spPr>
          <a:xfrm>
            <a:off x="8942832" y="1298448"/>
            <a:ext cx="1481328" cy="960120"/>
          </a:xfrm>
          <a:prstGeom prst="roundRect">
            <a:avLst>
              <a:gd name="adj" fmla="val 18000"/>
            </a:avLst>
          </a:prstGeom>
          <a:solidFill>
            <a:srgbClr val="E05C5C"/>
          </a:solidFill>
          <a:ln>
            <a:noFill/>
          </a:ln>
        </p:spPr>
        <p:txBody>
          <a:bodyPr/>
          <a:lstStyle/>
          <a:p/>
        </p:txBody>
      </p:sp>
      <p:sp>
        <p:nvSpPr>
          <p:cNvPr id="40" name="ST5"/>
          <p:cNvSpPr txBox="1">
            <a:spLocks noGrp="1"/>
          </p:cNvSpPr>
          <p:nvPr/>
        </p:nvSpPr>
        <p:spPr>
          <a:xfrm>
            <a:off x="8942832" y="1344168"/>
            <a:ext cx="1481328" cy="43891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180" b="1" dirty="0">
                <a:solidFill>
                  <a:srgbClr val="1A2E4A"/>
                </a:solidFill>
                <a:latin typeface="Calibri"/>
                <a:cs typeface="Nirmala UI"/>
              </a:rPr>
              <a:t>Coref
Clusters</a:t>
            </a:r>
          </a:p>
        </p:txBody>
      </p:sp>
      <p:sp>
        <p:nvSpPr>
          <p:cNvPr id="41" name="SS5"/>
          <p:cNvSpPr txBox="1">
            <a:spLocks noGrp="1"/>
          </p:cNvSpPr>
          <p:nvPr/>
        </p:nvSpPr>
        <p:spPr>
          <a:xfrm>
            <a:off x="8942832" y="1792224"/>
            <a:ext cx="1481328" cy="420624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080" b="0" dirty="0">
                <a:solidFill>
                  <a:srgbClr val="1A2E4A"/>
                </a:solidFill>
                <a:latin typeface="Calibri"/>
                <a:cs typeface="Nirmala UI"/>
              </a:rPr>
              <a:t>Output entity
groups</a:t>
            </a:r>
          </a:p>
        </p:txBody>
      </p:sp>
      <p:sp>
        <p:nvSpPr>
          <p:cNvPr id="42" name="Div"/>
          <p:cNvSpPr>
            <a:spLocks noGrp="1"/>
          </p:cNvSpPr>
          <p:nvPr/>
        </p:nvSpPr>
        <p:spPr>
          <a:xfrm>
            <a:off x="274320" y="2395728"/>
            <a:ext cx="11643360" cy="36576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txBody>
          <a:bodyPr/>
          <a:lstStyle/>
          <a:p/>
        </p:txBody>
      </p:sp>
      <p:sp>
        <p:nvSpPr>
          <p:cNvPr id="43" name="DL"/>
          <p:cNvSpPr txBox="1">
            <a:spLocks noGrp="1"/>
          </p:cNvSpPr>
          <p:nvPr/>
        </p:nvSpPr>
        <p:spPr>
          <a:xfrm>
            <a:off x="274320" y="2487168"/>
            <a:ext cx="5212080" cy="3794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indent="-228600" marL="228600">
              <a:spcBef>
                <a:spcPts val="48"/>
              </a:spcBef>
              <a:lnSpc>
                <a:spcPct val="107"/>
              </a:lnSpc>
            </a:pPr>
            <a:r>
              <a:rPr lang="en-IN" sz="1230" b="0" dirty="0">
                <a:solidFill>
                  <a:srgbClr val="00C9B1"/>
                </a:solidFill>
                <a:latin typeface="Calibri"/>
              </a:rPr>
              <a:t>▪  </a:t>
            </a:r>
            <a:r>
              <a:rPr lang="en-IN" sz="1230" b="0" dirty="0">
                <a:solidFill>
                  <a:srgbClr val="D0E4F7"/>
                </a:solidFill>
                <a:latin typeface="Calibri"/>
                <a:cs typeface="Nirmala UI"/>
              </a:rPr>
              <a:t>BERT Architecture Details:</a:t>
            </a:r>
          </a:p>
          <a:p>
            <a:pPr indent="-228600" marL="228600">
              <a:spcBef>
                <a:spcPts val="48"/>
              </a:spcBef>
              <a:lnSpc>
                <a:spcPct val="107"/>
              </a:lnSpc>
            </a:pPr>
            <a:r>
              <a:rPr lang="en-IN" sz="1130" b="0" dirty="0">
                <a:solidFill>
                  <a:srgbClr val="8AAEC8"/>
                </a:solidFill>
                <a:latin typeface="Calibri"/>
              </a:rPr>
              <a:t>  ◦  </a:t>
            </a:r>
            <a:r>
              <a:rPr lang="en-IN" sz="1130" b="0" dirty="0">
                <a:solidFill>
                  <a:srgbClr val="D0E4F7"/>
                </a:solidFill>
                <a:latin typeface="Calibri"/>
                <a:cs typeface="Nirmala UI"/>
              </a:rPr>
              <a:t>Layers: 6 transformer encoder blocks</a:t>
            </a:r>
          </a:p>
          <a:p>
            <a:pPr indent="-228600" marL="228600">
              <a:spcBef>
                <a:spcPts val="48"/>
              </a:spcBef>
              <a:lnSpc>
                <a:spcPct val="107"/>
              </a:lnSpc>
            </a:pPr>
            <a:r>
              <a:rPr lang="en-IN" sz="1130" b="0" dirty="0">
                <a:solidFill>
                  <a:srgbClr val="8AAEC8"/>
                </a:solidFill>
                <a:latin typeface="Calibri"/>
              </a:rPr>
              <a:t>  ◦  </a:t>
            </a:r>
            <a:r>
              <a:rPr lang="en-IN" sz="1130" b="0" dirty="0">
                <a:solidFill>
                  <a:srgbClr val="D0E4F7"/>
                </a:solidFill>
                <a:latin typeface="Calibri"/>
                <a:cs typeface="Nirmala UI"/>
              </a:rPr>
              <a:t>Attention heads: 8 per layer</a:t>
            </a:r>
          </a:p>
          <a:p>
            <a:pPr indent="-228600" marL="228600">
              <a:spcBef>
                <a:spcPts val="48"/>
              </a:spcBef>
              <a:lnSpc>
                <a:spcPct val="107"/>
              </a:lnSpc>
            </a:pPr>
            <a:r>
              <a:rPr lang="en-IN" sz="1130" b="0" dirty="0">
                <a:solidFill>
                  <a:srgbClr val="8AAEC8"/>
                </a:solidFill>
                <a:latin typeface="Calibri"/>
              </a:rPr>
              <a:t>  ◦  </a:t>
            </a:r>
            <a:r>
              <a:rPr lang="en-IN" sz="1130" b="0" dirty="0">
                <a:solidFill>
                  <a:srgbClr val="D0E4F7"/>
                </a:solidFill>
                <a:latin typeface="Calibri"/>
                <a:cs typeface="Nirmala UI"/>
              </a:rPr>
              <a:t>Hidden size: 512 (vs 768 in BERT-base)</a:t>
            </a:r>
          </a:p>
          <a:p>
            <a:pPr indent="-228600" marL="228600">
              <a:spcBef>
                <a:spcPts val="48"/>
              </a:spcBef>
              <a:lnSpc>
                <a:spcPct val="107"/>
              </a:lnSpc>
            </a:pPr>
            <a:r>
              <a:rPr lang="en-IN" sz="1130" b="0" dirty="0">
                <a:solidFill>
                  <a:srgbClr val="8AAEC8"/>
                </a:solidFill>
                <a:latin typeface="Calibri"/>
              </a:rPr>
              <a:t>  ◦  </a:t>
            </a:r>
            <a:r>
              <a:rPr lang="en-IN" sz="1130" b="0" dirty="0">
                <a:solidFill>
                  <a:srgbClr val="D0E4F7"/>
                </a:solidFill>
                <a:latin typeface="Calibri"/>
                <a:cs typeface="Nirmala UI"/>
              </a:rPr>
              <a:t>FFN intermediate size: 2,048</a:t>
            </a:r>
          </a:p>
          <a:p>
            <a:pPr indent="-228600" marL="228600">
              <a:spcBef>
                <a:spcPts val="48"/>
              </a:spcBef>
              <a:lnSpc>
                <a:spcPct val="107"/>
              </a:lnSpc>
            </a:pPr>
            <a:r>
              <a:rPr lang="en-IN" sz="1130" b="0" dirty="0">
                <a:solidFill>
                  <a:srgbClr val="8AAEC8"/>
                </a:solidFill>
                <a:latin typeface="Calibri"/>
              </a:rPr>
              <a:t>  ◦  </a:t>
            </a:r>
            <a:r>
              <a:rPr lang="en-IN" sz="1130" b="0" dirty="0">
                <a:solidFill>
                  <a:srgbClr val="D0E4F7"/>
                </a:solidFill>
                <a:latin typeface="Calibri"/>
                <a:cs typeface="Nirmala UI"/>
              </a:rPr>
              <a:t>Max position embeddings: 128 tokens</a:t>
            </a:r>
          </a:p>
          <a:p>
            <a:pPr indent="-228600" marL="228600">
              <a:spcBef>
                <a:spcPts val="48"/>
              </a:spcBef>
              <a:lnSpc>
                <a:spcPct val="107"/>
              </a:lnSpc>
            </a:pPr>
            <a:r>
              <a:rPr lang="en-IN" sz="1130" b="0" dirty="0">
                <a:solidFill>
                  <a:srgbClr val="8AAEC8"/>
                </a:solidFill>
                <a:latin typeface="Calibri"/>
              </a:rPr>
              <a:t>  ◦  </a:t>
            </a:r>
            <a:r>
              <a:rPr lang="en-IN" sz="1130" b="0" dirty="0">
                <a:solidFill>
                  <a:srgbClr val="D0E4F7"/>
                </a:solidFill>
                <a:latin typeface="Calibri"/>
                <a:cs typeface="Nirmala UI"/>
              </a:rPr>
              <a:t>Parameters: ~40M (vs 110M in BERT-base)</a:t>
            </a:r>
          </a:p>
          <a:p>
            <a:pPr indent="-228600" marL="228600">
              <a:spcBef>
                <a:spcPts val="48"/>
              </a:spcBef>
              <a:lnSpc>
                <a:spcPct val="107"/>
              </a:lnSpc>
            </a:pPr>
            <a:r>
              <a:rPr lang="en-IN" sz="1230" b="0" dirty="0">
                <a:solidFill>
                  <a:srgbClr val="00C9B1"/>
                </a:solidFill>
                <a:latin typeface="Calibri"/>
              </a:rPr>
              <a:t>▪  </a:t>
            </a:r>
            <a:r>
              <a:rPr lang="en-IN" sz="1230" b="0" dirty="0">
                <a:solidFill>
                  <a:srgbClr val="D0E4F7"/>
                </a:solidFill>
                <a:latin typeface="Calibri"/>
                <a:cs typeface="Nirmala UI"/>
              </a:rPr>
              <a:t>Training Objective — MLM:</a:t>
            </a:r>
          </a:p>
          <a:p>
            <a:pPr indent="-228600" marL="228600">
              <a:spcBef>
                <a:spcPts val="48"/>
              </a:spcBef>
              <a:lnSpc>
                <a:spcPct val="107"/>
              </a:lnSpc>
            </a:pPr>
            <a:r>
              <a:rPr lang="en-IN" sz="1130" b="0" dirty="0">
                <a:solidFill>
                  <a:srgbClr val="8AAEC8"/>
                </a:solidFill>
                <a:latin typeface="Calibri"/>
              </a:rPr>
              <a:t>  ◦  </a:t>
            </a:r>
            <a:r>
              <a:rPr lang="en-IN" sz="1130" b="0" dirty="0">
                <a:solidFill>
                  <a:srgbClr val="D0E4F7"/>
                </a:solidFill>
                <a:latin typeface="Calibri"/>
                <a:cs typeface="Nirmala UI"/>
              </a:rPr>
              <a:t>15% of tokens randomly masked per sentence</a:t>
            </a:r>
          </a:p>
          <a:p>
            <a:pPr indent="-228600" marL="228600">
              <a:spcBef>
                <a:spcPts val="48"/>
              </a:spcBef>
              <a:lnSpc>
                <a:spcPct val="107"/>
              </a:lnSpc>
            </a:pPr>
            <a:r>
              <a:rPr lang="en-IN" sz="1130" b="0" dirty="0">
                <a:solidFill>
                  <a:srgbClr val="8AAEC8"/>
                </a:solidFill>
                <a:latin typeface="Calibri"/>
              </a:rPr>
              <a:t>  ◦  </a:t>
            </a:r>
            <a:r>
              <a:rPr lang="en-IN" sz="1130" b="0" dirty="0">
                <a:solidFill>
                  <a:srgbClr val="D0E4F7"/>
                </a:solidFill>
                <a:latin typeface="Calibri"/>
                <a:cs typeface="Nirmala UI"/>
              </a:rPr>
              <a:t>80% replaced with [MASK], 10% random, 10% original</a:t>
            </a:r>
          </a:p>
          <a:p>
            <a:pPr indent="-228600" marL="228600">
              <a:spcBef>
                <a:spcPts val="48"/>
              </a:spcBef>
              <a:lnSpc>
                <a:spcPct val="107"/>
              </a:lnSpc>
            </a:pPr>
            <a:r>
              <a:rPr lang="en-IN" sz="1130" b="0" dirty="0">
                <a:solidFill>
                  <a:srgbClr val="8AAEC8"/>
                </a:solidFill>
                <a:latin typeface="Calibri"/>
              </a:rPr>
              <a:t>  ◦  </a:t>
            </a:r>
            <a:r>
              <a:rPr lang="en-IN" sz="1130" b="0" dirty="0">
                <a:solidFill>
                  <a:srgbClr val="D0E4F7"/>
                </a:solidFill>
                <a:latin typeface="Calibri"/>
                <a:cs typeface="Nirmala UI"/>
              </a:rPr>
              <a:t>Cross-entropy loss over masked positions only</a:t>
            </a:r>
          </a:p>
          <a:p>
            <a:pPr indent="-228600" marL="228600">
              <a:spcBef>
                <a:spcPts val="48"/>
              </a:spcBef>
              <a:lnSpc>
                <a:spcPct val="107"/>
              </a:lnSpc>
            </a:pPr>
            <a:r>
              <a:rPr lang="en-IN" sz="1130" b="0" dirty="0">
                <a:solidFill>
                  <a:srgbClr val="8AAEC8"/>
                </a:solidFill>
                <a:latin typeface="Calibri"/>
              </a:rPr>
              <a:t>  ◦  </a:t>
            </a:r>
            <a:r>
              <a:rPr lang="en-IN" sz="1130" b="0" dirty="0">
                <a:solidFill>
                  <a:srgbClr val="D0E4F7"/>
                </a:solidFill>
                <a:latin typeface="Calibri"/>
                <a:cs typeface="Nirmala UI"/>
              </a:rPr>
              <a:t>Validation perplexity: ~38 after full training</a:t>
            </a:r>
          </a:p>
        </p:txBody>
      </p:sp>
      <p:sp>
        <p:nvSpPr>
          <p:cNvPr id="44" name="DR"/>
          <p:cNvSpPr txBox="1">
            <a:spLocks noGrp="1"/>
          </p:cNvSpPr>
          <p:nvPr/>
        </p:nvSpPr>
        <p:spPr>
          <a:xfrm>
            <a:off x="5669280" y="2487168"/>
            <a:ext cx="5212080" cy="3794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indent="-228600" marL="228600">
              <a:spcBef>
                <a:spcPts val="48"/>
              </a:spcBef>
              <a:lnSpc>
                <a:spcPct val="107"/>
              </a:lnSpc>
            </a:pPr>
            <a:r>
              <a:rPr lang="en-IN" sz="1230" b="0" dirty="0">
                <a:solidFill>
                  <a:srgbClr val="F5A623"/>
                </a:solidFill>
                <a:latin typeface="Calibri"/>
              </a:rPr>
              <a:t>▪  </a:t>
            </a:r>
            <a:r>
              <a:rPr lang="en-IN" sz="1230" b="0" dirty="0">
                <a:solidFill>
                  <a:srgbClr val="D0E4F7"/>
                </a:solidFill>
                <a:latin typeface="Calibri"/>
                <a:cs typeface="Nirmala UI"/>
              </a:rPr>
              <a:t>Embedding Extraction Strategy:</a:t>
            </a:r>
          </a:p>
          <a:p>
            <a:pPr indent="-228600" marL="228600">
              <a:spcBef>
                <a:spcPts val="48"/>
              </a:spcBef>
              <a:lnSpc>
                <a:spcPct val="107"/>
              </a:lnSpc>
            </a:pPr>
            <a:r>
              <a:rPr lang="en-IN" sz="1130" b="0" dirty="0">
                <a:solidFill>
                  <a:srgbClr val="8AAEC8"/>
                </a:solidFill>
                <a:latin typeface="Calibri"/>
              </a:rPr>
              <a:t>  ◦  </a:t>
            </a:r>
            <a:r>
              <a:rPr lang="en-IN" sz="1130" b="0" dirty="0">
                <a:solidFill>
                  <a:srgbClr val="D0E4F7"/>
                </a:solidFill>
                <a:latin typeface="Calibri"/>
                <a:cs typeface="Nirmala UI"/>
              </a:rPr>
              <a:t>[CLS] token embedding: global sentence representation</a:t>
            </a:r>
          </a:p>
          <a:p>
            <a:pPr indent="-228600" marL="228600">
              <a:spcBef>
                <a:spcPts val="48"/>
              </a:spcBef>
              <a:lnSpc>
                <a:spcPct val="107"/>
              </a:lnSpc>
            </a:pPr>
            <a:r>
              <a:rPr lang="en-IN" sz="1130" b="0" dirty="0">
                <a:solidFill>
                  <a:srgbClr val="8AAEC8"/>
                </a:solidFill>
                <a:latin typeface="Calibri"/>
              </a:rPr>
              <a:t>  ◦  </a:t>
            </a:r>
            <a:r>
              <a:rPr lang="en-IN" sz="1130" b="0" dirty="0">
                <a:solidFill>
                  <a:srgbClr val="D0E4F7"/>
                </a:solidFill>
                <a:latin typeface="Calibri"/>
                <a:cs typeface="Nirmala UI"/>
              </a:rPr>
              <a:t>Mean pooling of token embeddings for mention spans</a:t>
            </a:r>
          </a:p>
          <a:p>
            <a:pPr indent="-228600" marL="228600">
              <a:spcBef>
                <a:spcPts val="48"/>
              </a:spcBef>
              <a:lnSpc>
                <a:spcPct val="107"/>
              </a:lnSpc>
            </a:pPr>
            <a:r>
              <a:rPr lang="en-IN" sz="1130" b="0" dirty="0">
                <a:solidFill>
                  <a:srgbClr val="8AAEC8"/>
                </a:solidFill>
                <a:latin typeface="Calibri"/>
              </a:rPr>
              <a:t>  ◦  </a:t>
            </a:r>
            <a:r>
              <a:rPr lang="en-IN" sz="1130" b="0" dirty="0">
                <a:solidFill>
                  <a:srgbClr val="D0E4F7"/>
                </a:solidFill>
                <a:latin typeface="Calibri"/>
                <a:cs typeface="Nirmala UI"/>
              </a:rPr>
              <a:t>Final embedding: concatenate [CLS] + mean-pool</a:t>
            </a:r>
          </a:p>
          <a:p>
            <a:pPr indent="-228600" marL="228600">
              <a:spcBef>
                <a:spcPts val="48"/>
              </a:spcBef>
              <a:lnSpc>
                <a:spcPct val="107"/>
              </a:lnSpc>
            </a:pPr>
            <a:r>
              <a:rPr lang="en-IN" sz="1130" b="0" dirty="0">
                <a:solidFill>
                  <a:srgbClr val="8AAEC8"/>
                </a:solidFill>
                <a:latin typeface="Calibri"/>
              </a:rPr>
              <a:t>  ◦  </a:t>
            </a:r>
            <a:r>
              <a:rPr lang="en-IN" sz="1130" b="0" dirty="0">
                <a:solidFill>
                  <a:srgbClr val="D0E4F7"/>
                </a:solidFill>
                <a:latin typeface="Calibri"/>
                <a:cs typeface="Nirmala UI"/>
              </a:rPr>
              <a:t>Embedding dimension: 512-D float vectors</a:t>
            </a:r>
          </a:p>
          <a:p>
            <a:pPr indent="-228600" marL="228600">
              <a:spcBef>
                <a:spcPts val="48"/>
              </a:spcBef>
              <a:lnSpc>
                <a:spcPct val="107"/>
              </a:lnSpc>
            </a:pPr>
            <a:r>
              <a:rPr lang="en-IN" sz="1230" b="0" dirty="0">
                <a:solidFill>
                  <a:srgbClr val="F5A623"/>
                </a:solidFill>
                <a:latin typeface="Calibri"/>
              </a:rPr>
              <a:t>▪  </a:t>
            </a:r>
            <a:r>
              <a:rPr lang="en-IN" sz="1230" b="0" dirty="0">
                <a:solidFill>
                  <a:srgbClr val="D0E4F7"/>
                </a:solidFill>
                <a:latin typeface="Calibri"/>
                <a:cs typeface="Nirmala UI"/>
              </a:rPr>
              <a:t>Clustering Algorithm:</a:t>
            </a:r>
          </a:p>
          <a:p>
            <a:pPr indent="-228600" marL="228600">
              <a:spcBef>
                <a:spcPts val="48"/>
              </a:spcBef>
              <a:lnSpc>
                <a:spcPct val="107"/>
              </a:lnSpc>
            </a:pPr>
            <a:r>
              <a:rPr lang="en-IN" sz="1130" b="0" dirty="0">
                <a:solidFill>
                  <a:srgbClr val="8AAEC8"/>
                </a:solidFill>
                <a:latin typeface="Calibri"/>
              </a:rPr>
              <a:t>  ◦  </a:t>
            </a:r>
            <a:r>
              <a:rPr lang="en-IN" sz="1130" b="0" dirty="0">
                <a:solidFill>
                  <a:srgbClr val="D0E4F7"/>
                </a:solidFill>
                <a:latin typeface="Calibri"/>
                <a:cs typeface="Nirmala UI"/>
              </a:rPr>
              <a:t>Compute pairwise cosine similarity for all mentions</a:t>
            </a:r>
          </a:p>
          <a:p>
            <a:pPr indent="-228600" marL="228600">
              <a:spcBef>
                <a:spcPts val="48"/>
              </a:spcBef>
              <a:lnSpc>
                <a:spcPct val="107"/>
              </a:lnSpc>
            </a:pPr>
            <a:r>
              <a:rPr lang="en-IN" sz="1130" b="0" dirty="0">
                <a:solidFill>
                  <a:srgbClr val="8AAEC8"/>
                </a:solidFill>
                <a:latin typeface="Calibri"/>
              </a:rPr>
              <a:t>  ◦  </a:t>
            </a:r>
            <a:r>
              <a:rPr lang="en-IN" sz="1130" b="0" dirty="0">
                <a:solidFill>
                  <a:srgbClr val="D0E4F7"/>
                </a:solidFill>
                <a:latin typeface="Calibri"/>
                <a:cs typeface="Nirmala UI"/>
              </a:rPr>
              <a:t>Apply greedy threshold-based clustering</a:t>
            </a:r>
          </a:p>
          <a:p>
            <a:pPr indent="-228600" marL="228600">
              <a:spcBef>
                <a:spcPts val="48"/>
              </a:spcBef>
              <a:lnSpc>
                <a:spcPct val="107"/>
              </a:lnSpc>
            </a:pPr>
            <a:r>
              <a:rPr lang="en-IN" sz="1130" b="0" dirty="0">
                <a:solidFill>
                  <a:srgbClr val="8AAEC8"/>
                </a:solidFill>
                <a:latin typeface="Calibri"/>
              </a:rPr>
              <a:t>  ◦  </a:t>
            </a:r>
            <a:r>
              <a:rPr lang="en-IN" sz="1130" b="0" dirty="0">
                <a:solidFill>
                  <a:srgbClr val="D0E4F7"/>
                </a:solidFill>
                <a:latin typeface="Calibri"/>
                <a:cs typeface="Nirmala UI"/>
              </a:rPr>
              <a:t>Threshold tuned on dev set: best at 0.80</a:t>
            </a:r>
          </a:p>
          <a:p>
            <a:pPr indent="-228600" marL="228600">
              <a:spcBef>
                <a:spcPts val="48"/>
              </a:spcBef>
              <a:lnSpc>
                <a:spcPct val="107"/>
              </a:lnSpc>
            </a:pPr>
            <a:r>
              <a:rPr lang="en-IN" sz="1130" b="0" dirty="0">
                <a:solidFill>
                  <a:srgbClr val="8AAEC8"/>
                </a:solidFill>
                <a:latin typeface="Calibri"/>
              </a:rPr>
              <a:t>  ◦  </a:t>
            </a:r>
            <a:r>
              <a:rPr lang="en-IN" sz="1130" b="0" dirty="0">
                <a:solidFill>
                  <a:srgbClr val="D0E4F7"/>
                </a:solidFill>
                <a:latin typeface="Calibri"/>
                <a:cs typeface="Nirmala UI"/>
              </a:rPr>
              <a:t>Union-Find used to merge transitive coref pairs</a:t>
            </a:r>
          </a:p>
          <a:p>
            <a:pPr indent="-228600" marL="228600">
              <a:spcBef>
                <a:spcPts val="48"/>
              </a:spcBef>
              <a:lnSpc>
                <a:spcPct val="107"/>
              </a:lnSpc>
            </a:pPr>
            <a:r>
              <a:rPr lang="en-IN" sz="1130" b="0" dirty="0">
                <a:solidFill>
                  <a:srgbClr val="8AAEC8"/>
                </a:solidFill>
                <a:latin typeface="Calibri"/>
              </a:rPr>
              <a:t>  ◦  </a:t>
            </a:r>
            <a:r>
              <a:rPr lang="en-IN" sz="1130" b="0" dirty="0">
                <a:solidFill>
                  <a:srgbClr val="D0E4F7"/>
                </a:solidFill>
                <a:latin typeface="Calibri"/>
                <a:cs typeface="Nirmala UI"/>
              </a:rPr>
              <a:t>Time complexity: O(n^2) — feasible for short documents</a:t>
            </a:r>
          </a:p>
          <a:p>
            <a:pPr indent="-228600" marL="228600">
              <a:spcBef>
                <a:spcPts val="48"/>
              </a:spcBef>
              <a:lnSpc>
                <a:spcPct val="107"/>
              </a:lnSpc>
            </a:pPr>
            <a:r>
              <a:rPr lang="en-IN" sz="1130" b="0" dirty="0">
                <a:solidFill>
                  <a:srgbClr val="8AAEC8"/>
                </a:solidFill>
                <a:latin typeface="Calibri"/>
              </a:rPr>
              <a:t>  ◦  </a:t>
            </a:r>
            <a:r>
              <a:rPr lang="en-IN" sz="1130" b="0" dirty="0">
                <a:solidFill>
                  <a:srgbClr val="D0E4F7"/>
                </a:solidFill>
                <a:latin typeface="Calibri"/>
                <a:cs typeface="Nirmala UI"/>
              </a:rPr>
              <a:t>Output: sets of mention indices per entity cluster</a:t>
            </a:r>
          </a:p>
        </p:txBody>
      </p:sp>
      <p:sp>
        <p:nvSpPr>
          <p:cNvPr id="45" name="FB"/>
          <p:cNvSpPr>
            <a:spLocks noGrp="1"/>
          </p:cNvSpPr>
          <p:nvPr/>
        </p:nvSpPr>
        <p:spPr>
          <a:xfrm>
            <a:off x="0" y="6473952"/>
            <a:ext cx="12192000" cy="384048"/>
          </a:xfrm>
          <a:prstGeom prst="rect">
            <a:avLst/>
          </a:prstGeom>
          <a:solidFill>
            <a:srgbClr val="112238"/>
          </a:solidFill>
          <a:ln>
            <a:noFill/>
          </a:ln>
        </p:spPr>
        <p:txBody>
          <a:bodyPr/>
          <a:lstStyle/>
          <a:p/>
        </p:txBody>
      </p:sp>
      <p:sp>
        <p:nvSpPr>
          <p:cNvPr id="46" name="FL"/>
          <p:cNvSpPr>
            <a:spLocks noGrp="1"/>
          </p:cNvSpPr>
          <p:nvPr/>
        </p:nvSpPr>
        <p:spPr>
          <a:xfrm>
            <a:off x="0" y="6473952"/>
            <a:ext cx="12192000" cy="36576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txBody>
          <a:bodyPr/>
          <a:lstStyle/>
          <a:p/>
        </p:txBody>
      </p:sp>
      <p:sp>
        <p:nvSpPr>
          <p:cNvPr id="47" name="FL2"/>
          <p:cNvSpPr txBox="1">
            <a:spLocks noGrp="1"/>
          </p:cNvSpPr>
          <p:nvPr/>
        </p:nvSpPr>
        <p:spPr>
          <a:xfrm>
            <a:off x="274320" y="6510528"/>
            <a:ext cx="5486400" cy="310896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n-IN" sz="950" b="0" dirty="0">
                <a:solidFill>
                  <a:srgbClr val="8AAEC8"/>
                </a:solidFill>
                <a:latin typeface="Calibri"/>
                <a:cs typeface="Nirmala UI"/>
              </a:rPr>
              <a:t>Hindi Coreference Resolution  |  CIT Kokrajhar</a:t>
            </a:r>
          </a:p>
        </p:txBody>
      </p:sp>
      <p:sp>
        <p:nvSpPr>
          <p:cNvPr id="48" name="FR"/>
          <p:cNvSpPr txBox="1">
            <a:spLocks noGrp="1"/>
          </p:cNvSpPr>
          <p:nvPr/>
        </p:nvSpPr>
        <p:spPr>
          <a:xfrm>
            <a:off x="7772400" y="6510528"/>
            <a:ext cx="3200400" cy="310896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/>
            <a:r>
              <a:rPr lang="en-IN" sz="950" b="0" dirty="0">
                <a:solidFill>
                  <a:srgbClr val="8AAEC8"/>
                </a:solidFill>
                <a:latin typeface="Calibri"/>
                <a:cs typeface="Nirmala UI"/>
              </a:rPr>
              <a:t>B.Tech Project  |  2026</a:t>
            </a:r>
          </a:p>
        </p:txBody>
      </p:sp>
    </p:spTree>
  </p:cSld>
  <p:clrMapOvr>
    <a:masterClrMapping/>
  </p:clrMapOvr>
</p:sld>
</file>

<file path=ppt/slides/slide9.xml><?xml version="1.0" encoding="UTF-8" standalone="yes"?>
<p:sld xmlns:p="http://schemas.openxmlformats.org/presentationml/2006/main"
       xmlns:a="http://schemas.openxmlformats.org/drawingml/2006/main"
       xmlns:r="http://schemas.openxmlformats.org/officeDocument/2006/relationships">
  <p:cSld><p:bg><p:bgPr><a:solidFill><a:srgbClr val="1A2E4A"/></a:solidFill><a:effectLst/></p:bgPr></p:bg>
  <p:spTree>
  <p:nvGrpSpPr><p:cNvPr id="1" name=""/><p:cNvGrpSpPr/><p:nvPr/></p:nvGrpSpPr>
  <p:grpSpPr><a:xfrm><a:off x="0" y="0"/><a:ext cx="12192000" cy="6858000"/><a:chOff x="0" y="0"/><a:chExt cx="12192000" cy="6858000"/></a:xfrm></p:grpSpPr>
  <p:sp><p:nvSpPr><p:cNvPr id="10" name="TopBar"/><p:cNvSpPr><a:spLocks noGrp="1"/></p:cNvSpPr><p:nvPr/></p:nvSpPr>
<p:spPr><a:xfrm><a:off x="0" y="0"/><a:ext cx="12192000" cy="1097280"/></a:xfrm><a:prstGeom prst="rect"><a:avLst/></a:prstGeom><a:solidFill><a:srgbClr val="112238"/></a:solidFill><a:ln><a:noFill/></a:ln></p:spPr>
<p:txBody><a:bodyPr/><a:lstStyle/><a:p/></p:txBody></p:sp>
<p:sp><p:nvSpPr><p:cNvPr id="11" name="AccLine"/><p:cNvSpPr><a:spLocks noGrp="1"/></p:cNvSpPr><p:nvPr/></p:nvSpPr>
<p:spPr><a:xfrm><a:off x="0" y="1097280"/><a:ext cx="12192000" cy="54864"/></a:xfrm><a:prstGeom prst="rect"><a:avLst/></a:prstGeom><a:solidFill><a:srgbClr val="E05C5C"/></a:solidFill><a:ln><a:noFill/></a:ln></p:spPr>
<p:txBody><a:bodyPr/><a:lstStyle/><a:p/></p:txBody></p:sp>
<p:sp><p:nvSpPr><p:cNvPr id="12" name="Title"/><p:cNvSpPr txBox="1"><a:spLocks noGrp="1"/></p:cNvSpPr><p:nvPr/></p:nvSpPr>
<p:spPr><a:xfrm><a:off x="365760" y="91440"/><a:ext cx="10424160" cy="777240"/></a:xfrm><a:prstGeom prst="rect"><a:avLst/></a:prstGeom><a:noFill/></p:spPr>
<p:txBody><a:bodyPr wrap="square" anchor="t"><a:normAutofit/></a:bodyPr><a:lstStyle/><a:p><a:pPr algn="l"/>
<a:r><a:rPr lang="en-IN" sz="2800" b="1" dirty="0"><a:solidFill><a:srgbClr val="FFFFFF"/></a:solidFill><a:latin typeface="Calibri"/><a:cs typeface="Nirmala UI"/></a:rPr><a:t>Why Phase 1 Failed</a:t></a:r></a:p></p:txBody></p:sp>
<p:sp><p:nvSpPr><p:cNvPr id="13" name="Sub"/><p:cNvSpPr txBox="1"><a:spLocks noGrp="1"/></p:cNvSpPr><p:nvPr/></p:nvSpPr>
<p:spPr><a:xfrm><a:off x="365760" y="749808"/><a:ext cx="9144000" cy="384048"/></a:xfrm><a:prstGeom prst="rect"><a:avLst/></a:prstGeom><a:noFill/></p:spPr>
<p:txBody><a:bodyPr wrap="square" anchor="t"><a:normAutofit/></a:bodyPr><a:lstStyle/><a:p><a:pPr algn="l"/>
<a:r><a:rPr lang="en-IN" sz="1300" b="0" dirty="0"><a:solidFill><a:srgbClr val="E05C5C"/></a:solidFill><a:latin typeface="Calibri"/><a:cs typeface="Nirmala UI"/></a:rPr><a:t>Critical analysis of unsupervised approach — key research insight</a:t></a:r></a:p></p:txBody></p:sp>
<p:sp><p:nvSpPr><p:cNvPr id="14" name="Banner"/><p:cNvSpPr><a:spLocks noGrp="1"/></p:cNvSpPr><p:nvPr/></p:nvSpPr>
<p:spPr><a:xfrm><a:off x="274320" y="1234440"/><a:ext cx="10515600" cy="658368"/></a:xfrm><a:prstGeom prst="roundRect"><a:avLst><a:gd name="adj" fmla="val 16667"/></a:avLst></a:prstGeom><a:solidFill><a:srgbClr val="E05C5C"/></a:solidFill><a:ln><a:noFill/></a:ln></p:spPr>
<p:txBody><a:bodyPr/><a:lstStyle/><a:p/></p:txBody></p:sp>
<p:sp><p:nvSpPr><p:cNvPr id="15" name="BannerT"/><p:cNvSpPr txBox="1"><a:spLocks noGrp="1"/></p:cNvSpPr><p:nvPr/></p:nvSpPr>
<p:spPr><a:xfrm><a:off x="457200" y="1298448"/><a:ext cx="10149840" cy="530352"/></a:xfrm><a:prstGeom prst="rect"><a:avLst/></a:prstGeom><a:noFill/></p:spPr>
<p:txBody><a:bodyPr wrap="square" anchor="t"><a:normAutofit/></a:bodyPr><a:lstStyle/><a:p><a:pPr algn="ctr"/>
<a:r><a:rPr lang="en-IN" sz="2000" b="1" dirty="0"><a:solidFill><a:srgbClr val="FFFFFF"/></a:solidFill><a:latin typeface="Calibri"/><a:cs typeface="Nirmala UI"/></a:rPr><a:t>CORE FINDING:   Semantic Similarity  ≠  Coreference</a:t></a:r></a:p></p:txBody></p:sp>
<p:sp><p:nvSpPr><p:cNvPr id="16" name="CB"/><p:cNvSpPr><a:spLocks noGrp="1"/></p:cNvSpPr><p:nvPr/></p:nvSpPr>
<p:spPr><a:xfrm><a:off x="274320" y="1993392"/><a:ext cx="54864" cy="896112"/></a:xfrm><a:prstGeom prst="rect"><a:avLst/></a:prstGeom><a:solidFill><a:srgbClr val="E05C5C"/></a:solidFill><a:ln><a:noFill/></a:ln></p:spPr>
<p:txBody><a:bodyPr/><a:lstStyle/><a:p/></p:txBody></p:sp>
<p:sp><p:nvSpPr><p:cNvPr id="17" name="CC"/><p:cNvSpPr><a:spLocks noGrp="1"/></p:cNvSpPr><p:nvPr/></p:nvSpPr>
<p:spPr><a:xfrm><a:off x="347472" y="1993392"/><a:ext cx="10442448" cy="896112"/></a:xfrm><a:prstGeom prst="roundRect"><a:avLst><a:gd name="adj" fmla="val 16667"/></a:avLst></a:prstGeom><a:solidFill><a:srgbClr val="0D1B2E"/></a:solidFill><a:ln><a:noFill/></a:ln></p:spPr>
<p:txBody><a:bodyPr/><a:lstStyle/><a:p/></p:txBody></p:sp>
<p:sp><p:nvSpPr><p:cNvPr id="18" name="CT"/><p:cNvSpPr txBox="1"><a:spLocks noGrp="1"/></p:cNvSpPr><p:nvPr/></p:nvSpPr>
<p:spPr><a:xfrm><a:off x="457200" y="2057400"/><a:ext cx="10259568" cy="347472"/></a:xfrm><a:prstGeom prst="rect"><a:avLst/></a:prstGeom><a:noFill/></p:spPr>
<p:txBody><a:bodyPr wrap="square" anchor="t"><a:normAutofit/></a:bodyPr><a:lstStyle/><a:p><a:pPr algn="l"/>
<a:r><a:rPr lang="en-IN" sz="1380" b="1" dirty="0"><a:solidFill><a:srgbClr val="E05C5C"/></a:solidFill><a:latin typeface="Calibri"/><a:cs typeface="Nirmala UI"/></a:rPr><a:t>Semantic Similarity is Not Sufficient</a:t></a:r></a:p></p:txBody></p:sp>
<p:sp><p:nvSpPr><p:cNvPr id="19" name="CI"/><p:cNvSpPr txBox="1"><a:spLocks noGrp="1"/></p:cNvSpPr><p:nvPr/></p:nvSpPr>
<p:spPr><a:xfrm><a:off x="457200" y="2432304"/><a:ext cx="10259568" cy="393192"/></a:xfrm><a:prstGeom prst="rect"><a:avLst/></a:prstGeom><a:noFill/></p:spPr>
<p:txBody><a:bodyPr wrap="square" anchor="t"><a:normAutofit/></a:bodyPr><a:lstStyle/><a:p><a:pPr indent="-228600" marL="228600"><a:spcBef><a:spcPts val="50"/></a:spcBef><a:lnSpc><a:spcPct val="108"/></a:lnSpc></a:pPr>
<a:r><a:rPr lang="en-IN" sz="1180" b="0" dirty="0"><a:solidFill><a:srgbClr val="E05C5C"/></a:solidFill><a:latin typeface="Calibri"/></a:rPr><a:t>▪  </a:t></a:r>
<a:r><a:rPr lang="en-IN" sz="1180" b="0" dirty="0"><a:solidFill><a:srgbClr val="D0E4F7"/></a:solidFill><a:latin typeface="Calibri"/><a:cs typeface="Nirmala UI"/></a:rPr><a:t>Cosine similarity measures geometric closeness in embedding space</a:t></a:r></a:p><a:p><a:pPr indent="-228600" marL="228600"><a:spcBef><a:spcPts val="50"/></a:spcBef><a:lnSpc><a:spcPct val="108"/></a:lnSpc></a:pPr>
<a:r><a:rPr lang="en-IN" sz="1080" b="0" dirty="0"><a:solidFill><a:srgbClr val="8AAEC8"/></a:solidFill><a:latin typeface="Calibri"/></a:rPr><a:t>  ◦  </a:t></a:r>
<a:r><a:rPr lang="en-IN" sz="1080" b="0" dirty="0"><a:solidFill><a:srgbClr val="D0E4F7"/></a:solidFill><a:latin typeface="Calibri"/><a:cs typeface="Nirmala UI"/></a:rPr><a:t>'राम' (Ram) and 'शिक्षक' (teacher) may be close if Ram is described as a teacher</a:t></a:r></a:p><a:p><a:pPr indent="-228600" marL="228600"><a:spcBef><a:spcPts val="50"/></a:spcBef><a:lnSpc><a:spcPct val="108"/></a:lnSpc></a:pPr>
<a:r><a:rPr lang="en-IN" sz="1080" b="0" dirty="0"><a:solidFill><a:srgbClr val="8AAEC8"/></a:solidFill><a:latin typeface="Calibri"/></a:rPr><a:t>  ◦  </a:t></a:r>
<a:r><a:rPr lang="en-IN" sz="1080" b="0" dirty="0"><a:solidFill><a:srgbClr val="D0E4F7"/></a:solidFill><a:latin typeface="Calibri"/><a:cs typeface="Nirmala UI"/></a:rPr><a:t>These are NOT coreferent — they refer to different conceptual entities</a:t></a:r></a:p><a:p><a:pPr indent="-228600" marL="228600"><a:spcBef><a:spcPts val="50"/></a:spcBef><a:lnSpc><a:spcPct val="108"/></a:lnSpc></a:pPr>
<a:r><a:rPr lang="en-IN" sz="1180" b="0" dirty="0"><a:solidFill><a:srgbClr val="E05C5C"/></a:solidFill><a:latin typeface="Calibri"/></a:rPr><a:t>▪  </a:t></a:r>
<a:r><a:rPr lang="en-IN" sz="1180" b="0" dirty="0"><a:solidFill><a:srgbClr val="D0E4F7"/></a:solidFill><a:latin typeface="Calibri"/><a:cs typeface="Nirmala UI"/></a:rPr><a:t>Similarity captures topical/semantic relatedness, NOT identity of reference</a:t></a:r></a:p><a:p><a:pPr indent="-228600" marL="228600"><a:spcBef><a:spcPts val="50"/></a:spcBef><a:lnSpc><a:spcPct val="108"/></a:lnSpc></a:pPr>
<a:r><a:rPr lang="en-IN" sz="1080" b="0" dirty="0"><a:solidFill><a:srgbClr val="8AAEC8"/></a:solidFill><a:latin typeface="Calibri"/></a:rPr><a:t>  ◦  </a:t></a:r>
<a:r><a:rPr lang="en-IN" sz="1080" b="0" dirty="0"><a:solidFill><a:srgbClr val="D0E4F7"/></a:solidFill><a:latin typeface="Calibri"/><a:cs typeface="Nirmala UI"/></a:rPr><a:t>No amount of threshold tuning solves this fundamental mismatch</a:t></a:r></a:p><a:p><a:pPr indent="-228600" marL="228600"><a:spcBef><a:spcPts val="50"/></a:spcBef><a:lnSpc><a:spcPct val="108"/></a:lnSpc></a:pPr>
<a:r><a:rPr lang="en-IN" sz="1180" b="0" dirty="0"><a:solidFill><a:srgbClr val="E05C5C"/></a:solidFill><a:latin typeface="Calibri"/></a:rPr><a:t>▪  </a:t></a:r>
<a:r><a:rPr lang="en-IN" sz="1180" b="0" dirty="0"><a:solidFill><a:srgbClr val="D0E4F7"/></a:solidFill><a:latin typeface="Calibri"/><a:cs typeface="Nirmala UI"/></a:rPr><a:t>Result: high false-positive rate — unrelated entities merged into clusters</a:t></a:r></a:p></p:txBody></p:sp>
<p:sp><p:nvSpPr><p:cNvPr id="20" name="CB"/><p:cNvSpPr><a:spLocks noGrp="1"/></p:cNvSpPr><p:nvPr/></p:nvSpPr>
<p:spPr><a:xfrm><a:off x="274320" y="2980944"/><a:ext cx="54864" cy="896112"/></a:xfrm><a:prstGeom prst="rect"><a:avLst/></a:prstGeom><a:solidFill><a:srgbClr val="E07B39"/></a:solidFill><a:ln><a:noFill/></a:ln></p:spPr>
<p:txBody><a:bodyPr/><a:lstStyle/><a:p/></p:txBody></p:sp>
<p:sp><p:nvSpPr><p:cNvPr id="21" name="CC"/><p:cNvSpPr><a:spLocks noGrp="1"/></p:cNvSpPr><p:nvPr/></p:nvSpPr>
<p:spPr><a:xfrm><a:off x="347472" y="2980944"/><a:ext cx="10442448" cy="896112"/></a:xfrm><a:prstGeom prst="roundRect"><a:avLst><a:gd name="adj" fmla="val 16667"/></a:avLst></a:prstGeom><a:solidFill><a:srgbClr val="0D1B2E"/></a:solidFill><a:ln><a:noFill/></a:ln></p:spPr>
<p:txBody><a:bodyPr/><a:lstStyle/><a:p/></p:txBody></p:sp>
<p:sp><p:nvSpPr><p:cNvPr id="22" name="CT"/><p:cNvSpPr txBox="1"><a:spLocks noGrp="1"/></p:cNvSpPr><p:nvPr/></p:nvSpPr>
<p:spPr><a:xfrm><a:off x="457200" y="3044952"/><a:ext cx="10259568" cy="347472"/></a:xfrm><a:prstGeom prst="rect"><a:avLst/></a:prstGeom><a:noFill/></p:spPr>
<p:txBody><a:bodyPr wrap="square" anchor="t"><a:normAutofit/></a:bodyPr><a:lstStyle/><a:p><a:pPr algn="l"/>
<a:r><a:rPr lang="en-IN" sz="1380" b="1" dirty="0"><a:solidFill><a:srgbClr val="E07B39"/></a:solidFill><a:latin typeface="Calibri"/><a:cs typeface="Nirmala UI"/></a:rPr><a:t>Pronoun Embeddings Cluster Poorly</a:t></a:r></a:p></p:txBody></p:sp>
<p:sp><p:nvSpPr><p:cNvPr id="23" name="CI"/><p:cNvSpPr txBox="1"><a:spLocks noGrp="1"/></p:cNvSpPr><p:nvPr/></p:nvSpPr>
<p:spPr><a:xfrm><a:off x="457200" y="3419856"/><a:ext cx="10259568" cy="393192"/></a:xfrm><a:prstGeom prst="rect"><a:avLst/></a:prstGeom><a:noFill/></p:spPr>
<p:txBody><a:bodyPr wrap="square" anchor="t"><a:normAutofit/></a:bodyPr><a:lstStyle/><a:p><a:pPr indent="-228600" marL="228600"><a:spcBef><a:spcPts val="50"/></a:spcBef><a:lnSpc><a:spcPct val="108"/></a:lnSpc></a:pPr>
<a:r><a:rPr lang="en-IN" sz="1180" b="0" dirty="0"><a:solidFill><a:srgbClr val="E07B39"/></a:solidFill><a:latin typeface="Calibri"/></a:rPr><a:t>▪  </a:t></a:r>
<a:r><a:rPr lang="en-IN" sz="1180" b="0" dirty="0"><a:solidFill><a:srgbClr val="D0E4F7"/></a:solidFill><a:latin typeface="Calibri"/><a:cs typeface="Nirmala UI"/></a:rPr><a:t>Hindi pronouns 'वह', 'उसने', 'उसको' have weak lexical content</a:t></a:r></a:p><a:p><a:pPr indent="-228600" marL="228600"><a:spcBef><a:spcPts val="50"/></a:spcBef><a:lnSpc><a:spcPct val="108"/></a:lnSpc></a:pPr>
<a:r><a:rPr lang="en-IN" sz="1080" b="0" dirty="0"><a:solidFill><a:srgbClr val="8AAEC8"/></a:solidFill><a:latin typeface="Calibri"/></a:rPr><a:t>  ◦  </a:t></a:r>
<a:r><a:rPr lang="en-IN" sz="1080" b="0" dirty="0"><a:solidFill><a:srgbClr val="D0E4F7"/></a:solidFill><a:latin typeface="Calibri"/><a:cs typeface="Nirmala UI"/></a:rPr><a:t>Their embeddings are diffuse — spread across many semantic regions</a:t></a:r></a:p><a:p><a:pPr indent="-228600" marL="228600"><a:spcBef><a:spcPts val="50"/></a:spcBef><a:lnSpc><a:spcPct val="108"/></a:lnSpc></a:pPr>
<a:r><a:rPr lang="en-IN" sz="1080" b="0" dirty="0"><a:solidFill><a:srgbClr val="8AAEC8"/></a:solidFill><a:latin typeface="Calibri"/></a:rPr><a:t>  ◦  </a:t></a:r>
<a:r><a:rPr lang="en-IN" sz="1080" b="0" dirty="0"><a:solidFill><a:srgbClr val="D0E4F7"/></a:solidFill><a:latin typeface="Calibri"/><a:cs typeface="Nirmala UI"/></a:rPr><a:t>No strong cosine signal to link pronoun ↔ antecedent reliably</a:t></a:r></a:p><a:p><a:pPr indent="-228600" marL="228600"><a:spcBef><a:spcPts val="50"/></a:spcBef><a:lnSpc><a:spcPct val="108"/></a:lnSpc></a:pPr>
<a:r><a:rPr lang="en-IN" sz="1180" b="0" dirty="0"><a:solidFill><a:srgbClr val="E07B39"/></a:solidFill><a:latin typeface="Calibri"/></a:rPr><a:t>▪  </a:t></a:r>
<a:r><a:rPr lang="en-IN" sz="1180" b="0" dirty="0"><a:solidFill><a:srgbClr val="D0E4F7"/></a:solidFill><a:latin typeface="Calibri"/><a:cs typeface="Nirmala UI"/></a:rPr><a:t>Pronouns require discourse context, not just token-level embedding</a:t></a:r></a:p><a:p><a:pPr indent="-228600" marL="228600"><a:spcBef><a:spcPts val="50"/></a:spcBef><a:lnSpc><a:spcPct val="108"/></a:lnSpc></a:pPr>
<a:r><a:rPr lang="en-IN" sz="1080" b="0" dirty="0"><a:solidFill><a:srgbClr val="8AAEC8"/></a:solidFill><a:latin typeface="Calibri"/></a:rPr><a:t>  ◦  </a:t></a:r>
<a:r><a:rPr lang="en-IN" sz="1080" b="0" dirty="0"><a:solidFill><a:srgbClr val="D0E4F7"/></a:solidFill><a:latin typeface="Calibri"/><a:cs typeface="Nirmala UI"/></a:rPr><a:t>e.g. 'वह' can refer to any 3rd-person entity in the prior context</a:t></a:r></a:p><a:p><a:pPr indent="-228600" marL="228600"><a:spcBef><a:spcPts val="50"/></a:spcBef><a:lnSpc><a:spcPct val="108"/></a:lnSpc></a:pPr>
<a:r><a:rPr lang="en-IN" sz="1180" b="0" dirty="0"><a:solidFill><a:srgbClr val="E07B39"/></a:solidFill><a:latin typeface="Calibri"/></a:rPr><a:t>▪  </a:t></a:r>
<a:r><a:rPr lang="en-IN" sz="1180" b="0" dirty="0"><a:solidFill><a:srgbClr val="D0E4F7"/></a:solidFill><a:latin typeface="Calibri"/><a:cs typeface="Nirmala UI"/></a:rPr><a:t>Phase 1 recall for pronouns was near-zero (<15% on dev set)</a:t></a:r></a:p></p:txBody></p:sp>
<p:sp><p:nvSpPr><p:cNvPr id="24" name="CB"/><p:cNvSpPr><a:spLocks noGrp="1"/></p:cNvSpPr><p:nvPr/></p:nvSpPr>
<p:spPr><a:xfrm><a:off x="274320" y="3968496"/><a:ext cx="54864" cy="896112"/></a:xfrm><a:prstGeom prst="rect"><a:avLst/></a:prstGeom><a:solidFill><a:srgbClr val="F5A623"/></a:solidFill><a:ln><a:noFill/></a:ln></p:spPr>
<p:txBody><a:bodyPr/><a:lstStyle/><a:p/></p:txBody></p:sp>
<p:sp><p:nvSpPr><p:cNvPr id="25" name="CC"/><p:cNvSpPr><a:spLocks noGrp="1"/></p:cNvSpPr><p:nvPr/></p:nvSpPr>
<p:spPr><a:xfrm><a:off x="347472" y="3968496"/><a:ext cx="10442448" cy="896112"/></a:xfrm><a:prstGeom prst="roundRect"><a:avLst><a:gd name="adj" fmla="val 16667"/></a:avLst></a:prstGeom><a:solidFill><a:srgbClr val="0D1B2E"/></a:solidFill><a:ln><a:noFill/></a:ln></p:spPr>
<p:txBody><a:bodyPr/><a:lstStyle/><a:p/></p:txBody></p:sp>
<p:sp><p:nvSpPr><p:cNvPr id="26" name="CT"/><p:cNvSpPr txBox="1"><a:spLocks noGrp="1"/></p:cNvSpPr><p:nvPr/></p:nvSpPr>
<p:spPr><a:xfrm><a:off x="457200" y="4032504"/><a:ext cx="10259568" cy="347472"/></a:xfrm><a:prstGeom prst="rect"><a:avLst/></a:prstGeom><a:noFill/></p:spPr>
<p:txBody><a:bodyPr wrap="square" anchor="t"><a:normAutofit/></a:bodyPr><a:lstStyle/><a:p><a:pPr algn="l"/>
<a:r><a:rPr lang="en-IN" sz="1380" b="1" dirty="0"><a:solidFill><a:srgbClr val="F5A623"/></a:solidFill><a:latin typeface="Calibri"/><a:cs typeface="Nirmala UI"/></a:rPr><a:t>No Discourse or Structural Modeling</a:t></a:r></a:p></p:txBody></p:sp>
<p:sp><p:nvSpPr><p:cNvPr id="27" name="CI"/><p:cNvSpPr txBox="1"><a:spLocks noGrp="1"/></p:cNvSpPr><p:nvPr/></p:nvSpPr>
<p:spPr><a:xfrm><a:off x="457200" y="4407408"/><a:ext cx="10259568" cy="393192"/></a:xfrm><a:prstGeom prst="rect"><a:avLst/></a:prstGeom><a:noFill/></p:spPr>
<p:txBody><a:bodyPr wrap="square" anchor="t"><a:normAutofit/></a:bodyPr><a:lstStyle/><a:p><a:pPr indent="-228600" marL="228600"><a:spcBef><a:spcPts val="50"/></a:spcBef><a:lnSpc><a:spcPct val="108"/></a:lnSpc></a:pPr>
<a:r><a:rPr lang="en-IN" sz="1180" b="0" dirty="0"><a:solidFill><a:srgbClr val="F5A623"/></a:solidFill><a:latin typeface="Calibri"/></a:rPr><a:t>▪  </a:t></a:r>
<a:r><a:rPr lang="en-IN" sz="1180" b="0" dirty="0"><a:solidFill><a:srgbClr val="D0E4F7"/></a:solidFill><a:latin typeface="Calibri"/><a:cs typeface="Nirmala UI"/></a:rPr><a:t>Embedding similarity is purely local — no sentence distance signal</a:t></a:r></a:p><a:p><a:pPr indent="-228600" marL="228600"><a:spcBef><a:spcPts val="50"/></a:spcBef><a:lnSpc><a:spcPct val="108"/></a:lnSpc></a:pPr>
<a:r><a:rPr lang="en-IN" sz="1080" b="0" dirty="0"><a:solidFill><a:srgbClr val="8AAEC8"/></a:solidFill><a:latin typeface="Calibri"/></a:rPr><a:t>  ◦  </a:t></a:r>
<a:r><a:rPr lang="en-IN" sz="1080" b="0" dirty="0"><a:solidFill><a:srgbClr val="D0E4F7"/></a:solidFill><a:latin typeface="Calibri"/><a:cs typeface="Nirmala UI"/></a:rPr><a:t>Two entities 5 sentences apart treated the same as adjacent ones</a:t></a:r></a:p><a:p><a:pPr indent="-228600" marL="228600"><a:spcBef><a:spcPts val="50"/></a:spcBef><a:lnSpc><a:spcPct val="108"/></a:lnSpc></a:pPr>
<a:r><a:rPr lang="en-IN" sz="1180" b="0" dirty="0"><a:solidFill><a:srgbClr val="F5A623"/></a:solidFill><a:latin typeface="Calibri"/></a:rPr><a:t>▪  </a:t></a:r>
<a:r><a:rPr lang="en-IN" sz="1180" b="0" dirty="0"><a:solidFill><a:srgbClr val="D0E4F7"/></a:solidFill><a:latin typeface="Calibri"/><a:cs typeface="Nirmala UI"/></a:rPr><a:t>No grammatical role information (subject vs object vs oblique)</a:t></a:r></a:p><a:p><a:pPr indent="-228600" marL="228600"><a:spcBef><a:spcPts val="50"/></a:spcBef><a:lnSpc><a:spcPct val="108"/></a:lnSpc></a:pPr>
<a:r><a:rPr lang="en-IN" sz="1180" b="0" dirty="0"><a:solidFill><a:srgbClr val="F5A623"/></a:solidFill><a:latin typeface="Calibri"/></a:rPr><a:t>▪  </a:t></a:r>
<a:r><a:rPr lang="en-IN" sz="1180" b="0" dirty="0"><a:solidFill><a:srgbClr val="D0E4F7"/></a:solidFill><a:latin typeface="Calibri"/><a:cs typeface="Nirmala UI"/></a:rPr><a:t>No gender/number agreement constraints applied</a:t></a:r></a:p><a:p><a:pPr indent="-228600" marL="228600"><a:spcBef><a:spcPts val="50"/></a:spcBef><a:lnSpc><a:spcPct val="108"/></a:lnSpc></a:pPr>
<a:r><a:rPr lang="en-IN" sz="1080" b="0" dirty="0"><a:solidFill><a:srgbClr val="8AAEC8"/></a:solidFill><a:latin typeface="Calibri"/></a:rPr><a:t>  ◦  </a:t></a:r>
<a:r><a:rPr lang="en-IN" sz="1080" b="0" dirty="0"><a:solidFill><a:srgbClr val="D0E4F7"/></a:solidFill><a:latin typeface="Calibri"/><a:cs typeface="Nirmala UI"/></a:rPr><a:t>Hindi morphology encodes gender — 'वह गया' (M) ≠ 'वह गई' (F)</a:t></a:r></a:p><a:p><a:pPr indent="-228600" marL="228600"><a:spcBef><a:spcPts val="50"/></a:spcBef><a:lnSpc><a:spcPct val="108"/></a:lnSpc></a:pPr>
<a:r><a:rPr lang="en-IN" sz="1180" b="0" dirty="0"><a:solidFill><a:srgbClr val="F5A623"/></a:solidFill><a:latin typeface="Calibri"/></a:rPr><a:t>▪  </a:t></a:r>
<a:r><a:rPr lang="en-IN" sz="1180" b="0" dirty="0"><a:solidFill><a:srgbClr val="D0E4F7"/></a:solidFill><a:latin typeface="Calibri"/><a:cs typeface="Nirmala UI"/></a:rPr><a:t>Adding even simple distance + agreement features dramatically helps</a:t></a:r></a:p></p:txBody></p:sp>
<p:sp><p:nvSpPr><p:cNvPr id="28" name="CB"/><p:cNvSpPr><a:spLocks noGrp="1"/></p:cNvSpPr><p:nvPr/></p:nvSpPr>
<p:spPr><a:xfrm><a:off x="274320" y="4956048"/><a:ext cx="54864" cy="896112"/></a:xfrm><a:prstGeom prst="rect"><a:avLst/></a:prstGeom><a:solidFill><a:srgbClr val="8AAEC8"/></a:solidFill><a:ln><a:noFill/></a:ln></p:spPr>
<p:txBody><a:bodyPr/><a:lstStyle/><a:p/></p:txBody></p:sp>
<p:sp><p:nvSpPr><p:cNvPr id="29" name="CC"/><p:cNvSpPr><a:spLocks noGrp="1"/></p:cNvSpPr><p:nvPr/></p:nvSpPr>
<p:spPr><a:xfrm><a:off x="347472" y="4956048"/><a:ext cx="10442448" cy="896112"/></a:xfrm><a:prstGeom prst="roundRect"><a:avLst><a:gd name="adj" fmla="val 16667"/></a:avLst></a:prstGeom><a:solidFill><a:srgbClr val="0D1B2E"/></a:solidFill><a:ln><a:noFill/></a:ln></p:spPr>
<p:txBody><a:bodyPr/><a:lstStyle/><a:p/></p:txBody></p:sp>
<p:sp><p:nvSpPr><p:cNvPr id="30" name="CT"/><p:cNvSpPr txBox="1"><a:spLocks noGrp="1"/></p:cNvSpPr><p:nvPr/></p:nvSpPr>
<p:spPr><a:xfrm><a:off x="457200" y="5020056"/><a:ext cx="10259568" cy="347472"/></a:xfrm><a:prstGeom prst="rect"><a:avLst/></a:prstGeom><a:noFill/></p:spPr>
<p:txBody><a:bodyPr wrap="square" anchor="t"><a:normAutofit/></a:bodyPr><a:lstStyle/><a:p><a:pPr algn="l"/>
<a:r><a:rPr lang="en-IN" sz="1380" b="1" dirty="0"><a:solidFill><a:srgbClr val="8AAEC8"/></a:solidFill><a:latin typeface="Calibri"/><a:cs typeface="Nirmala UI"/></a:rPr><a:t>Scratch Training Limitations</a:t></a:r></a:p></p:txBody></p:sp>
<p:sp><p:nvSpPr><p:cNvPr id="31" name="CI"/><p:cNvSpPr txBox="1"><a:spLocks noGrp="1"/></p:cNvSpPr><p:nvPr/></p:nvSpPr>
<p:spPr><a:xfrm><a:off x="457200" y="5394960"/><a:ext cx="10259568" cy="393192"/></a:xfrm><a:prstGeom prst="rect"><a:avLst/></a:prstGeom><a:noFill/></p:spPr>
<p:txBody><a:bodyPr wrap="square" anchor="t"><a:normAutofit/></a:bodyPr><a:lstStyle/><a:p><a:pPr indent="-228600" marL="228600"><a:spcBef><a:spcPts val="50"/></a:spcBef><a:lnSpc><a:spcPct val="108"/></a:lnSpc></a:pPr>
<a:r><a:rPr lang="en-IN" sz="1180" b="0" dirty="0"><a:solidFill><a:srgbClr val="8AAEC8"/></a:solidFill><a:latin typeface="Calibri"/></a:rPr><a:t>▪  </a:t></a:r>
<a:r><a:rPr lang="en-IN" sz="1180" b="0" dirty="0"><a:solidFill><a:srgbClr val="D0E4F7"/></a:solidFill><a:latin typeface="Calibri"/><a:cs typeface="Nirmala UI"/></a:rPr><a:t>172K docs is too small for a compact 40M-parameter BERT model</a:t></a:r></a:p><a:p><a:pPr indent="-228600" marL="228600"><a:spcBef><a:spcPts val="50"/></a:spcBef><a:lnSpc><a:spcPct val="108"/></a:lnSpc></a:pPr>
<a:r><a:rPr lang="en-IN" sz="1080" b="0" dirty="0"><a:solidFill><a:srgbClr val="8AAEC8"/></a:solidFill><a:latin typeface="Calibri"/></a:rPr><a:t>  ◦  </a:t></a:r>
<a:r><a:rPr lang="en-IN" sz="1080" b="0" dirty="0"><a:solidFill><a:srgbClr val="D0E4F7"/></a:solidFill><a:latin typeface="Calibri"/><a:cs typeface="Nirmala UI"/></a:rPr><a:t>Pretrained English BERT uses 3.3B words (16x larger)</a:t></a:r></a:p><a:p><a:pPr indent="-228600" marL="228600"><a:spcBef><a:spcPts val="50"/></a:spcBef><a:lnSpc><a:spcPct val="108"/></a:lnSpc></a:pPr>
<a:r><a:rPr lang="en-IN" sz="1180" b="0" dirty="0"><a:solidFill><a:srgbClr val="8AAEC8"/></a:solidFill><a:latin typeface="Calibri"/></a:rPr><a:t>▪  </a:t></a:r>
<a:r><a:rPr lang="en-IN" sz="1180" b="0" dirty="0"><a:solidFill><a:srgbClr val="D0E4F7"/></a:solidFill><a:latin typeface="Calibri"/><a:cs typeface="Nirmala UI"/></a:rPr><a:t>Embeddings remain under-trained — limited semantic coherence</a:t></a:r></a:p><a:p><a:pPr indent="-228600" marL="228600"><a:spcBef><a:spcPts val="50"/></a:spcBef><a:lnSpc><a:spcPct val="108"/></a:lnSpc></a:pPr>
<a:r><a:rPr lang="en-IN" sz="1180" b="0" dirty="0"><a:solidFill><a:srgbClr val="8AAEC8"/></a:solidFill><a:latin typeface="Calibri"/></a:rPr><a:t>▪  </a:t></a:r>
<a:r><a:rPr lang="en-IN" sz="1180" b="0" dirty="0"><a:solidFill><a:srgbClr val="D0E4F7"/></a:solidFill><a:latin typeface="Calibri"/><a:cs typeface="Nirmala UI"/></a:rPr><a:t>IndicBERTv2 trained on 20B+ tokens — vastly superior representations</a:t></a:r></a:p><a:p><a:pPr indent="-228600" marL="228600"><a:spcBef><a:spcPts val="50"/></a:spcBef><a:lnSpc><a:spcPct val="108"/></a:lnSpc></a:pPr>
<a:r><a:rPr lang="en-IN" sz="1180" b="0" dirty="0"><a:solidFill><a:srgbClr val="8AAEC8"/></a:solidFill><a:latin typeface="Calibri"/></a:rPr><a:t>▪  </a:t></a:r>
<a:r><a:rPr lang="en-IN" sz="1180" b="0" dirty="0"><a:solidFill><a:srgbClr val="D0E4F7"/></a:solidFill><a:latin typeface="Calibri"/><a:cs typeface="Nirmala UI"/></a:rPr><a:t>Key lesson: use pretrained Indic models rather than training from scratch</a:t></a:r></a:p></p:txBody></p:sp>
<p:sp><p:nvSpPr><p:cNvPr id="32" name="FB"/><p:cNvSpPr><a:spLocks noGrp="1"/></p:cNvSpPr><p:nvPr/></p:nvSpPr>
<p:spPr><a:xfrm><a:off x="0" y="6473952"/><a:ext cx="12192000" cy="384048"/></a:xfrm><a:prstGeom prst="rect"><a:avLst/></a:prstGeom><a:solidFill><a:srgbClr val="112238"/></a:solidFill><a:ln><a:noFill/></a:ln></p:spPr>
<p:txBody><a:bodyPr/><a:lstStyle/><a:p/></p:txBody></p:sp>
<p:sp><p:nvSpPr><p:cNvPr id="33" name="FL"/><p:cNvSpPr><a:spLocks noGrp="1"/></p:cNvSpPr><p:nvPr/></p:nvSpPr>
<p:spPr><a:xfrm><a:off x="0" y="6473952"/><a:ext cx="12192000" cy="36576"/></a:xfrm><a:prstGeom prst="rect"><a:avLst/></a:prstGeom><a:solidFill><a:srgbClr val="00C9B1"/></a:solidFill><a:ln><a:noFill/></a:ln></p:spPr>
<p:txBody><a:bodyPr/><a:lstStyle/><a:p/></p:txBody></p:sp>
<p:sp><p:nvSpPr><p:cNvPr id="34" name="FL2"/><p:cNvSpPr txBox="1"><a:spLocks noGrp="1"/></p:cNvSpPr><p:nvPr/></p:nvSpPr>
<p:spPr><a:xfrm><a:off x="274320" y="6510528"/><a:ext cx="5486400" cy="310896"/></a:xfrm><a:prstGeom prst="rect"><a:avLst/></a:prstGeom><a:noFill/></p:spPr>
<p:txBody><a:bodyPr wrap="square" anchor="t"><a:normAutofit/></a:bodyPr><a:lstStyle/><a:p><a:pPr algn="l"/>
<a:r><a:rPr lang="en-IN" sz="950" b="0" dirty="0"><a:solidFill><a:srgbClr val="8AAEC8"/></a:solidFill><a:latin typeface="Calibri"/><a:cs typeface="Nirmala UI"/></a:rPr><a:t>Hindi Coreference Resolution  |  CIT Kokrajhar</a:t></a:r></a:p></p:txBody></p:sp>
<p:sp><p:nvSpPr><p:cNvPr id="35" name="FR"/><p:cNvSpPr txBox="1"><a:spLocks noGrp="1"/></p:cNvSpPr><p:nvPr/></p:nvSpPr>
<p:spPr><a:xfrm><a:off x="7772400" y="6510528"/><a:ext cx="3200400" cy="310896"/></a:xfrm><a:prstGeom prst="rect"><a:avLst/></a:prstGeom><a:noFill/></p:spPr>
<p:txBody><a:bodyPr wrap="square" anchor="t"><a:normAutofit/></a:bodyPr><a:lstStyle/><a:p><a:pPr algn="r"/>
<a:r><a:rPr lang="en-IN" sz="950" b="0" dirty="0"><a:solidFill><a:srgbClr val="8AAEC8"/></a:solidFill><a:latin typeface="Calibri"/><a:cs typeface="Nirmala UI"/></a:rPr><a:t>B.Tech Project  |  2026</a:t></a:r></a:p></p:txBody></p:sp>
  </p:spTree></p:cSld>
  <p:clrMapOvr><a:masterClrMapping/></p:clrMapOvr>
</p:sld>
</file>

<file path=ppt/slides/slide10.xml><?xml version="1.0" encoding="UTF-8" standalone="yes"?>
<p:sld xmlns:p="http://schemas.openxmlformats.org/presentationml/2006/main"
       xmlns:a="http://schemas.openxmlformats.org/drawingml/2006/main"
       xmlns:r="http://schemas.openxmlformats.org/officeDocument/2006/relationships">
  <p:cSld><p:bg><p:bgPr><a:solidFill><a:srgbClr val="1A2E4A"/></a:solidFill><a:effectLst/></p:bgPr></p:bg>
  <p:spTree>
  <p:nvGrpSpPr><p:cNvPr id="1" name=""/><p:cNvGrpSpPr/><p:nvPr/></p:nvGrpSpPr>
  <p:grpSpPr><a:xfrm><a:off x="0" y="0"/><a:ext cx="12192000" cy="6858000"/><a:chOff x="0" y="0"/><a:chExt cx="12192000" cy="6858000"/></a:xfrm></p:grpSpPr>
  <p:sp><p:nvSpPr><p:cNvPr id="10" name="TopBar"/><p:cNvSpPr><a:spLocks noGrp="1"/></p:cNvSpPr><p:nvPr/></p:nvSpPr>
<p:spPr><a:xfrm><a:off x="0" y="0"/><a:ext cx="12192000" cy="1097280"/></a:xfrm><a:prstGeom prst="rect"><a:avLst/></a:prstGeom><a:solidFill><a:srgbClr val="112238"/></a:solidFill><a:ln><a:noFill/></a:ln></p:spPr>
<p:txBody><a:bodyPr/><a:lstStyle/><a:p/></p:txBody></p:sp>
<p:sp><p:nvSpPr><p:cNvPr id="11" name="AccLine"/><p:cNvSpPr><a:spLocks noGrp="1"/></p:cNvSpPr><p:nvPr/></p:nvSpPr>
<p:spPr><a:xfrm><a:off x="0" y="1097280"/><a:ext cx="12192000" cy="54864"/></a:xfrm><a:prstGeom prst="rect"><a:avLst/></a:prstGeom><a:solidFill><a:srgbClr val="00C9B1"/></a:solidFill><a:ln><a:noFill/></a:ln></p:spPr>
<p:txBody><a:bodyPr/><a:lstStyle/><a:p/></p:txBody></p:sp>
<p:sp><p:nvSpPr><p:cNvPr id="12" name="Title"/><p:cNvSpPr txBox="1"><a:spLocks noGrp="1"/></p:cNvSpPr><p:nvPr/></p:nvSpPr>
<p:spPr><a:xfrm><a:off x="365760" y="91440"/><a:ext cx="10424160" cy="777240"/></a:xfrm><a:prstGeom prst="rect"><a:avLst/></a:prstGeom><a:noFill/></p:spPr>
<p:txBody><a:bodyPr wrap="square" anchor="t"><a:normAutofit/></a:bodyPr><a:lstStyle/><a:p><a:pPr algn="l"/>
<a:r><a:rPr lang="en-IN" sz="2800" b="1" dirty="0"><a:solidFill><a:srgbClr val="FFFFFF"/></a:solidFill><a:latin typeface="Calibri"/><a:cs typeface="Nirmala UI"/></a:rPr><a:t>Phase 2: Hybrid Supervised Architecture</a:t></a:r></a:p></p:txBody></p:sp>
<p:sp><p:nvSpPr><p:cNvPr id="13" name="Sub"/><p:cNvSpPr txBox="1"><a:spLocks noGrp="1"/></p:cNvSpPr><p:nvPr/></p:nvSpPr>
<p:spPr><a:xfrm><a:off x="365760" y="749808"/><a:ext cx="9144000" cy="384048"/></a:xfrm><a:prstGeom prst="rect"><a:avLst/></a:prstGeom><a:noFill/></p:spPr>
<p:txBody><a:bodyPr wrap="square" anchor="t"><a:normAutofit/></a:bodyPr><a:lstStyle/><a:p><a:pPr algn="l"/>
<a:r><a:rPr lang="en-IN" sz="1300" b="0" dirty="0"><a:solidFill><a:srgbClr val="00C9B1"/></a:solidFill><a:latin typeface="Calibri"/><a:cs typeface="Nirmala UI"/></a:rPr><a:t>IndicBERTv2 contextual embeddings + linguistic feature engineering + pairwise classifier</a:t></a:r></a:p></p:txBody></p:sp>
<p:sp><p:nvSpPr><p:cNvPr id="14" name="CB0"/><p:cNvSpPr><a:spLocks noGrp="1"/></p:cNvSpPr><p:nvPr/></p:nvSpPr>
<p:spPr><a:xfrm><a:off x="411480" y="1298448"/><a:ext cx="2240280" cy="2240280"/></a:xfrm><a:prstGeom prst="roundRect"><a:avLst><a:gd name="adj" fmla="val 12000"/></a:avLst></a:prstGeom><a:solidFill><a:srgbClr val="0D1B2E"/></a:solidFill><a:ln w="18000"><a:solidFill><a:srgbClr val="00C9B1"/></a:solidFill></a:ln></p:spPr>
<p:txBody><a:bodyPr/><a:lstStyle/><a:p/></p:txBody></p:sp>
<p:sp><p:nvSpPr><p:cNvPr id="15" name="CT0"/><p:cNvSpPr><a:spLocks noGrp="1"/></p:cNvSpPr><p:nvPr/></p:nvSpPr>
<p:spPr><a:xfrm><a:off x="411480" y="1298448"/><a:ext cx="2240280" cy="64008"/></a:xfrm><a:prstGeom prst="rect"><a:avLst/></a:prstGeom><a:solidFill><a:srgbClr val="00C9B1"/></a:solidFill><a:ln><a:noFill/></a:ln></p:spPr>
<p:txBody><a:bodyPr/><a:lstStyle/><a:p/></p:txBody></p:sp>
<p:sp><p:nvSpPr><p:cNvPr id="16" name="CL0"/><p:cNvSpPr txBox="1"><a:spLocks noGrp="1"/></p:cNvSpPr><p:nvPr/></p:nvSpPr>
<p:spPr><a:xfrm><a:off x="411480" y="1408176"/><a:ext cx="2240280" cy="475488"/></a:xfrm><a:prstGeom prst="rect"><a:avLst/></a:prstGeom><a:noFill/></p:spPr>
<p:txBody><a:bodyPr wrap="square" anchor="t"><a:normAutofit/></a:bodyPr><a:lstStyle/><a:p><a:pPr algn="ctr"/>
<a:r><a:rPr lang="en-IN" sz="1480" b="1" dirty="0"><a:solidFill><a:srgbClr val="00C9B1"/></a:solidFill><a:latin typeface="Calibri"/><a:cs typeface="Nirmala UI"/></a:rPr><a:t>IndicBERTv2
Encoder</a:t></a:r></a:p></p:txBody></p:sp>
<p:sp><p:nvSpPr><p:cNvPr id="17" name="CI0"/><p:cNvSpPr txBox="1"><a:spLocks noGrp="1"/></p:cNvSpPr><p:nvPr/></p:nvSpPr>
<p:spPr><a:xfrm><a:off x="502920" y="1938528"/><a:ext cx="2075688" cy="1527048"/></a:xfrm><a:prstGeom prst="rect"><a:avLst/></a:prstGeom><a:noFill/></p:spPr>
<p:txBody><a:bodyPr wrap="square" anchor="t"><a:normAutofit/></a:bodyPr><a:lstStyle/><a:p><a:pPr indent="-228600" marL="228600"><a:spcBef><a:spcPts val="45"/></a:spcBef><a:lnSpc><a:spcPct val="106"/></a:lnSpc></a:pPr>
<a:r><a:rPr lang="en-IN" sz="1180" b="0" dirty="0"><a:solidFill><a:srgbClr val="00C9B1"/></a:solidFill><a:latin typeface="Calibri"/></a:rPr><a:t>▪  </a:t></a:r>
<a:r><a:rPr lang="en-IN" sz="1180" b="0" dirty="0"><a:solidFill><a:srgbClr val="D0E4F7"/></a:solidFill><a:latin typeface="Calibri"/><a:cs typeface="Nirmala UI"/></a:rPr><a:t>Pretrained on 24 Indic languages</a:t></a:r></a:p><a:p><a:pPr indent="-228600" marL="228600"><a:spcBef><a:spcPts val="45"/></a:spcBef><a:lnSpc><a:spcPct val="106"/></a:lnSpc></a:pPr>
<a:r><a:rPr lang="en-IN" sz="1180" b="0" dirty="0"><a:solidFill><a:srgbClr val="00C9B1"/></a:solidFill><a:latin typeface="Calibri"/></a:rPr><a:t>▪  </a:t></a:r>
<a:r><a:rPr lang="en-IN" sz="1180" b="0" dirty="0"><a:solidFill><a:srgbClr val="D0E4F7"/></a:solidFill><a:latin typeface="Calibri"/><a:cs typeface="Nirmala UI"/></a:rPr><a:t>20B+ token training corpus</a:t></a:r></a:p><a:p><a:pPr indent="-228600" marL="228600"><a:spcBef><a:spcPts val="45"/></a:spcBef><a:lnSpc><a:spcPct val="106"/></a:lnSpc></a:pPr>
<a:r><a:rPr lang="en-IN" sz="1180" b="0" dirty="0"><a:solidFill><a:srgbClr val="00C9B1"/></a:solidFill><a:latin typeface="Calibri"/></a:rPr><a:t>▪  </a:t></a:r>
<a:r><a:rPr lang="en-IN" sz="1180" b="0" dirty="0"><a:solidFill><a:srgbClr val="D0E4F7"/></a:solidFill><a:latin typeface="Calibri"/><a:cs typeface="Nirmala UI"/></a:rPr><a:t>12 layers, 768-D hidden size</a:t></a:r></a:p><a:p><a:pPr indent="-228600" marL="228600"><a:spcBef><a:spcPts val="45"/></a:spcBef><a:lnSpc><a:spcPct val="106"/></a:lnSpc></a:pPr>
<a:r><a:rPr lang="en-IN" sz="1180" b="0" dirty="0"><a:solidFill><a:srgbClr val="00C9B1"/></a:solidFill><a:latin typeface="Calibri"/></a:rPr><a:t>▪  </a:t></a:r>
<a:r><a:rPr lang="en-IN" sz="1180" b="0" dirty="0"><a:solidFill><a:srgbClr val="D0E4F7"/></a:solidFill><a:latin typeface="Calibri"/><a:cs typeface="Nirmala UI"/></a:rPr><a:t>Handles Devanagari natively</a:t></a:r></a:p><a:p><a:pPr indent="-228600" marL="228600"><a:spcBef><a:spcPts val="45"/></a:spcBef><a:lnSpc><a:spcPct val="106"/></a:lnSpc></a:pPr>
<a:r><a:rPr lang="en-IN" sz="1180" b="0" dirty="0"><a:solidFill><a:srgbClr val="00C9B1"/></a:solidFill><a:latin typeface="Calibri"/></a:rPr><a:t>▪  </a:t></a:r>
<a:r><a:rPr lang="en-IN" sz="1180" b="0" dirty="0"><a:solidFill><a:srgbClr val="D0E4F7"/></a:solidFill><a:latin typeface="Calibri"/><a:cs typeface="Nirmala UI"/></a:rPr><a:t>Frozen weights — used for inference</a:t></a:r></a:p></p:txBody></p:sp>
<p:sp><p:nvSpPr><p:cNvPr id="18" name="AR0"/><p:cNvSpPr txBox="1"><a:spLocks noGrp="1"/></p:cNvSpPr><p:nvPr/></p:nvSpPr>
<p:spPr><a:xfrm><a:off x="2706624" y="2253996"/><a:ext cx="274320" cy="329184"/></a:xfrm><a:prstGeom prst="rect"><a:avLst/></a:prstGeom><a:noFill/></p:spPr>
<p:txBody><a:bodyPr wrap="square" anchor="t"><a:normAutofit/></a:bodyPr><a:lstStyle/><a:p><a:pPr algn="ctr"/>
<a:r><a:rPr lang="en-IN" sz="1900" b="0" dirty="0"><a:solidFill><a:srgbClr val="8AAEC8"/></a:solidFill><a:latin typeface="Calibri"/><a:cs typeface="Nirmala UI"/></a:rPr><a:t>▶</a:t></a:r></a:p></p:txBody></p:sp>
<p:sp><p:nvSpPr><p:cNvPr id="19" name="CB1"/><p:cNvSpPr><a:spLocks noGrp="1"/></p:cNvSpPr><p:nvPr/></p:nvSpPr>
<p:spPr><a:xfrm><a:off x="3035808" y="1298448"/><a:ext cx="2240280" cy="2240280"/></a:xfrm><a:prstGeom prst="roundRect"><a:avLst><a:gd name="adj" fmla="val 12000"/></a:avLst></a:prstGeom><a:solidFill><a:srgbClr val="0D1B2E"/></a:solidFill><a:ln w="18000"><a:solidFill><a:srgbClr val="F5A623"/></a:solidFill></a:ln></p:spPr>
<p:txBody><a:bodyPr/><a:lstStyle/><a:p/></p:txBody></p:sp>
<p:sp><p:nvSpPr><p:cNvPr id="20" name="CT1"/><p:cNvSpPr><a:spLocks noGrp="1"/></p:cNvSpPr><p:nvPr/></p:nvSpPr>
<p:spPr><a:xfrm><a:off x="3035808" y="1298448"/><a:ext cx="2240280" cy="64008"/></a:xfrm><a:prstGeom prst="rect"><a:avLst/></a:prstGeom><a:solidFill><a:srgbClr val="F5A623"/></a:solidFill><a:ln><a:noFill/></a:ln></p:spPr>
<p:txBody><a:bodyPr/><a:lstStyle/><a:p/></p:txBody></p:sp>
<p:sp><p:nvSpPr><p:cNvPr id="21" name="CL1"/><p:cNvSpPr txBox="1"><a:spLocks noGrp="1"/></p:cNvSpPr><p:nvPr/></p:nvSpPr>
<p:spPr><a:xfrm><a:off x="3035808" y="1408176"/><a:ext cx="2240280" cy="475488"/></a:xfrm><a:prstGeom prst="rect"><a:avLst/></a:prstGeom><a:noFill/></p:spPr>
<p:txBody><a:bodyPr wrap="square" anchor="t"><a:normAutofit/></a:bodyPr><a:lstStyle/><a:p><a:pPr algn="ctr"/>
<a:r><a:rPr lang="en-IN" sz="1480" b="1" dirty="0"><a:solidFill><a:srgbClr val="F5A623"/></a:solidFill><a:latin typeface="Calibri"/><a:cs typeface="Nirmala UI"/></a:rPr><a:t>Linguistic
Feature Eng.</a:t></a:r></a:p></p:txBody></p:sp>
<p:sp><p:nvSpPr><p:cNvPr id="22" name="CI1"/><p:cNvSpPr txBox="1"><a:spLocks noGrp="1"/></p:cNvSpPr><p:nvPr/></p:nvSpPr>
<p:spPr><a:xfrm><a:off x="3127248" y="1938528"/><a:ext cx="2075688" cy="1527048"/></a:xfrm><a:prstGeom prst="rect"><a:avLst/></a:prstGeom><a:noFill/></p:spPr>
<p:txBody><a:bodyPr wrap="square" anchor="t"><a:normAutofit/></a:bodyPr><a:lstStyle/><a:p><a:pPr indent="-228600" marL="228600"><a:spcBef><a:spcPts val="45"/></a:spcBef><a:lnSpc><a:spcPct val="106"/></a:lnSpc></a:pPr>
<a:r><a:rPr lang="en-IN" sz="1180" b="0" dirty="0"><a:solidFill><a:srgbClr val="F5A623"/></a:solidFill><a:latin typeface="Calibri"/></a:rPr><a:t>▪  </a:t></a:r>
<a:r><a:rPr lang="en-IN" sz="1180" b="0" dirty="0"><a:solidFill><a:srgbClr val="D0E4F7"/></a:solidFill><a:latin typeface="Calibri"/><a:cs typeface="Nirmala UI"/></a:rPr><a:t>Pronoun flag (is_pronoun)</a:t></a:r></a:p><a:p><a:pPr indent="-228600" marL="228600"><a:spcBef><a:spcPts val="45"/></a:spcBef><a:lnSpc><a:spcPct val="106"/></a:lnSpc></a:pPr>
<a:r><a:rPr lang="en-IN" sz="1180" b="0" dirty="0"><a:solidFill><a:srgbClr val="F5A623"/></a:solidFill><a:latin typeface="Calibri"/></a:rPr><a:t>▪  </a:t></a:r>
<a:r><a:rPr lang="en-IN" sz="1180" b="0" dirty="0"><a:solidFill><a:srgbClr val="D0E4F7"/></a:solidFill><a:latin typeface="Calibri"/><a:cs typeface="Nirmala UI"/></a:rPr><a:t>Plurality flag (is_plural)</a:t></a:r></a:p><a:p><a:pPr indent="-228600" marL="228600"><a:spcBef><a:spcPts val="45"/></a:spcBef><a:lnSpc><a:spcPct val="106"/></a:lnSpc></a:pPr>
<a:r><a:rPr lang="en-IN" sz="1180" b="0" dirty="0"><a:solidFill><a:srgbClr val="F5A623"/></a:solidFill><a:latin typeface="Calibri"/></a:rPr><a:t>▪  </a:t></a:r>
<a:r><a:rPr lang="en-IN" sz="1180" b="0" dirty="0"><a:solidFill><a:srgbClr val="D0E4F7"/></a:solidFill><a:latin typeface="Calibri"/><a:cs typeface="Nirmala UI"/></a:rPr><a:t>Sentence distance (int)</a:t></a:r></a:p><a:p><a:pPr indent="-228600" marL="228600"><a:spcBef><a:spcPts val="45"/></a:spcBef><a:lnSpc><a:spcPct val="106"/></a:lnSpc></a:pPr>
<a:r><a:rPr lang="en-IN" sz="1180" b="0" dirty="0"><a:solidFill><a:srgbClr val="F5A623"/></a:solidFill><a:latin typeface="Calibri"/></a:rPr><a:t>▪  </a:t></a:r>
<a:r><a:rPr lang="en-IN" sz="1180" b="0" dirty="0"><a:solidFill><a:srgbClr val="D0E4F7"/></a:solidFill><a:latin typeface="Calibri"/><a:cs typeface="Nirmala UI"/></a:rPr><a:t>Same-clause heuristic (bool)</a:t></a:r></a:p><a:p><a:pPr indent="-228600" marL="228600"><a:spcBef><a:spcPts val="45"/></a:spcBef><a:lnSpc><a:spcPct val="106"/></a:lnSpc></a:pPr>
<a:r><a:rPr lang="en-IN" sz="1180" b="0" dirty="0"><a:solidFill><a:srgbClr val="F5A623"/></a:solidFill><a:latin typeface="Calibri"/></a:rPr><a:t>▪  </a:t></a:r>
<a:r><a:rPr lang="en-IN" sz="1180" b="0" dirty="0"><a:solidFill><a:srgbClr val="D0E4F7"/></a:solidFill><a:latin typeface="Calibri"/><a:cs typeface="Nirmala UI"/></a:rPr><a:t>Mention type match (bool)</a:t></a:r></a:p></p:txBody></p:sp>
<p:sp><p:nvSpPr><p:cNvPr id="23" name="AR1"/><p:cNvSpPr txBox="1"><a:spLocks noGrp="1"/></p:cNvSpPr><p:nvPr/></p:nvSpPr>
<p:spPr><a:xfrm><a:off x="5330952" y="2253996"/><a:ext cx="274320" cy="329184"/></a:xfrm><a:prstGeom prst="rect"><a:avLst/></a:prstGeom><a:noFill/></p:spPr>
<p:txBody><a:bodyPr wrap="square" anchor="t"><a:normAutofit/></a:bodyPr><a:lstStyle/><a:p><a:pPr algn="ctr"/>
<a:r><a:rPr lang="en-IN" sz="1900" b="0" dirty="0"><a:solidFill><a:srgbClr val="8AAEC8"/></a:solidFill><a:latin typeface="Calibri"/><a:cs typeface="Nirmala UI"/></a:rPr><a:t>▶</a:t></a:r></a:p></p:txBody></p:sp>
<p:sp><p:nvSpPr><p:cNvPr id="24" name="CB2"/><p:cNvSpPr><a:spLocks noGrp="1"/></p:cNvSpPr><p:nvPr/></p:nvSpPr>
<p:spPr><a:xfrm><a:off x="5660136" y="1298448"/><a:ext cx="2240280" cy="2240280"/></a:xfrm><a:prstGeom prst="roundRect"><a:avLst><a:gd name="adj" fmla="val 12000"/></a:avLst></a:prstGeom><a:solidFill><a:srgbClr val="0D1B2E"/></a:solidFill><a:ln w="18000"><a:solidFill><a:srgbClr val="A06BBE"/></a:solidFill></a:ln></p:spPr>
<p:txBody><a:bodyPr/><a:lstStyle/><a:p/></p:txBody></p:sp>
<p:sp><p:nvSpPr><p:cNvPr id="25" name="CT2"/><p:cNvSpPr><a:spLocks noGrp="1"/></p:cNvSpPr><p:nvPr/></p:nvSpPr>
<p:spPr><a:xfrm><a:off x="5660136" y="1298448"/><a:ext cx="2240280" cy="64008"/></a:xfrm><a:prstGeom prst="rect"><a:avLst/></a:prstGeom><a:solidFill><a:srgbClr val="A06BBE"/></a:solidFill><a:ln><a:noFill/></a:ln></p:spPr>
<p:txBody><a:bodyPr/><a:lstStyle/><a:p/></p:txBody></p:sp>
<p:sp><p:nvSpPr><p:cNvPr id="26" name="CL2"/><p:cNvSpPr txBox="1"><a:spLocks noGrp="1"/></p:cNvSpPr><p:nvPr/></p:nvSpPr>
<p:spPr><a:xfrm><a:off x="5660136" y="1408176"/><a:ext cx="2240280" cy="475488"/></a:xfrm><a:prstGeom prst="rect"><a:avLst/></a:prstGeom><a:noFill/></p:spPr>
<p:txBody><a:bodyPr wrap="square" anchor="t"><a:normAutofit/></a:bodyPr><a:lstStyle/><a:p><a:pPr algn="ctr"/>
<a:r><a:rPr lang="en-IN" sz="1480" b="1" dirty="0"><a:solidFill><a:srgbClr val="A06BBE"/></a:solidFill><a:latin typeface="Calibri"/><a:cs typeface="Nirmala UI"/></a:rPr><a:t>Pairwise
Classifier</a:t></a:r></a:p></p:txBody></p:sp>
<p:sp><p:nvSpPr><p:cNvPr id="27" name="CI2"/><p:cNvSpPr txBox="1"><a:spLocks noGrp="1"/></p:cNvSpPr><p:nvPr/></p:nvSpPr>
<p:spPr><a:xfrm><a:off x="5751576" y="1938528"/><a:ext cx="2075688" cy="1527048"/></a:xfrm><a:prstGeom prst="rect"><a:avLst/></a:prstGeom><a:noFill/></p:spPr>
<p:txBody><a:bodyPr wrap="square" anchor="t"><a:normAutofit/></a:bodyPr><a:lstStyle/><a:p><a:pPr indent="-228600" marL="228600"><a:spcBef><a:spcPts val="45"/></a:spcBef><a:lnSpc><a:spcPct val="106"/></a:lnSpc></a:pPr>
<a:r><a:rPr lang="en-IN" sz="1180" b="0" dirty="0"><a:solidFill><a:srgbClr val="A06BBE"/></a:solidFill><a:latin typeface="Calibri"/></a:rPr><a:t>▪  </a:t></a:r>
<a:r><a:rPr lang="en-IN" sz="1180" b="0" dirty="0"><a:solidFill><a:srgbClr val="D0E4F7"/></a:solidFill><a:latin typeface="Calibri"/><a:cs typeface="Nirmala UI"/></a:rPr><a:t>Logistic Regression (L2 reg)</a:t></a:r></a:p><a:p><a:pPr indent="-228600" marL="228600"><a:spcBef><a:spcPts val="45"/></a:spcBef><a:lnSpc><a:spcPct val="106"/></a:lnSpc></a:pPr>
<a:r><a:rPr lang="en-IN" sz="1180" b="0" dirty="0"><a:solidFill><a:srgbClr val="A06BBE"/></a:solidFill><a:latin typeface="Calibri"/></a:rPr><a:t>▪  </a:t></a:r>
<a:r><a:rPr lang="en-IN" sz="1180" b="0" dirty="0"><a:solidFill><a:srgbClr val="D0E4F7"/></a:solidFill><a:latin typeface="Calibri"/><a:cs typeface="Nirmala UI"/></a:rPr><a:t>Input: concat(emb_i, emb_j, feat)</a:t></a:r></a:p><a:p><a:pPr indent="-228600" marL="228600"><a:spcBef><a:spcPts val="45"/></a:spcBef><a:lnSpc><a:spcPct val="106"/></a:lnSpc></a:pPr>
<a:r><a:rPr lang="en-IN" sz="1180" b="0" dirty="0"><a:solidFill><a:srgbClr val="A06BBE"/></a:solidFill><a:latin typeface="Calibri"/></a:rPr><a:t>▪  </a:t></a:r>
<a:r><a:rPr lang="en-IN" sz="1180" b="0" dirty="0"><a:solidFill><a:srgbClr val="D0E4F7"/></a:solidFill><a:latin typeface="Calibri"/><a:cs typeface="Nirmala UI"/></a:rPr><a:t>Binary: COREF / NOT-COREF</a:t></a:r></a:p><a:p><a:pPr indent="-228600" marL="228600"><a:spcBef><a:spcPts val="45"/></a:spcBef><a:lnSpc><a:spcPct val="106"/></a:lnSpc></a:pPr>
<a:r><a:rPr lang="en-IN" sz="1180" b="0" dirty="0"><a:solidFill><a:srgbClr val="A06BBE"/></a:solidFill><a:latin typeface="Calibri"/></a:rPr><a:t>▪  </a:t></a:r>
<a:r><a:rPr lang="en-IN" sz="1180" b="0" dirty="0"><a:solidFill><a:srgbClr val="D0E4F7"/></a:solidFill><a:latin typeface="Calibri"/><a:cs typeface="Nirmala UI"/></a:rPr><a:t>Calibrated probability output</a:t></a:r></a:p><a:p><a:pPr indent="-228600" marL="228600"><a:spcBef><a:spcPts val="45"/></a:spcBef><a:lnSpc><a:spcPct val="106"/></a:lnSpc></a:pPr>
<a:r><a:rPr lang="en-IN" sz="1180" b="0" dirty="0"><a:solidFill><a:srgbClr val="A06BBE"/></a:solidFill><a:latin typeface="Calibri"/></a:rPr><a:t>▪  </a:t></a:r>
<a:r><a:rPr lang="en-IN" sz="1180" b="0" dirty="0"><a:solidFill><a:srgbClr val="D0E4F7"/></a:solidFill><a:latin typeface="Calibri"/><a:cs typeface="Nirmala UI"/></a:rPr><a:t>Trained on 2,270 mention pairs</a:t></a:r></a:p></p:txBody></p:sp>
<p:sp><p:nvSpPr><p:cNvPr id="28" name="AR2"/><p:cNvSpPr txBox="1"><a:spLocks noGrp="1"/></p:cNvSpPr><p:nvPr/></p:nvSpPr>
<p:spPr><a:xfrm><a:off x="7955280" y="2253996"/><a:ext cx="274320" cy="329184"/></a:xfrm><a:prstGeom prst="rect"><a:avLst/></a:prstGeom><a:noFill/></p:spPr>
<p:txBody><a:bodyPr wrap="square" anchor="t"><a:normAutofit/></a:bodyPr><a:lstStyle/><a:p><a:pPr algn="ctr"/>
<a:r><a:rPr lang="en-IN" sz="1900" b="0" dirty="0"><a:solidFill><a:srgbClr val="8AAEC8"/></a:solidFill><a:latin typeface="Calibri"/><a:cs typeface="Nirmala UI"/></a:rPr><a:t>▶</a:t></a:r></a:p></p:txBody></p:sp>
<p:sp><p:nvSpPr><p:cNvPr id="29" name="CB3"/><p:cNvSpPr><a:spLocks noGrp="1"/></p:cNvSpPr><p:nvPr/></p:nvSpPr>
<p:spPr><a:xfrm><a:off x="8284464" y="1298448"/><a:ext cx="2240280" cy="2240280"/></a:xfrm><a:prstGeom prst="roundRect"><a:avLst><a:gd name="adj" fmla="val 12000"/></a:avLst></a:prstGeom><a:solidFill><a:srgbClr val="0D1B2E"/></a:solidFill><a:ln w="18000"><a:solidFill><a:srgbClr val="5C9BD6"/></a:solidFill></a:ln></p:spPr>
<p:txBody><a:bodyPr/><a:lstStyle/><a:p/></p:txBody></p:sp>
<p:sp><p:nvSpPr><p:cNvPr id="30" name="CT3"/><p:cNvSpPr><a:spLocks noGrp="1"/></p:cNvSpPr><p:nvPr/></p:nvSpPr>
<p:spPr><a:xfrm><a:off x="8284464" y="1298448"/><a:ext cx="2240280" cy="64008"/></a:xfrm><a:prstGeom prst="rect"><a:avLst/></a:prstGeom><a:solidFill><a:srgbClr val="5C9BD6"/></a:solidFill><a:ln><a:noFill/></a:ln></p:spPr>
<p:txBody><a:bodyPr/><a:lstStyle/><a:p/></p:txBody></p:sp>
<p:sp><p:nvSpPr><p:cNvPr id="31" name="CL3"/><p:cNvSpPr txBox="1"><a:spLocks noGrp="1"/></p:cNvSpPr><p:nvPr/></p:nvSpPr>
<p:spPr><a:xfrm><a:off x="8284464" y="1408176"/><a:ext cx="2240280" cy="475488"/></a:xfrm><a:prstGeom prst="rect"><a:avLst/></a:prstGeom><a:noFill/></p:spPr>
<p:txBody><a:bodyPr wrap="square" anchor="t"><a:normAutofit/></a:bodyPr><a:lstStyle/><a:p><a:pPr algn="ctr"/>
<a:r><a:rPr lang="en-IN" sz="1480" b="1" dirty="0"><a:solidFill><a:srgbClr val="5C9BD6"/></a:solidFill><a:latin typeface="Calibri"/><a:cs typeface="Nirmala UI"/></a:rPr><a:t>Union-Find
Clustering</a:t></a:r></a:p></p:txBody></p:sp>
<p:sp><p:nvSpPr><p:cNvPr id="32" name="CI3"/><p:cNvSpPr txBox="1"><a:spLocks noGrp="1"/></p:cNvSpPr><p:nvPr/></p:nvSpPr>
<p:spPr><a:xfrm><a:off x="8375904" y="1938528"/><a:ext cx="2075688" cy="1527048"/></a:xfrm><a:prstGeom prst="rect"><a:avLst/></a:prstGeom><a:noFill/></p:spPr>
<p:txBody><a:bodyPr wrap="square" anchor="t"><a:normAutofit/></a:bodyPr><a:lstStyle/><a:p><a:pPr indent="-228600" marL="228600"><a:spcBef><a:spcPts val="45"/></a:spcBef><a:lnSpc><a:spcPct val="106"/></a:lnSpc></a:pPr>
<a:r><a:rPr lang="en-IN" sz="1180" b="0" dirty="0"><a:solidFill><a:srgbClr val="5C9BD6"/></a:solidFill><a:latin typeface="Calibri"/></a:rPr><a:t>▪  </a:t></a:r>
<a:r><a:rPr lang="en-IN" sz="1180" b="0" dirty="0"><a:solidFill><a:srgbClr val="D0E4F7"/></a:solidFill><a:latin typeface="Calibri"/><a:cs typeface="Nirmala UI"/></a:rPr><a:t>Processes all pairwise decisions</a:t></a:r></a:p><a:p><a:pPr indent="-228600" marL="228600"><a:spcBef><a:spcPts val="45"/></a:spcBef><a:lnSpc><a:spcPct val="106"/></a:lnSpc></a:pPr>
<a:r><a:rPr lang="en-IN" sz="1180" b="0" dirty="0"><a:solidFill><a:srgbClr val="5C9BD6"/></a:solidFill><a:latin typeface="Calibri"/></a:rPr><a:t>▪  </a:t></a:r>
<a:r><a:rPr lang="en-IN" sz="1180" b="0" dirty="0"><a:solidFill><a:srgbClr val="D0E4F7"/></a:solidFill><a:latin typeface="Calibri"/><a:cs typeface="Nirmala UI"/></a:rPr><a:t>Merges pairs with prob > 0.5</a:t></a:r></a:p><a:p><a:pPr indent="-228600" marL="228600"><a:spcBef><a:spcPts val="45"/></a:spcBef><a:lnSpc><a:spcPct val="106"/></a:lnSpc></a:pPr>
<a:r><a:rPr lang="en-IN" sz="1180" b="0" dirty="0"><a:solidFill><a:srgbClr val="5C9BD6"/></a:solidFill><a:latin typeface="Calibri"/></a:rPr><a:t>▪  </a:t></a:r>
<a:r><a:rPr lang="en-IN" sz="1180" b="0" dirty="0"><a:solidFill><a:srgbClr val="D0E4F7"/></a:solidFill><a:latin typeface="Calibri"/><a:cs typeface="Nirmala UI"/></a:rPr><a:t>Path compression: O(α) lookup</a:t></a:r></a:p><a:p><a:pPr indent="-228600" marL="228600"><a:spcBef><a:spcPts val="45"/></a:spcBef><a:lnSpc><a:spcPct val="106"/></a:lnSpc></a:pPr>
<a:r><a:rPr lang="en-IN" sz="1180" b="0" dirty="0"><a:solidFill><a:srgbClr val="5C9BD6"/></a:solidFill><a:latin typeface="Calibri"/></a:rPr><a:t>▪  </a:t></a:r>
<a:r><a:rPr lang="en-IN" sz="1180" b="0" dirty="0"><a:solidFill><a:srgbClr val="D0E4F7"/></a:solidFill><a:latin typeface="Calibri"/><a:cs typeface="Nirmala UI"/></a:rPr><a:t>Globally consistent clusters</a:t></a:r></a:p><a:p><a:pPr indent="-228600" marL="228600"><a:spcBef><a:spcPts val="45"/></a:spcBef><a:lnSpc><a:spcPct val="106"/></a:lnSpc></a:pPr>
<a:r><a:rPr lang="en-IN" sz="1180" b="0" dirty="0"><a:solidFill><a:srgbClr val="5C9BD6"/></a:solidFill><a:latin typeface="Calibri"/></a:rPr><a:t>▪  </a:t></a:r>
<a:r><a:rPr lang="en-IN" sz="1180" b="0" dirty="0"><a:solidFill><a:srgbClr val="D0E4F7"/></a:solidFill><a:latin typeface="Calibri"/><a:cs typeface="Nirmala UI"/></a:rPr><a:t>No ordering dependency</a:t></a:r></a:p></p:txBody></p:sp>
<p:sp><p:nvSpPr><p:cNvPr id="33" name="Div"/><p:cNvSpPr><a:spLocks noGrp="1"/></p:cNvSpPr><p:nvPr/></p:nvSpPr>
<p:spPr><a:xfrm><a:off x="274320" y="3730752"/><a:ext cx="11643360" cy="45720"/></a:xfrm><a:prstGeom prst="rect"><a:avLst/></a:prstGeom><a:solidFill><a:srgbClr val="F5A623"/></a:solidFill><a:ln><a:noFill/></a:ln></p:spPr>
<p:txBody><a:bodyPr/><a:lstStyle/><a:p/></p:txBody></p:sp>
<p:sp><p:nvSpPr><p:cNvPr id="34" name="AdvH"/><p:cNvSpPr txBox="1"><a:spLocks noGrp="1"/></p:cNvSpPr><p:nvPr/></p:nvSpPr>
<p:spPr><a:xfrm><a:off x="274320" y="3822191"/><a:ext cx="11643360" cy="365760"/></a:xfrm><a:prstGeom prst="rect"><a:avLst/></a:prstGeom><a:noFill/></p:spPr>
<p:txBody><a:bodyPr wrap="square" anchor="t"><a:normAutofit/></a:bodyPr><a:lstStyle/><a:p><a:pPr algn="ctr"/>
<a:r><a:rPr lang="en-IN" sz="1480" b="1" dirty="0"><a:solidFill><a:srgbClr val="F5A623"/></a:solidFill><a:latin typeface="Calibri"/><a:cs typeface="Nirmala UI"/></a:rPr><a:t>WHY HYBRID?  Key Design Decisions & Advantages</a:t></a:r></a:p></p:txBody></p:sp>
<p:sp><p:nvSpPr><p:cNvPr id="35" name="AdvB"/><p:cNvSpPr txBox="1"><a:spLocks noGrp="1"/></p:cNvSpPr><p:nvPr/></p:nvSpPr>
<p:spPr><a:xfrm><a:off x="274320" y="4251960"/><a:ext cx="11643360" cy="2011680"/></a:xfrm><a:prstGeom prst="rect"><a:avLst/></a:prstGeom><a:noFill/></p:spPr>
<p:txBody><a:bodyPr wrap="square" anchor="t"><a:normAutofit/></a:bodyPr><a:lstStyle/><a:p><a:pPr indent="-228600" marL="228600"><a:spcBef><a:spcPts val="52"/></a:spcBef><a:lnSpc><a:spcPct val="108"/></a:lnSpc></a:pPr>
<a:r><a:rPr lang="en-IN" sz="1260" b="0" dirty="0"><a:solidFill><a:srgbClr val="F5A623"/></a:solidFill><a:latin typeface="Calibri"/></a:rPr><a:t>▪  </a:t></a:r>
<a:r><a:rPr lang="en-IN" sz="1260" b="0" dirty="0"><a:solidFill><a:srgbClr val="D0E4F7"/></a:solidFill><a:latin typeface="Calibri"/><a:cs typeface="Nirmala UI"/></a:rPr><a:t>No scratch training needed — IndicBERTv2 already encodes rich Hindi semantics from 20B token pretraining</a:t></a:r></a:p><a:p><a:pPr indent="-228600" marL="228600"><a:spcBef><a:spcPts val="52"/></a:spcBef><a:lnSpc><a:spcPct val="108"/></a:lnSpc></a:pPr>
<a:r><a:rPr lang="en-IN" sz="1160" b="0" dirty="0"><a:solidFill><a:srgbClr val="8AAEC8"/></a:solidFill><a:latin typeface="Calibri"/></a:rPr><a:t>  ◦  </a:t></a:r>
<a:r><a:rPr lang="en-IN" sz="1160" b="0" dirty="0"><a:solidFill><a:srgbClr val="D0E4F7"/></a:solidFill><a:latin typeface="Calibri"/><a:cs typeface="Nirmala UI"/></a:rPr><a:t>Fine-tuning not required — frozen embeddings already outperform our Phase 1 scratch-trained model by a wide margin</a:t></a:r></a:p><a:p><a:pPr indent="-228600" marL="228600"><a:spcBef><a:spcPts val="52"/></a:spcBef><a:lnSpc><a:spcPct val="108"/></a:lnSpc></a:pPr>
<a:r><a:rPr lang="en-IN" sz="1260" b="0" dirty="0"><a:solidFill><a:srgbClr val="F5A623"/></a:solidFill><a:latin typeface="Calibri"/></a:rPr><a:t>▪  </a:t></a:r>
<a:r><a:rPr lang="en-IN" sz="1260" b="0" dirty="0"><a:solidFill><a:srgbClr val="D0E4F7"/></a:solidFill><a:latin typeface="Calibri"/><a:cs typeface="Nirmala UI"/></a:rPr><a:t>Linguistic features add orthogonal signal that embeddings miss — especially morphological agreement & discourse distance</a:t></a:r></a:p><a:p><a:pPr indent="-228600" marL="228600"><a:spcBef><a:spcPts val="52"/></a:spcBef><a:lnSpc><a:spcPct val="108"/></a:lnSpc></a:pPr>
<a:r><a:rPr lang="en-IN" sz="1160" b="0" dirty="0"><a:solidFill><a:srgbClr val="8AAEC8"/></a:solidFill><a:latin typeface="Calibri"/></a:rPr><a:t>  ◦  </a:t></a:r>
<a:r><a:rPr lang="en-IN" sz="1160" b="0" dirty="0"><a:solidFill><a:srgbClr val="D0E4F7"/></a:solidFill><a:latin typeface="Calibri"/><a:cs typeface="Nirmala UI"/></a:rPr><a:t>e.g. 'वह गया' (male) cannot corefer with 'वह गई' (female) — gender agreement feature catches this explicitly</a:t></a:r></a:p><a:p><a:pPr indent="-228600" marL="228600"><a:spcBef><a:spcPts val="52"/></a:spcBef><a:lnSpc><a:spcPct val="108"/></a:lnSpc></a:pPr>
<a:r><a:rPr lang="en-IN" sz="1260" b="0" dirty="0"><a:solidFill><a:srgbClr val="F5A623"/></a:solidFill><a:latin typeface="Calibri"/></a:rPr><a:t>▪  </a:t></a:r>
<a:r><a:rPr lang="en-IN" sz="1260" b="0" dirty="0"><a:solidFill><a:srgbClr val="D0E4F7"/></a:solidFill><a:latin typeface="Calibri"/><a:cs typeface="Nirmala UI"/></a:rPr><a:t>Logistic Regression is interpretable — feature weights are inspectable, model is trainable on small 1K+ sample datasets</a:t></a:r></a:p><a:p><a:pPr indent="-228600" marL="228600"><a:spcBef><a:spcPts val="52"/></a:spcBef><a:lnSpc><a:spcPct val="108"/></a:lnSpc></a:pPr>
<a:r><a:rPr lang="en-IN" sz="1260" b="0" dirty="0"><a:solidFill><a:srgbClr val="F5A623"/></a:solidFill><a:latin typeface="Calibri"/></a:rPr><a:t>▪  </a:t></a:r>
<a:r><a:rPr lang="en-IN" sz="1260" b="0" dirty="0"><a:solidFill><a:srgbClr val="D0E4F7"/></a:solidFill><a:latin typeface="Calibri"/><a:cs typeface="Nirmala UI"/></a:rPr><a:t>Union-Find provides globally consistent clustering — prevents conflicting pairwise decisions from creating contradictions</a:t></a:r></a:p></p:txBody></p:sp>
<p:sp><p:nvSpPr><p:cNvPr id="36" name="FB"/><p:cNvSpPr><a:spLocks noGrp="1"/></p:cNvSpPr><p:nvPr/></p:nvSpPr>
<p:spPr><a:xfrm><a:off x="0" y="6473952"/><a:ext cx="12192000" cy="384048"/></a:xfrm><a:prstGeom prst="rect"><a:avLst/></a:prstGeom><a:solidFill><a:srgbClr val="112238"/></a:solidFill><a:ln><a:noFill/></a:ln></p:spPr>
<p:txBody><a:bodyPr/><a:lstStyle/><a:p/></p:txBody></p:sp>
<p:sp><p:nvSpPr><p:cNvPr id="37" name="FL"/><p:cNvSpPr><a:spLocks noGrp="1"/></p:cNvSpPr><p:nvPr/></p:nvSpPr>
<p:spPr><a:xfrm><a:off x="0" y="6473952"/><a:ext cx="12192000" cy="36576"/></a:xfrm><a:prstGeom prst="rect"><a:avLst/></a:prstGeom><a:solidFill><a:srgbClr val="00C9B1"/></a:solidFill><a:ln><a:noFill/></a:ln></p:spPr>
<p:txBody><a:bodyPr/><a:lstStyle/><a:p/></p:txBody></p:sp>
<p:sp><p:nvSpPr><p:cNvPr id="38" name="FL2"/><p:cNvSpPr txBox="1"><a:spLocks noGrp="1"/></p:cNvSpPr><p:nvPr/></p:nvSpPr>
<p:spPr><a:xfrm><a:off x="274320" y="6510528"/><a:ext cx="5486400" cy="310896"/></a:xfrm><a:prstGeom prst="rect"><a:avLst/></a:prstGeom><a:noFill/></p:spPr>
<p:txBody><a:bodyPr wrap="square" anchor="t"><a:normAutofit/></a:bodyPr><a:lstStyle/><a:p><a:pPr algn="l"/>
<a:r><a:rPr lang="en-IN" sz="950" b="0" dirty="0"><a:solidFill><a:srgbClr val="8AAEC8"/></a:solidFill><a:latin typeface="Calibri"/><a:cs typeface="Nirmala UI"/></a:rPr><a:t>Hindi Coreference Resolution  |  CIT Kokrajhar</a:t></a:r></a:p></p:txBody></p:sp>
<p:sp><p:nvSpPr><p:cNvPr id="39" name="FR"/><p:cNvSpPr txBox="1"><a:spLocks noGrp="1"/></p:cNvSpPr><p:nvPr/></p:nvSpPr>
<p:spPr><a:xfrm><a:off x="7772400" y="6510528"/><a:ext cx="3200400" cy="310896"/></a:xfrm><a:prstGeom prst="rect"><a:avLst/></a:prstGeom><a:noFill/></p:spPr>
<p:txBody><a:bodyPr wrap="square" anchor="t"><a:normAutofit/></a:bodyPr><a:lstStyle/><a:p><a:pPr algn="r"/>
<a:r><a:rPr lang="en-IN" sz="950" b="0" dirty="0"><a:solidFill><a:srgbClr val="8AAEC8"/></a:solidFill><a:latin typeface="Calibri"/><a:cs typeface="Nirmala UI"/></a:rPr><a:t>B.Tech Project  |  2026</a:t></a:r></a:p></p:txBody></p:sp>
  </p:spTree></p:cSld>
  <p:clrMapOvr><a:masterClrMapping/>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10" name="TopBar"/>
          <p:cNvSpPr>
            <a:spLocks noGrp="1"/>
          </p:cNvSpPr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12238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AccLine"/>
          <p:cNvSpPr>
            <a:spLocks noGrp="1"/>
          </p:cNvSpPr>
          <p:nvPr/>
        </p:nvSpPr>
        <p:spPr>
          <a:xfrm>
            <a:off x="0" y="1097280"/>
            <a:ext cx="12192000" cy="54864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itle"/>
          <p:cNvSpPr txBox="1">
            <a:spLocks noGrp="1"/>
          </p:cNvSpPr>
          <p:nvPr/>
        </p:nvSpPr>
        <p:spPr>
          <a:xfrm>
            <a:off x="365760" y="91440"/>
            <a:ext cx="10424160" cy="7772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n-IN" sz="2800" b="1" dirty="0">
                <a:solidFill>
                  <a:srgbClr val="FFFFFF"/>
                </a:solidFill>
                <a:latin typeface="Calibri"/>
                <a:cs typeface="Nirmala UI"/>
              </a:rPr>
              <a:t>System Pipeline</a:t>
            </a:r>
          </a:p>
        </p:txBody>
      </p:sp>
      <p:sp>
        <p:nvSpPr>
          <p:cNvPr id="13" name="Sub"/>
          <p:cNvSpPr txBox="1">
            <a:spLocks noGrp="1"/>
          </p:cNvSpPr>
          <p:nvPr/>
        </p:nvSpPr>
        <p:spPr>
          <a:xfrm>
            <a:off x="365760" y="749808"/>
            <a:ext cx="9144000" cy="38404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n-IN" sz="1300" b="0" dirty="0">
                <a:solidFill>
                  <a:srgbClr val="00C9B1"/>
                </a:solidFill>
                <a:latin typeface="Calibri"/>
                <a:cs typeface="Nirmala UI"/>
              </a:rPr>
              <a:t>Complete end-to-end data flow for Phase 2 Hindi coreference resolution</a:t>
            </a:r>
          </a:p>
        </p:txBody>
      </p:sp>
      <p:sp>
        <p:nvSpPr>
          <p:cNvPr id="14" name="SB0"/>
          <p:cNvSpPr>
            <a:spLocks noGrp="1"/>
          </p:cNvSpPr>
          <p:nvPr/>
        </p:nvSpPr>
        <p:spPr>
          <a:xfrm>
            <a:off x="1371600" y="1298448"/>
            <a:ext cx="2743200" cy="868680"/>
          </a:xfrm>
          <a:prstGeom prst="roundRect">
            <a:avLst>
              <a:gd name="adj" fmla="val 12000"/>
            </a:avLst>
          </a:prstGeom>
          <a:solidFill>
            <a:srgbClr val="00C9B1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SL0"/>
          <p:cNvSpPr txBox="1">
            <a:spLocks noGrp="1"/>
          </p:cNvSpPr>
          <p:nvPr/>
        </p:nvSpPr>
        <p:spPr>
          <a:xfrm>
            <a:off x="1481328" y="1353312"/>
            <a:ext cx="914400" cy="329184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n-IN" sz="1100" b="1" dirty="0">
                <a:solidFill>
                  <a:srgbClr val="1A2E4A"/>
                </a:solidFill>
                <a:latin typeface="Calibri"/>
                <a:cs typeface="Nirmala UI"/>
              </a:rPr>
              <a:t>INPUT</a:t>
            </a:r>
          </a:p>
        </p:txBody>
      </p:sp>
      <p:sp>
        <p:nvSpPr>
          <p:cNvPr id="16" name="SD0"/>
          <p:cNvSpPr txBox="1">
            <a:spLocks noGrp="1"/>
          </p:cNvSpPr>
          <p:nvPr/>
        </p:nvSpPr>
        <p:spPr>
          <a:xfrm>
            <a:off x="1481328" y="1682496"/>
            <a:ext cx="2560320" cy="43891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n-IN" sz="1120" b="0" dirty="0">
                <a:solidFill>
                  <a:srgbClr val="1A2E4A"/>
                </a:solidFill>
                <a:latin typeface="Calibri"/>
                <a:cs typeface="Nirmala UI"/>
              </a:rPr>
              <a:t>Hindi raw text + manually identified mention spans (start, end token indices)</a:t>
            </a:r>
          </a:p>
        </p:txBody>
      </p:sp>
      <p:sp>
        <p:nvSpPr>
          <p:cNvPr id="17" name="SA0"/>
          <p:cNvSpPr txBox="1">
            <a:spLocks noGrp="1"/>
          </p:cNvSpPr>
          <p:nvPr/>
        </p:nvSpPr>
        <p:spPr>
          <a:xfrm>
            <a:off x="2606040" y="2185416"/>
            <a:ext cx="274320" cy="310896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300" b="0" dirty="0">
                <a:solidFill>
                  <a:srgbClr val="00C9B1"/>
                </a:solidFill>
                <a:latin typeface="Calibri"/>
                <a:cs typeface="Nirmala UI"/>
              </a:rPr>
              <a:t>▼</a:t>
            </a:r>
          </a:p>
        </p:txBody>
      </p:sp>
      <p:sp>
        <p:nvSpPr>
          <p:cNvPr id="18" name="SB1"/>
          <p:cNvSpPr>
            <a:spLocks noGrp="1"/>
          </p:cNvSpPr>
          <p:nvPr/>
        </p:nvSpPr>
        <p:spPr>
          <a:xfrm>
            <a:off x="1371600" y="2514600"/>
            <a:ext cx="2743200" cy="868680"/>
          </a:xfrm>
          <a:prstGeom prst="roundRect">
            <a:avLst>
              <a:gd name="adj" fmla="val 12000"/>
            </a:avLst>
          </a:prstGeom>
          <a:solidFill>
            <a:srgbClr val="5C9BD6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SL1"/>
          <p:cNvSpPr txBox="1">
            <a:spLocks noGrp="1"/>
          </p:cNvSpPr>
          <p:nvPr/>
        </p:nvSpPr>
        <p:spPr>
          <a:xfrm>
            <a:off x="1481328" y="2569464"/>
            <a:ext cx="914400" cy="329184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n-IN" sz="1100" b="1" dirty="0">
                <a:solidFill>
                  <a:srgbClr val="1A2E4A"/>
                </a:solidFill>
                <a:latin typeface="Calibri"/>
                <a:cs typeface="Nirmala UI"/>
              </a:rPr>
              <a:t>ENCODE</a:t>
            </a:r>
          </a:p>
        </p:txBody>
      </p:sp>
      <p:sp>
        <p:nvSpPr>
          <p:cNvPr id="20" name="SD1"/>
          <p:cNvSpPr txBox="1">
            <a:spLocks noGrp="1"/>
          </p:cNvSpPr>
          <p:nvPr/>
        </p:nvSpPr>
        <p:spPr>
          <a:xfrm>
            <a:off x="1481328" y="2898648"/>
            <a:ext cx="2560320" cy="43891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n-IN" sz="1120" b="0" dirty="0">
                <a:solidFill>
                  <a:srgbClr val="1A2E4A"/>
                </a:solidFill>
                <a:latin typeface="Calibri"/>
                <a:cs typeface="Nirmala UI"/>
              </a:rPr>
              <a:t>IndicBERTv2 forward pass → 768-D contextual embedding per mention span (mean-pool)</a:t>
            </a:r>
          </a:p>
        </p:txBody>
      </p:sp>
      <p:sp>
        <p:nvSpPr>
          <p:cNvPr id="21" name="SA1"/>
          <p:cNvSpPr txBox="1">
            <a:spLocks noGrp="1"/>
          </p:cNvSpPr>
          <p:nvPr/>
        </p:nvSpPr>
        <p:spPr>
          <a:xfrm>
            <a:off x="2606040" y="3401568"/>
            <a:ext cx="274320" cy="310896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300" b="0" dirty="0">
                <a:solidFill>
                  <a:srgbClr val="5C9BD6"/>
                </a:solidFill>
                <a:latin typeface="Calibri"/>
                <a:cs typeface="Nirmala UI"/>
              </a:rPr>
              <a:t>▼</a:t>
            </a:r>
          </a:p>
        </p:txBody>
      </p:sp>
      <p:sp>
        <p:nvSpPr>
          <p:cNvPr id="22" name="SB2"/>
          <p:cNvSpPr>
            <a:spLocks noGrp="1"/>
          </p:cNvSpPr>
          <p:nvPr/>
        </p:nvSpPr>
        <p:spPr>
          <a:xfrm>
            <a:off x="1371600" y="3730752"/>
            <a:ext cx="2743200" cy="868680"/>
          </a:xfrm>
          <a:prstGeom prst="roundRect">
            <a:avLst>
              <a:gd name="adj" fmla="val 12000"/>
            </a:avLst>
          </a:prstGeom>
          <a:solidFill>
            <a:srgbClr val="F5A623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SL2"/>
          <p:cNvSpPr txBox="1">
            <a:spLocks noGrp="1"/>
          </p:cNvSpPr>
          <p:nvPr/>
        </p:nvSpPr>
        <p:spPr>
          <a:xfrm>
            <a:off x="1481328" y="3785616"/>
            <a:ext cx="914400" cy="329184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n-IN" sz="1100" b="1" dirty="0">
                <a:solidFill>
                  <a:srgbClr val="1A2E4A"/>
                </a:solidFill>
                <a:latin typeface="Calibri"/>
                <a:cs typeface="Nirmala UI"/>
              </a:rPr>
              <a:t>FEATURES</a:t>
            </a:r>
          </a:p>
        </p:txBody>
      </p:sp>
      <p:sp>
        <p:nvSpPr>
          <p:cNvPr id="24" name="SD2"/>
          <p:cNvSpPr txBox="1">
            <a:spLocks noGrp="1"/>
          </p:cNvSpPr>
          <p:nvPr/>
        </p:nvSpPr>
        <p:spPr>
          <a:xfrm>
            <a:off x="1481328" y="4114800"/>
            <a:ext cx="2560320" cy="43891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n-IN" sz="1120" b="0" dirty="0">
                <a:solidFill>
                  <a:srgbClr val="1A2E4A"/>
                </a:solidFill>
                <a:latin typeface="Calibri"/>
                <a:cs typeface="Nirmala UI"/>
              </a:rPr>
              <a:t>Compute 6-dim linguistic feature vector for each mention pair (i, j)</a:t>
            </a:r>
          </a:p>
        </p:txBody>
      </p:sp>
      <p:sp>
        <p:nvSpPr>
          <p:cNvPr id="25" name="SB3"/>
          <p:cNvSpPr>
            <a:spLocks noGrp="1"/>
          </p:cNvSpPr>
          <p:nvPr/>
        </p:nvSpPr>
        <p:spPr>
          <a:xfrm>
            <a:off x="6400800" y="1298448"/>
            <a:ext cx="2743200" cy="868680"/>
          </a:xfrm>
          <a:prstGeom prst="roundRect">
            <a:avLst>
              <a:gd name="adj" fmla="val 12000"/>
            </a:avLst>
          </a:prstGeom>
          <a:solidFill>
            <a:srgbClr val="A06BBE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SL3"/>
          <p:cNvSpPr txBox="1">
            <a:spLocks noGrp="1"/>
          </p:cNvSpPr>
          <p:nvPr/>
        </p:nvSpPr>
        <p:spPr>
          <a:xfrm>
            <a:off x="6510528" y="1353312"/>
            <a:ext cx="914400" cy="329184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n-IN" sz="1100" b="1" dirty="0">
                <a:solidFill>
                  <a:srgbClr val="1A2E4A"/>
                </a:solidFill>
                <a:latin typeface="Calibri"/>
                <a:cs typeface="Nirmala UI"/>
              </a:rPr>
              <a:t>CLASSIFY</a:t>
            </a:r>
          </a:p>
        </p:txBody>
      </p:sp>
      <p:sp>
        <p:nvSpPr>
          <p:cNvPr id="27" name="SD3"/>
          <p:cNvSpPr txBox="1">
            <a:spLocks noGrp="1"/>
          </p:cNvSpPr>
          <p:nvPr/>
        </p:nvSpPr>
        <p:spPr>
          <a:xfrm>
            <a:off x="6510528" y="1682496"/>
            <a:ext cx="2560320" cy="43891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n-IN" sz="1120" b="0" dirty="0">
                <a:solidFill>
                  <a:srgbClr val="1A2E4A"/>
                </a:solidFill>
                <a:latin typeface="Calibri"/>
                <a:cs typeface="Nirmala UI"/>
              </a:rPr>
              <a:t>Logistic Regression scores each pair: P(COREF | emb_i, emb_j, feat_ij)</a:t>
            </a:r>
          </a:p>
        </p:txBody>
      </p:sp>
      <p:sp>
        <p:nvSpPr>
          <p:cNvPr id="28" name="SA3"/>
          <p:cNvSpPr txBox="1">
            <a:spLocks noGrp="1"/>
          </p:cNvSpPr>
          <p:nvPr/>
        </p:nvSpPr>
        <p:spPr>
          <a:xfrm>
            <a:off x="7635240" y="2185416"/>
            <a:ext cx="274320" cy="310896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300" b="0" dirty="0">
                <a:solidFill>
                  <a:srgbClr val="A06BBE"/>
                </a:solidFill>
                <a:latin typeface="Calibri"/>
                <a:cs typeface="Nirmala UI"/>
              </a:rPr>
              <a:t>▼</a:t>
            </a:r>
          </a:p>
        </p:txBody>
      </p:sp>
      <p:sp>
        <p:nvSpPr>
          <p:cNvPr id="29" name="SB4"/>
          <p:cNvSpPr>
            <a:spLocks noGrp="1"/>
          </p:cNvSpPr>
          <p:nvPr/>
        </p:nvSpPr>
        <p:spPr>
          <a:xfrm>
            <a:off x="6400800" y="2514600"/>
            <a:ext cx="2743200" cy="868680"/>
          </a:xfrm>
          <a:prstGeom prst="roundRect">
            <a:avLst>
              <a:gd name="adj" fmla="val 12000"/>
            </a:avLst>
          </a:prstGeom>
          <a:solidFill>
            <a:srgbClr val="6BBE8C"/>
          </a:solidFill>
          <a:ln>
            <a:noFill/>
          </a:ln>
        </p:spPr>
        <p:txBody>
          <a:bodyPr/>
          <a:lstStyle/>
          <a:p/>
        </p:txBody>
      </p:sp>
      <p:sp>
        <p:nvSpPr>
          <p:cNvPr id="30" name="SL4"/>
          <p:cNvSpPr txBox="1">
            <a:spLocks noGrp="1"/>
          </p:cNvSpPr>
          <p:nvPr/>
        </p:nvSpPr>
        <p:spPr>
          <a:xfrm>
            <a:off x="6510528" y="2569464"/>
            <a:ext cx="914400" cy="329184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n-IN" sz="1100" b="1" dirty="0">
                <a:solidFill>
                  <a:srgbClr val="1A2E4A"/>
                </a:solidFill>
                <a:latin typeface="Calibri"/>
                <a:cs typeface="Nirmala UI"/>
              </a:rPr>
              <a:t>CLUSTER</a:t>
            </a:r>
          </a:p>
        </p:txBody>
      </p:sp>
      <p:sp>
        <p:nvSpPr>
          <p:cNvPr id="31" name="SD4"/>
          <p:cNvSpPr txBox="1">
            <a:spLocks noGrp="1"/>
          </p:cNvSpPr>
          <p:nvPr/>
        </p:nvSpPr>
        <p:spPr>
          <a:xfrm>
            <a:off x="6510528" y="2898648"/>
            <a:ext cx="2560320" cy="43891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n-IN" sz="1120" b="0" dirty="0">
                <a:solidFill>
                  <a:srgbClr val="1A2E4A"/>
                </a:solidFill>
                <a:latin typeface="Calibri"/>
                <a:cs typeface="Nirmala UI"/>
              </a:rPr>
              <a:t>Union-Find merges all pairs with P &gt; 0.5 into transitive entity clusters</a:t>
            </a:r>
          </a:p>
        </p:txBody>
      </p:sp>
      <p:sp>
        <p:nvSpPr>
          <p:cNvPr id="32" name="SA4"/>
          <p:cNvSpPr txBox="1">
            <a:spLocks noGrp="1"/>
          </p:cNvSpPr>
          <p:nvPr/>
        </p:nvSpPr>
        <p:spPr>
          <a:xfrm>
            <a:off x="7635240" y="3401568"/>
            <a:ext cx="274320" cy="310896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300" b="0" dirty="0">
                <a:solidFill>
                  <a:srgbClr val="6BBE8C"/>
                </a:solidFill>
                <a:latin typeface="Calibri"/>
                <a:cs typeface="Nirmala UI"/>
              </a:rPr>
              <a:t>▼</a:t>
            </a:r>
          </a:p>
        </p:txBody>
      </p:sp>
      <p:sp>
        <p:nvSpPr>
          <p:cNvPr id="33" name="SB5"/>
          <p:cNvSpPr>
            <a:spLocks noGrp="1"/>
          </p:cNvSpPr>
          <p:nvPr/>
        </p:nvSpPr>
        <p:spPr>
          <a:xfrm>
            <a:off x="6400800" y="3730752"/>
            <a:ext cx="2743200" cy="868680"/>
          </a:xfrm>
          <a:prstGeom prst="roundRect">
            <a:avLst>
              <a:gd name="adj" fmla="val 12000"/>
            </a:avLst>
          </a:prstGeom>
          <a:solidFill>
            <a:srgbClr val="00C9B1"/>
          </a:solidFill>
          <a:ln>
            <a:noFill/>
          </a:ln>
        </p:spPr>
        <p:txBody>
          <a:bodyPr/>
          <a:lstStyle/>
          <a:p/>
        </p:txBody>
      </p:sp>
      <p:sp>
        <p:nvSpPr>
          <p:cNvPr id="34" name="SL5"/>
          <p:cNvSpPr txBox="1">
            <a:spLocks noGrp="1"/>
          </p:cNvSpPr>
          <p:nvPr/>
        </p:nvSpPr>
        <p:spPr>
          <a:xfrm>
            <a:off x="6510528" y="3785616"/>
            <a:ext cx="914400" cy="329184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n-IN" sz="1100" b="1" dirty="0">
                <a:solidFill>
                  <a:srgbClr val="1A2E4A"/>
                </a:solidFill>
                <a:latin typeface="Calibri"/>
                <a:cs typeface="Nirmala UI"/>
              </a:rPr>
              <a:t>OUTPUT</a:t>
            </a:r>
          </a:p>
        </p:txBody>
      </p:sp>
      <p:sp>
        <p:nvSpPr>
          <p:cNvPr id="35" name="SD5"/>
          <p:cNvSpPr txBox="1">
            <a:spLocks noGrp="1"/>
          </p:cNvSpPr>
          <p:nvPr/>
        </p:nvSpPr>
        <p:spPr>
          <a:xfrm>
            <a:off x="6510528" y="4114800"/>
            <a:ext cx="2560320" cy="43891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n-IN" sz="1120" b="0" dirty="0">
                <a:solidFill>
                  <a:srgbClr val="1A2E4A"/>
                </a:solidFill>
                <a:latin typeface="Calibri"/>
                <a:cs typeface="Nirmala UI"/>
              </a:rPr>
              <a:t>Final coreference chains: sets of mention spans referring to same entity</a:t>
            </a:r>
          </a:p>
        </p:txBody>
      </p:sp>
      <p:sp>
        <p:nvSpPr>
          <p:cNvPr id="36" name="CC"/>
          <p:cNvSpPr>
            <a:spLocks noGrp="1"/>
          </p:cNvSpPr>
          <p:nvPr/>
        </p:nvSpPr>
        <p:spPr>
          <a:xfrm>
            <a:off x="4187952" y="3291840"/>
            <a:ext cx="2148840" cy="64008"/>
          </a:xfrm>
          <a:prstGeom prst="rect">
            <a:avLst/>
          </a:prstGeom>
          <a:solidFill>
            <a:srgbClr val="8AAEC8"/>
          </a:solidFill>
          <a:ln>
            <a:noFill/>
          </a:ln>
        </p:spPr>
        <p:txBody>
          <a:bodyPr/>
          <a:lstStyle/>
          <a:p/>
        </p:txBody>
      </p:sp>
      <p:sp>
        <p:nvSpPr>
          <p:cNvPr id="37" name="CCA"/>
          <p:cNvSpPr txBox="1">
            <a:spLocks noGrp="1"/>
          </p:cNvSpPr>
          <p:nvPr/>
        </p:nvSpPr>
        <p:spPr>
          <a:xfrm>
            <a:off x="6199632" y="3163824"/>
            <a:ext cx="256032" cy="320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400" b="0" dirty="0">
                <a:solidFill>
                  <a:srgbClr val="8AAEC8"/>
                </a:solidFill>
                <a:latin typeface="Calibri"/>
                <a:cs typeface="Nirmala UI"/>
              </a:rPr>
              <a:t>▶</a:t>
            </a:r>
          </a:p>
        </p:txBody>
      </p:sp>
      <p:sp>
        <p:nvSpPr>
          <p:cNvPr id="38" name="FeatBox"/>
          <p:cNvSpPr>
            <a:spLocks noGrp="1"/>
          </p:cNvSpPr>
          <p:nvPr/>
        </p:nvSpPr>
        <p:spPr>
          <a:xfrm>
            <a:off x="3749039" y="1261872"/>
            <a:ext cx="2542032" cy="2103120"/>
          </a:xfrm>
          <a:prstGeom prst="roundRect">
            <a:avLst>
              <a:gd name="adj" fmla="val 16667"/>
            </a:avLst>
          </a:prstGeom>
          <a:solidFill>
            <a:srgbClr val="0D1B2E"/>
          </a:solidFill>
          <a:ln w="12700">
            <a:solidFill>
              <a:srgbClr val="00C9B1"/>
            </a:solidFill>
          </a:ln>
        </p:spPr>
        <p:txBody>
          <a:bodyPr/>
          <a:lstStyle/>
          <a:p/>
        </p:txBody>
      </p:sp>
      <p:sp>
        <p:nvSpPr>
          <p:cNvPr id="39" name="FeatH"/>
          <p:cNvSpPr txBox="1">
            <a:spLocks noGrp="1"/>
          </p:cNvSpPr>
          <p:nvPr/>
        </p:nvSpPr>
        <p:spPr>
          <a:xfrm>
            <a:off x="3840480" y="1298448"/>
            <a:ext cx="2359152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180" b="1" dirty="0">
                <a:solidFill>
                  <a:srgbClr val="00C9B1"/>
                </a:solidFill>
                <a:latin typeface="Calibri"/>
                <a:cs typeface="Nirmala UI"/>
              </a:rPr>
              <a:t>FEATURE VECTOR  (6-dim)</a:t>
            </a:r>
          </a:p>
        </p:txBody>
      </p:sp>
      <p:sp>
        <p:nvSpPr>
          <p:cNvPr id="40" name="FeatL"/>
          <p:cNvSpPr txBox="1">
            <a:spLocks noGrp="1"/>
          </p:cNvSpPr>
          <p:nvPr/>
        </p:nvSpPr>
        <p:spPr>
          <a:xfrm>
            <a:off x="3840480" y="1719072"/>
            <a:ext cx="2377440" cy="157276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indent="-228600" marL="228600">
              <a:spcBef>
                <a:spcPts val="42"/>
              </a:spcBef>
              <a:lnSpc>
                <a:spcPct val="105"/>
              </a:lnSpc>
            </a:pPr>
            <a:r>
              <a:rPr lang="en-IN" sz="1120" b="0" dirty="0">
                <a:solidFill>
                  <a:srgbClr val="00C9B1"/>
                </a:solidFill>
                <a:latin typeface="Calibri"/>
              </a:rPr>
              <a:t>▪  </a:t>
            </a:r>
            <a:r>
              <a:rPr lang="en-IN" sz="1120" b="0" dirty="0">
                <a:solidFill>
                  <a:srgbClr val="D0E4F7"/>
                </a:solidFill>
                <a:latin typeface="Calibri"/>
                <a:cs typeface="Nirmala UI"/>
              </a:rPr>
              <a:t>cos_sim(emb_i, emb_j)  — float</a:t>
            </a:r>
          </a:p>
          <a:p>
            <a:pPr indent="-228600" marL="228600">
              <a:spcBef>
                <a:spcPts val="42"/>
              </a:spcBef>
              <a:lnSpc>
                <a:spcPct val="105"/>
              </a:lnSpc>
            </a:pPr>
            <a:r>
              <a:rPr lang="en-IN" sz="1120" b="0" dirty="0">
                <a:solidFill>
                  <a:srgbClr val="00C9B1"/>
                </a:solidFill>
                <a:latin typeface="Calibri"/>
              </a:rPr>
              <a:t>▪  </a:t>
            </a:r>
            <a:r>
              <a:rPr lang="en-IN" sz="1120" b="0" dirty="0">
                <a:solidFill>
                  <a:srgbClr val="D0E4F7"/>
                </a:solidFill>
                <a:latin typeface="Calibri"/>
                <a:cs typeface="Nirmala UI"/>
              </a:rPr>
              <a:t>is_pronoun_i  — boolean</a:t>
            </a:r>
          </a:p>
          <a:p>
            <a:pPr indent="-228600" marL="228600">
              <a:spcBef>
                <a:spcPts val="42"/>
              </a:spcBef>
              <a:lnSpc>
                <a:spcPct val="105"/>
              </a:lnSpc>
            </a:pPr>
            <a:r>
              <a:rPr lang="en-IN" sz="1120" b="0" dirty="0">
                <a:solidFill>
                  <a:srgbClr val="00C9B1"/>
                </a:solidFill>
                <a:latin typeface="Calibri"/>
              </a:rPr>
              <a:t>▪  </a:t>
            </a:r>
            <a:r>
              <a:rPr lang="en-IN" sz="1120" b="0" dirty="0">
                <a:solidFill>
                  <a:srgbClr val="D0E4F7"/>
                </a:solidFill>
                <a:latin typeface="Calibri"/>
                <a:cs typeface="Nirmala UI"/>
              </a:rPr>
              <a:t>is_pronoun_j  — boolean</a:t>
            </a:r>
          </a:p>
          <a:p>
            <a:pPr indent="-228600" marL="228600">
              <a:spcBef>
                <a:spcPts val="42"/>
              </a:spcBef>
              <a:lnSpc>
                <a:spcPct val="105"/>
              </a:lnSpc>
            </a:pPr>
            <a:r>
              <a:rPr lang="en-IN" sz="1120" b="0" dirty="0">
                <a:solidFill>
                  <a:srgbClr val="00C9B1"/>
                </a:solidFill>
                <a:latin typeface="Calibri"/>
              </a:rPr>
              <a:t>▪  </a:t>
            </a:r>
            <a:r>
              <a:rPr lang="en-IN" sz="1120" b="0" dirty="0">
                <a:solidFill>
                  <a:srgbClr val="D0E4F7"/>
                </a:solidFill>
                <a:latin typeface="Calibri"/>
                <a:cs typeface="Nirmala UI"/>
              </a:rPr>
              <a:t>is_plural_i  — boolean</a:t>
            </a:r>
          </a:p>
          <a:p>
            <a:pPr indent="-228600" marL="228600">
              <a:spcBef>
                <a:spcPts val="42"/>
              </a:spcBef>
              <a:lnSpc>
                <a:spcPct val="105"/>
              </a:lnSpc>
            </a:pPr>
            <a:r>
              <a:rPr lang="en-IN" sz="1120" b="0" dirty="0">
                <a:solidFill>
                  <a:srgbClr val="00C9B1"/>
                </a:solidFill>
                <a:latin typeface="Calibri"/>
              </a:rPr>
              <a:t>▪  </a:t>
            </a:r>
            <a:r>
              <a:rPr lang="en-IN" sz="1120" b="0" dirty="0">
                <a:solidFill>
                  <a:srgbClr val="D0E4F7"/>
                </a:solidFill>
                <a:latin typeface="Calibri"/>
                <a:cs typeface="Nirmala UI"/>
              </a:rPr>
              <a:t>sent_distance(i,j)  — int</a:t>
            </a:r>
          </a:p>
          <a:p>
            <a:pPr indent="-228600" marL="228600">
              <a:spcBef>
                <a:spcPts val="42"/>
              </a:spcBef>
              <a:lnSpc>
                <a:spcPct val="105"/>
              </a:lnSpc>
            </a:pPr>
            <a:r>
              <a:rPr lang="en-IN" sz="1120" b="0" dirty="0">
                <a:solidFill>
                  <a:srgbClr val="00C9B1"/>
                </a:solidFill>
                <a:latin typeface="Calibri"/>
              </a:rPr>
              <a:t>▪  </a:t>
            </a:r>
            <a:r>
              <a:rPr lang="en-IN" sz="1120" b="0" dirty="0">
                <a:solidFill>
                  <a:srgbClr val="D0E4F7"/>
                </a:solidFill>
                <a:latin typeface="Calibri"/>
                <a:cs typeface="Nirmala UI"/>
              </a:rPr>
              <a:t>same_clause(i,j)  — boolean</a:t>
            </a:r>
          </a:p>
        </p:txBody>
      </p:sp>
      <p:sp>
        <p:nvSpPr>
          <p:cNvPr id="41" name="CNote"/>
          <p:cNvSpPr>
            <a:spLocks noGrp="1"/>
          </p:cNvSpPr>
          <p:nvPr/>
        </p:nvSpPr>
        <p:spPr>
          <a:xfrm>
            <a:off x="274320" y="6053328"/>
            <a:ext cx="11643360" cy="36576"/>
          </a:xfrm>
          <a:prstGeom prst="rect">
            <a:avLst/>
          </a:prstGeom>
          <a:solidFill>
            <a:srgbClr val="8AAEC8"/>
          </a:solidFill>
          <a:ln>
            <a:noFill/>
          </a:ln>
        </p:spPr>
        <p:txBody>
          <a:bodyPr/>
          <a:lstStyle/>
          <a:p/>
        </p:txBody>
      </p:sp>
      <p:sp>
        <p:nvSpPr>
          <p:cNvPr id="42" name="CNoteT"/>
          <p:cNvSpPr txBox="1">
            <a:spLocks noGrp="1"/>
          </p:cNvSpPr>
          <p:nvPr/>
        </p:nvSpPr>
        <p:spPr>
          <a:xfrm>
            <a:off x="274320" y="6108192"/>
            <a:ext cx="11643360" cy="34747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180" b="0" dirty="0">
                <a:solidFill>
                  <a:srgbClr val="8AAEC8"/>
                </a:solidFill>
                <a:latin typeface="Calibri"/>
                <a:cs typeface="Nirmala UI"/>
              </a:rPr>
              <a:t>Complexity: O(n²) pairwise comparisons for n mentions. Union-Find clustering: O(n·α(n)) ≈ O(n) amortized.  Total inference: ~0.3s per 10-sentence document on CPU.</a:t>
            </a:r>
          </a:p>
        </p:txBody>
      </p:sp>
      <p:sp>
        <p:nvSpPr>
          <p:cNvPr id="43" name="FB"/>
          <p:cNvSpPr>
            <a:spLocks noGrp="1"/>
          </p:cNvSpPr>
          <p:nvPr/>
        </p:nvSpPr>
        <p:spPr>
          <a:xfrm>
            <a:off x="0" y="6473952"/>
            <a:ext cx="12192000" cy="384048"/>
          </a:xfrm>
          <a:prstGeom prst="rect">
            <a:avLst/>
          </a:prstGeom>
          <a:solidFill>
            <a:srgbClr val="112238"/>
          </a:solidFill>
          <a:ln>
            <a:noFill/>
          </a:ln>
        </p:spPr>
        <p:txBody>
          <a:bodyPr/>
          <a:lstStyle/>
          <a:p/>
        </p:txBody>
      </p:sp>
      <p:sp>
        <p:nvSpPr>
          <p:cNvPr id="44" name="FL"/>
          <p:cNvSpPr>
            <a:spLocks noGrp="1"/>
          </p:cNvSpPr>
          <p:nvPr/>
        </p:nvSpPr>
        <p:spPr>
          <a:xfrm>
            <a:off x="0" y="6473952"/>
            <a:ext cx="12192000" cy="36576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txBody>
          <a:bodyPr/>
          <a:lstStyle/>
          <a:p/>
        </p:txBody>
      </p:sp>
      <p:sp>
        <p:nvSpPr>
          <p:cNvPr id="45" name="FL2"/>
          <p:cNvSpPr txBox="1">
            <a:spLocks noGrp="1"/>
          </p:cNvSpPr>
          <p:nvPr/>
        </p:nvSpPr>
        <p:spPr>
          <a:xfrm>
            <a:off x="274320" y="6510528"/>
            <a:ext cx="5486400" cy="310896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n-IN" sz="950" b="0" dirty="0">
                <a:solidFill>
                  <a:srgbClr val="8AAEC8"/>
                </a:solidFill>
                <a:latin typeface="Calibri"/>
                <a:cs typeface="Nirmala UI"/>
              </a:rPr>
              <a:t>Hindi Coreference Resolution  |  CIT Kokrajhar</a:t>
            </a:r>
          </a:p>
        </p:txBody>
      </p:sp>
      <p:sp>
        <p:nvSpPr>
          <p:cNvPr id="46" name="FR"/>
          <p:cNvSpPr txBox="1">
            <a:spLocks noGrp="1"/>
          </p:cNvSpPr>
          <p:nvPr/>
        </p:nvSpPr>
        <p:spPr>
          <a:xfrm>
            <a:off x="7772400" y="6510528"/>
            <a:ext cx="3200400" cy="310896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/>
            <a:r>
              <a:rPr lang="en-IN" sz="950" b="0" dirty="0">
                <a:solidFill>
                  <a:srgbClr val="8AAEC8"/>
                </a:solidFill>
                <a:latin typeface="Calibri"/>
                <a:cs typeface="Nirmala UI"/>
              </a:rPr>
              <a:t>B.Tech Project  |  2026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10" name="TopBar"/>
          <p:cNvSpPr>
            <a:spLocks noGrp="1"/>
          </p:cNvSpPr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12238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AccLine"/>
          <p:cNvSpPr>
            <a:spLocks noGrp="1"/>
          </p:cNvSpPr>
          <p:nvPr/>
        </p:nvSpPr>
        <p:spPr>
          <a:xfrm>
            <a:off x="0" y="1097280"/>
            <a:ext cx="12192000" cy="54864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itle"/>
          <p:cNvSpPr txBox="1">
            <a:spLocks noGrp="1"/>
          </p:cNvSpPr>
          <p:nvPr/>
        </p:nvSpPr>
        <p:spPr>
          <a:xfrm>
            <a:off x="365760" y="91440"/>
            <a:ext cx="10424160" cy="7772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n-IN" sz="2800" b="1" dirty="0">
                <a:solidFill>
                  <a:srgbClr val="FFFFFF"/>
                </a:solidFill>
                <a:latin typeface="Calibri"/>
                <a:cs typeface="Nirmala UI"/>
              </a:rPr>
              <a:t>Experimental Results</a:t>
            </a:r>
          </a:p>
        </p:txBody>
      </p:sp>
      <p:sp>
        <p:nvSpPr>
          <p:cNvPr id="13" name="Sub"/>
          <p:cNvSpPr txBox="1">
            <a:spLocks noGrp="1"/>
          </p:cNvSpPr>
          <p:nvPr/>
        </p:nvSpPr>
        <p:spPr>
          <a:xfrm>
            <a:off x="365760" y="749808"/>
            <a:ext cx="9144000" cy="38404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n-IN" sz="1300" b="0" dirty="0">
                <a:solidFill>
                  <a:srgbClr val="00C9B1"/>
                </a:solidFill>
                <a:latin typeface="Calibri"/>
                <a:cs typeface="Nirmala UI"/>
              </a:rPr>
              <a:t>Quantitative performance evaluation — Phase 1 vs Phase 2 variants</a:t>
            </a:r>
          </a:p>
        </p:txBody>
      </p:sp>
      <p:sp>
        <p:nvSpPr>
          <p:cNvPr id="14" name="SC0"/>
          <p:cNvSpPr>
            <a:spLocks noGrp="1"/>
          </p:cNvSpPr>
          <p:nvPr/>
        </p:nvSpPr>
        <p:spPr>
          <a:xfrm>
            <a:off x="320040" y="1298448"/>
            <a:ext cx="2377440" cy="1097280"/>
          </a:xfrm>
          <a:prstGeom prst="roundRect">
            <a:avLst>
              <a:gd name="adj" fmla="val 8000"/>
            </a:avLst>
          </a:prstGeom>
          <a:solidFill>
            <a:srgbClr val="0D1B2E"/>
          </a:solidFill>
          <a:ln w="14000">
            <a:solidFill>
              <a:srgbClr val="00C9B1"/>
            </a:solidFill>
          </a:ln>
        </p:spPr>
        <p:txBody>
          <a:bodyPr/>
          <a:lstStyle/>
          <a:p/>
        </p:txBody>
      </p:sp>
      <p:sp>
        <p:nvSpPr>
          <p:cNvPr id="15" name="SV0"/>
          <p:cNvSpPr txBox="1">
            <a:spLocks noGrp="1"/>
          </p:cNvSpPr>
          <p:nvPr/>
        </p:nvSpPr>
        <p:spPr>
          <a:xfrm>
            <a:off x="320040" y="1371600"/>
            <a:ext cx="2377440" cy="56692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3400" b="1" dirty="0">
                <a:solidFill>
                  <a:srgbClr val="00C9B1"/>
                </a:solidFill>
                <a:latin typeface="Calibri"/>
                <a:cs typeface="Nirmala UI"/>
              </a:rPr>
              <a:t>82%</a:t>
            </a:r>
          </a:p>
        </p:txBody>
      </p:sp>
      <p:sp>
        <p:nvSpPr>
          <p:cNvPr id="16" name="SL0"/>
          <p:cNvSpPr txBox="1">
            <a:spLocks noGrp="1"/>
          </p:cNvSpPr>
          <p:nvPr/>
        </p:nvSpPr>
        <p:spPr>
          <a:xfrm>
            <a:off x="320040" y="1956816"/>
            <a:ext cx="2377440" cy="402336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130" b="0" dirty="0">
                <a:solidFill>
                  <a:srgbClr val="D0E4F7"/>
                </a:solidFill>
                <a:latin typeface="Calibri"/>
                <a:cs typeface="Nirmala UI"/>
              </a:rPr>
              <a:t>Phase 2 Full System
Pairwise Accuracy</a:t>
            </a:r>
          </a:p>
        </p:txBody>
      </p:sp>
      <p:sp>
        <p:nvSpPr>
          <p:cNvPr id="17" name="SC1"/>
          <p:cNvSpPr>
            <a:spLocks noGrp="1"/>
          </p:cNvSpPr>
          <p:nvPr/>
        </p:nvSpPr>
        <p:spPr>
          <a:xfrm>
            <a:off x="2953512" y="1298448"/>
            <a:ext cx="2377440" cy="1097280"/>
          </a:xfrm>
          <a:prstGeom prst="roundRect">
            <a:avLst>
              <a:gd name="adj" fmla="val 8000"/>
            </a:avLst>
          </a:prstGeom>
          <a:solidFill>
            <a:srgbClr val="0D1B2E"/>
          </a:solidFill>
          <a:ln w="14000">
            <a:solidFill>
              <a:srgbClr val="F5A623"/>
            </a:solidFill>
          </a:ln>
        </p:spPr>
        <p:txBody>
          <a:bodyPr/>
          <a:lstStyle/>
          <a:p/>
        </p:txBody>
      </p:sp>
      <p:sp>
        <p:nvSpPr>
          <p:cNvPr id="18" name="SV1"/>
          <p:cNvSpPr txBox="1">
            <a:spLocks noGrp="1"/>
          </p:cNvSpPr>
          <p:nvPr/>
        </p:nvSpPr>
        <p:spPr>
          <a:xfrm>
            <a:off x="2953512" y="1371600"/>
            <a:ext cx="2377440" cy="56692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3400" b="1" dirty="0">
                <a:solidFill>
                  <a:srgbClr val="F5A623"/>
                </a:solidFill>
                <a:latin typeface="Calibri"/>
                <a:cs typeface="Nirmala UI"/>
              </a:rPr>
              <a:t>+11pp</a:t>
            </a:r>
          </a:p>
        </p:txBody>
      </p:sp>
      <p:sp>
        <p:nvSpPr>
          <p:cNvPr id="19" name="SL1"/>
          <p:cNvSpPr txBox="1">
            <a:spLocks noGrp="1"/>
          </p:cNvSpPr>
          <p:nvPr/>
        </p:nvSpPr>
        <p:spPr>
          <a:xfrm>
            <a:off x="2953512" y="1956816"/>
            <a:ext cx="2377440" cy="402336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130" b="0" dirty="0">
                <a:solidFill>
                  <a:srgbClr val="D0E4F7"/>
                </a:solidFill>
                <a:latin typeface="Calibri"/>
                <a:cs typeface="Nirmala UI"/>
              </a:rPr>
              <a:t>Gain from Linguistic
Features over Embeddings</a:t>
            </a:r>
          </a:p>
        </p:txBody>
      </p:sp>
      <p:sp>
        <p:nvSpPr>
          <p:cNvPr id="20" name="SC2"/>
          <p:cNvSpPr>
            <a:spLocks noGrp="1"/>
          </p:cNvSpPr>
          <p:nvPr/>
        </p:nvSpPr>
        <p:spPr>
          <a:xfrm>
            <a:off x="5586984" y="1298448"/>
            <a:ext cx="2377440" cy="1097280"/>
          </a:xfrm>
          <a:prstGeom prst="roundRect">
            <a:avLst>
              <a:gd name="adj" fmla="val 8000"/>
            </a:avLst>
          </a:prstGeom>
          <a:solidFill>
            <a:srgbClr val="0D1B2E"/>
          </a:solidFill>
          <a:ln w="14000">
            <a:solidFill>
              <a:srgbClr val="5C9BD6"/>
            </a:solidFill>
          </a:ln>
        </p:spPr>
        <p:txBody>
          <a:bodyPr/>
          <a:lstStyle/>
          <a:p/>
        </p:txBody>
      </p:sp>
      <p:sp>
        <p:nvSpPr>
          <p:cNvPr id="21" name="SV2"/>
          <p:cNvSpPr txBox="1">
            <a:spLocks noGrp="1"/>
          </p:cNvSpPr>
          <p:nvPr/>
        </p:nvSpPr>
        <p:spPr>
          <a:xfrm>
            <a:off x="5586984" y="1371600"/>
            <a:ext cx="2377440" cy="56692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3400" b="1" dirty="0">
                <a:solidFill>
                  <a:srgbClr val="5C9BD6"/>
                </a:solidFill>
                <a:latin typeface="Calibri"/>
                <a:cs typeface="Nirmala UI"/>
              </a:rPr>
              <a:t>~71%</a:t>
            </a:r>
          </a:p>
        </p:txBody>
      </p:sp>
      <p:sp>
        <p:nvSpPr>
          <p:cNvPr id="22" name="SL2"/>
          <p:cNvSpPr txBox="1">
            <a:spLocks noGrp="1"/>
          </p:cNvSpPr>
          <p:nvPr/>
        </p:nvSpPr>
        <p:spPr>
          <a:xfrm>
            <a:off x="5586984" y="1956816"/>
            <a:ext cx="2377440" cy="402336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130" b="0" dirty="0">
                <a:solidFill>
                  <a:srgbClr val="D0E4F7"/>
                </a:solidFill>
                <a:latin typeface="Calibri"/>
                <a:cs typeface="Nirmala UI"/>
              </a:rPr>
              <a:t>Embedding-only
Baseline (Phase 2)</a:t>
            </a:r>
          </a:p>
        </p:txBody>
      </p:sp>
      <p:sp>
        <p:nvSpPr>
          <p:cNvPr id="23" name="SC3"/>
          <p:cNvSpPr>
            <a:spLocks noGrp="1"/>
          </p:cNvSpPr>
          <p:nvPr/>
        </p:nvSpPr>
        <p:spPr>
          <a:xfrm>
            <a:off x="8220456" y="1298448"/>
            <a:ext cx="2377440" cy="1097280"/>
          </a:xfrm>
          <a:prstGeom prst="roundRect">
            <a:avLst>
              <a:gd name="adj" fmla="val 8000"/>
            </a:avLst>
          </a:prstGeom>
          <a:solidFill>
            <a:srgbClr val="0D1B2E"/>
          </a:solidFill>
          <a:ln w="14000">
            <a:solidFill>
              <a:srgbClr val="E05C5C"/>
            </a:solidFill>
          </a:ln>
        </p:spPr>
        <p:txBody>
          <a:bodyPr/>
          <a:lstStyle/>
          <a:p/>
        </p:txBody>
      </p:sp>
      <p:sp>
        <p:nvSpPr>
          <p:cNvPr id="24" name="SV3"/>
          <p:cNvSpPr txBox="1">
            <a:spLocks noGrp="1"/>
          </p:cNvSpPr>
          <p:nvPr/>
        </p:nvSpPr>
        <p:spPr>
          <a:xfrm>
            <a:off x="8220456" y="1371600"/>
            <a:ext cx="2377440" cy="56692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3400" b="1" dirty="0">
                <a:solidFill>
                  <a:srgbClr val="E05C5C"/>
                </a:solidFill>
                <a:latin typeface="Calibri"/>
                <a:cs typeface="Nirmala UI"/>
              </a:rPr>
              <a:t>~43%</a:t>
            </a:r>
          </a:p>
        </p:txBody>
      </p:sp>
      <p:sp>
        <p:nvSpPr>
          <p:cNvPr id="25" name="SL3"/>
          <p:cNvSpPr txBox="1">
            <a:spLocks noGrp="1"/>
          </p:cNvSpPr>
          <p:nvPr/>
        </p:nvSpPr>
        <p:spPr>
          <a:xfrm>
            <a:off x="8220456" y="1956816"/>
            <a:ext cx="2377440" cy="402336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130" b="0" dirty="0">
                <a:solidFill>
                  <a:srgbClr val="D0E4F7"/>
                </a:solidFill>
                <a:latin typeface="Calibri"/>
                <a:cs typeface="Nirmala UI"/>
              </a:rPr>
              <a:t>Phase 1 Clustering
Accuracy (Baseline)</a:t>
            </a:r>
          </a:p>
        </p:txBody>
      </p:sp>
      <p:sp>
        <p:nvSpPr>
          <p:cNvPr id="26" name="TH0"/>
          <p:cNvSpPr>
            <a:spLocks noGrp="1"/>
          </p:cNvSpPr>
          <p:nvPr/>
        </p:nvSpPr>
        <p:spPr>
          <a:xfrm>
            <a:off x="274320" y="2578608"/>
            <a:ext cx="3108960" cy="493776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THT0"/>
          <p:cNvSpPr txBox="1">
            <a:spLocks noGrp="1"/>
          </p:cNvSpPr>
          <p:nvPr/>
        </p:nvSpPr>
        <p:spPr>
          <a:xfrm>
            <a:off x="347472" y="2651760"/>
            <a:ext cx="2999232" cy="402336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300" b="1" dirty="0">
                <a:solidFill>
                  <a:srgbClr val="FFFFFF"/>
                </a:solidFill>
                <a:latin typeface="Calibri"/>
                <a:cs typeface="Nirmala UI"/>
              </a:rPr>
              <a:t>System / Configuration</a:t>
            </a:r>
          </a:p>
        </p:txBody>
      </p:sp>
      <p:sp>
        <p:nvSpPr>
          <p:cNvPr id="28" name="TH1"/>
          <p:cNvSpPr>
            <a:spLocks noGrp="1"/>
          </p:cNvSpPr>
          <p:nvPr/>
        </p:nvSpPr>
        <p:spPr>
          <a:xfrm>
            <a:off x="3456432" y="2578608"/>
            <a:ext cx="1664208" cy="493776"/>
          </a:xfrm>
          <a:prstGeom prst="rect">
            <a:avLst/>
          </a:prstGeom>
          <a:solidFill>
            <a:srgbClr val="1A3D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9" name="THT1"/>
          <p:cNvSpPr txBox="1">
            <a:spLocks noGrp="1"/>
          </p:cNvSpPr>
          <p:nvPr/>
        </p:nvSpPr>
        <p:spPr>
          <a:xfrm>
            <a:off x="3529584" y="2651760"/>
            <a:ext cx="1554480" cy="402336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300" b="1" dirty="0">
                <a:solidFill>
                  <a:srgbClr val="FFFFFF"/>
                </a:solidFill>
                <a:latin typeface="Calibri"/>
                <a:cs typeface="Nirmala UI"/>
              </a:rPr>
              <a:t>Precision</a:t>
            </a:r>
          </a:p>
        </p:txBody>
      </p:sp>
      <p:sp>
        <p:nvSpPr>
          <p:cNvPr id="30" name="TH2"/>
          <p:cNvSpPr>
            <a:spLocks noGrp="1"/>
          </p:cNvSpPr>
          <p:nvPr/>
        </p:nvSpPr>
        <p:spPr>
          <a:xfrm>
            <a:off x="5193792" y="2578608"/>
            <a:ext cx="1664208" cy="493776"/>
          </a:xfrm>
          <a:prstGeom prst="rect">
            <a:avLst/>
          </a:prstGeom>
          <a:solidFill>
            <a:srgbClr val="1A3D5C"/>
          </a:solidFill>
          <a:ln>
            <a:noFill/>
          </a:ln>
        </p:spPr>
        <p:txBody>
          <a:bodyPr/>
          <a:lstStyle/>
          <a:p/>
        </p:txBody>
      </p:sp>
      <p:sp>
        <p:nvSpPr>
          <p:cNvPr id="31" name="THT2"/>
          <p:cNvSpPr txBox="1">
            <a:spLocks noGrp="1"/>
          </p:cNvSpPr>
          <p:nvPr/>
        </p:nvSpPr>
        <p:spPr>
          <a:xfrm>
            <a:off x="5266944" y="2651760"/>
            <a:ext cx="1554480" cy="402336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300" b="1" dirty="0">
                <a:solidFill>
                  <a:srgbClr val="FFFFFF"/>
                </a:solidFill>
                <a:latin typeface="Calibri"/>
                <a:cs typeface="Nirmala UI"/>
              </a:rPr>
              <a:t>Recall</a:t>
            </a:r>
          </a:p>
        </p:txBody>
      </p:sp>
      <p:sp>
        <p:nvSpPr>
          <p:cNvPr id="32" name="TH3"/>
          <p:cNvSpPr>
            <a:spLocks noGrp="1"/>
          </p:cNvSpPr>
          <p:nvPr/>
        </p:nvSpPr>
        <p:spPr>
          <a:xfrm>
            <a:off x="6931152" y="2578608"/>
            <a:ext cx="1664208" cy="493776"/>
          </a:xfrm>
          <a:prstGeom prst="rect">
            <a:avLst/>
          </a:prstGeom>
          <a:solidFill>
            <a:srgbClr val="1A3D5C"/>
          </a:solidFill>
          <a:ln>
            <a:noFill/>
          </a:ln>
        </p:spPr>
        <p:txBody>
          <a:bodyPr/>
          <a:lstStyle/>
          <a:p/>
        </p:txBody>
      </p:sp>
      <p:sp>
        <p:nvSpPr>
          <p:cNvPr id="33" name="THT3"/>
          <p:cNvSpPr txBox="1">
            <a:spLocks noGrp="1"/>
          </p:cNvSpPr>
          <p:nvPr/>
        </p:nvSpPr>
        <p:spPr>
          <a:xfrm>
            <a:off x="7004304" y="2651760"/>
            <a:ext cx="1554480" cy="402336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300" b="1" dirty="0">
                <a:solidFill>
                  <a:srgbClr val="FFFFFF"/>
                </a:solidFill>
                <a:latin typeface="Calibri"/>
                <a:cs typeface="Nirmala UI"/>
              </a:rPr>
              <a:t>F1</a:t>
            </a:r>
          </a:p>
        </p:txBody>
      </p:sp>
      <p:sp>
        <p:nvSpPr>
          <p:cNvPr id="34" name="TH4"/>
          <p:cNvSpPr>
            <a:spLocks noGrp="1"/>
          </p:cNvSpPr>
          <p:nvPr/>
        </p:nvSpPr>
        <p:spPr>
          <a:xfrm>
            <a:off x="8668512" y="2578608"/>
            <a:ext cx="1993392" cy="493776"/>
          </a:xfrm>
          <a:prstGeom prst="rect">
            <a:avLst/>
          </a:prstGeom>
          <a:solidFill>
            <a:srgbClr val="1A3D5C"/>
          </a:solidFill>
          <a:ln>
            <a:noFill/>
          </a:ln>
        </p:spPr>
        <p:txBody>
          <a:bodyPr/>
          <a:lstStyle/>
          <a:p/>
        </p:txBody>
      </p:sp>
      <p:sp>
        <p:nvSpPr>
          <p:cNvPr id="35" name="THT4"/>
          <p:cNvSpPr txBox="1">
            <a:spLocks noGrp="1"/>
          </p:cNvSpPr>
          <p:nvPr/>
        </p:nvSpPr>
        <p:spPr>
          <a:xfrm>
            <a:off x="8741664" y="2651760"/>
            <a:ext cx="1883664" cy="402336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300" b="1" dirty="0">
                <a:solidFill>
                  <a:srgbClr val="FFFFFF"/>
                </a:solidFill>
                <a:latin typeface="Calibri"/>
                <a:cs typeface="Nirmala UI"/>
              </a:rPr>
              <a:t>Accuracy</a:t>
            </a:r>
          </a:p>
        </p:txBody>
      </p:sp>
      <p:sp>
        <p:nvSpPr>
          <p:cNvPr id="36" name="TR00"/>
          <p:cNvSpPr>
            <a:spLocks noGrp="1"/>
          </p:cNvSpPr>
          <p:nvPr/>
        </p:nvSpPr>
        <p:spPr>
          <a:xfrm>
            <a:off x="274320" y="3072384"/>
            <a:ext cx="3108960" cy="493776"/>
          </a:xfrm>
          <a:prstGeom prst="rect">
            <a:avLst/>
          </a:prstGeom>
          <a:solidFill>
            <a:srgbClr val="122840"/>
          </a:solidFill>
          <a:ln>
            <a:noFill/>
          </a:ln>
        </p:spPr>
        <p:txBody>
          <a:bodyPr/>
          <a:lstStyle/>
          <a:p/>
        </p:txBody>
      </p:sp>
      <p:sp>
        <p:nvSpPr>
          <p:cNvPr id="37" name="TRT00"/>
          <p:cNvSpPr txBox="1">
            <a:spLocks noGrp="1"/>
          </p:cNvSpPr>
          <p:nvPr/>
        </p:nvSpPr>
        <p:spPr>
          <a:xfrm>
            <a:off x="347472" y="3145536"/>
            <a:ext cx="2999232" cy="402336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n-IN" sz="1260" b="0" dirty="0">
                <a:solidFill>
                  <a:srgbClr val="D0E4F7"/>
                </a:solidFill>
                <a:latin typeface="Calibri"/>
                <a:cs typeface="Nirmala UI"/>
              </a:rPr>
              <a:t>Phase 1: BERT Clustering (Unsupervised)</a:t>
            </a:r>
          </a:p>
        </p:txBody>
      </p:sp>
      <p:sp>
        <p:nvSpPr>
          <p:cNvPr id="38" name="TR01"/>
          <p:cNvSpPr>
            <a:spLocks noGrp="1"/>
          </p:cNvSpPr>
          <p:nvPr/>
        </p:nvSpPr>
        <p:spPr>
          <a:xfrm>
            <a:off x="3456432" y="3072384"/>
            <a:ext cx="1664208" cy="493776"/>
          </a:xfrm>
          <a:prstGeom prst="rect">
            <a:avLst/>
          </a:prstGeom>
          <a:solidFill>
            <a:srgbClr val="122840"/>
          </a:solidFill>
          <a:ln>
            <a:noFill/>
          </a:ln>
        </p:spPr>
        <p:txBody>
          <a:bodyPr/>
          <a:lstStyle/>
          <a:p/>
        </p:txBody>
      </p:sp>
      <p:sp>
        <p:nvSpPr>
          <p:cNvPr id="39" name="TRT01"/>
          <p:cNvSpPr txBox="1">
            <a:spLocks noGrp="1"/>
          </p:cNvSpPr>
          <p:nvPr/>
        </p:nvSpPr>
        <p:spPr>
          <a:xfrm>
            <a:off x="3529584" y="3145536"/>
            <a:ext cx="1554480" cy="402336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300" b="0" dirty="0">
                <a:solidFill>
                  <a:srgbClr val="E05C5C"/>
                </a:solidFill>
                <a:latin typeface="Calibri"/>
                <a:cs typeface="Nirmala UI"/>
              </a:rPr>
              <a:t>~38%</a:t>
            </a:r>
          </a:p>
        </p:txBody>
      </p:sp>
      <p:sp>
        <p:nvSpPr>
          <p:cNvPr id="40" name="TR02"/>
          <p:cNvSpPr>
            <a:spLocks noGrp="1"/>
          </p:cNvSpPr>
          <p:nvPr/>
        </p:nvSpPr>
        <p:spPr>
          <a:xfrm>
            <a:off x="5193792" y="3072384"/>
            <a:ext cx="1664208" cy="493776"/>
          </a:xfrm>
          <a:prstGeom prst="rect">
            <a:avLst/>
          </a:prstGeom>
          <a:solidFill>
            <a:srgbClr val="122840"/>
          </a:solidFill>
          <a:ln>
            <a:noFill/>
          </a:ln>
        </p:spPr>
        <p:txBody>
          <a:bodyPr/>
          <a:lstStyle/>
          <a:p/>
        </p:txBody>
      </p:sp>
      <p:sp>
        <p:nvSpPr>
          <p:cNvPr id="41" name="TRT02"/>
          <p:cNvSpPr txBox="1">
            <a:spLocks noGrp="1"/>
          </p:cNvSpPr>
          <p:nvPr/>
        </p:nvSpPr>
        <p:spPr>
          <a:xfrm>
            <a:off x="5266944" y="3145536"/>
            <a:ext cx="1554480" cy="402336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300" b="0" dirty="0">
                <a:solidFill>
                  <a:srgbClr val="E05C5C"/>
                </a:solidFill>
                <a:latin typeface="Calibri"/>
                <a:cs typeface="Nirmala UI"/>
              </a:rPr>
              <a:t>~51%</a:t>
            </a:r>
          </a:p>
        </p:txBody>
      </p:sp>
      <p:sp>
        <p:nvSpPr>
          <p:cNvPr id="42" name="TR03"/>
          <p:cNvSpPr>
            <a:spLocks noGrp="1"/>
          </p:cNvSpPr>
          <p:nvPr/>
        </p:nvSpPr>
        <p:spPr>
          <a:xfrm>
            <a:off x="6931152" y="3072384"/>
            <a:ext cx="1664208" cy="493776"/>
          </a:xfrm>
          <a:prstGeom prst="rect">
            <a:avLst/>
          </a:prstGeom>
          <a:solidFill>
            <a:srgbClr val="122840"/>
          </a:solidFill>
          <a:ln>
            <a:noFill/>
          </a:ln>
        </p:spPr>
        <p:txBody>
          <a:bodyPr/>
          <a:lstStyle/>
          <a:p/>
        </p:txBody>
      </p:sp>
      <p:sp>
        <p:nvSpPr>
          <p:cNvPr id="43" name="TRT03"/>
          <p:cNvSpPr txBox="1">
            <a:spLocks noGrp="1"/>
          </p:cNvSpPr>
          <p:nvPr/>
        </p:nvSpPr>
        <p:spPr>
          <a:xfrm>
            <a:off x="7004304" y="3145536"/>
            <a:ext cx="1554480" cy="402336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300" b="0" dirty="0">
                <a:solidFill>
                  <a:srgbClr val="E05C5C"/>
                </a:solidFill>
                <a:latin typeface="Calibri"/>
                <a:cs typeface="Nirmala UI"/>
              </a:rPr>
              <a:t>~43%</a:t>
            </a:r>
          </a:p>
        </p:txBody>
      </p:sp>
      <p:sp>
        <p:nvSpPr>
          <p:cNvPr id="44" name="TR04"/>
          <p:cNvSpPr>
            <a:spLocks noGrp="1"/>
          </p:cNvSpPr>
          <p:nvPr/>
        </p:nvSpPr>
        <p:spPr>
          <a:xfrm>
            <a:off x="8668512" y="3072384"/>
            <a:ext cx="1993392" cy="493776"/>
          </a:xfrm>
          <a:prstGeom prst="rect">
            <a:avLst/>
          </a:prstGeom>
          <a:solidFill>
            <a:srgbClr val="122840"/>
          </a:solidFill>
          <a:ln>
            <a:noFill/>
          </a:ln>
        </p:spPr>
        <p:txBody>
          <a:bodyPr/>
          <a:lstStyle/>
          <a:p/>
        </p:txBody>
      </p:sp>
      <p:sp>
        <p:nvSpPr>
          <p:cNvPr id="45" name="TRT04"/>
          <p:cNvSpPr txBox="1">
            <a:spLocks noGrp="1"/>
          </p:cNvSpPr>
          <p:nvPr/>
        </p:nvSpPr>
        <p:spPr>
          <a:xfrm>
            <a:off x="8741664" y="3145536"/>
            <a:ext cx="1883664" cy="402336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300" b="0" dirty="0">
                <a:solidFill>
                  <a:srgbClr val="E05C5C"/>
                </a:solidFill>
                <a:latin typeface="Calibri"/>
                <a:cs typeface="Nirmala UI"/>
              </a:rPr>
              <a:t>~43%</a:t>
            </a:r>
          </a:p>
        </p:txBody>
      </p:sp>
      <p:sp>
        <p:nvSpPr>
          <p:cNvPr id="46" name="TR10"/>
          <p:cNvSpPr>
            <a:spLocks noGrp="1"/>
          </p:cNvSpPr>
          <p:nvPr/>
        </p:nvSpPr>
        <p:spPr>
          <a:xfrm>
            <a:off x="274320" y="3566160"/>
            <a:ext cx="3108960" cy="493776"/>
          </a:xfrm>
          <a:prstGeom prst="rect">
            <a:avLst/>
          </a:prstGeom>
          <a:solidFill>
            <a:srgbClr val="0D1B2E"/>
          </a:solidFill>
          <a:ln>
            <a:noFill/>
          </a:ln>
        </p:spPr>
        <p:txBody>
          <a:bodyPr/>
          <a:lstStyle/>
          <a:p/>
        </p:txBody>
      </p:sp>
      <p:sp>
        <p:nvSpPr>
          <p:cNvPr id="47" name="TRT10"/>
          <p:cNvSpPr txBox="1">
            <a:spLocks noGrp="1"/>
          </p:cNvSpPr>
          <p:nvPr/>
        </p:nvSpPr>
        <p:spPr>
          <a:xfrm>
            <a:off x="347472" y="3639312"/>
            <a:ext cx="2999232" cy="402336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n-IN" sz="1260" b="0" dirty="0">
                <a:solidFill>
                  <a:srgbClr val="D0E4F7"/>
                </a:solidFill>
                <a:latin typeface="Calibri"/>
                <a:cs typeface="Nirmala UI"/>
              </a:rPr>
              <a:t>Phase 2: Embedding Similarity Only</a:t>
            </a:r>
          </a:p>
        </p:txBody>
      </p:sp>
      <p:sp>
        <p:nvSpPr>
          <p:cNvPr id="48" name="TR11"/>
          <p:cNvSpPr>
            <a:spLocks noGrp="1"/>
          </p:cNvSpPr>
          <p:nvPr/>
        </p:nvSpPr>
        <p:spPr>
          <a:xfrm>
            <a:off x="3456432" y="3566160"/>
            <a:ext cx="1664208" cy="493776"/>
          </a:xfrm>
          <a:prstGeom prst="rect">
            <a:avLst/>
          </a:prstGeom>
          <a:solidFill>
            <a:srgbClr val="0D1B2E"/>
          </a:solidFill>
          <a:ln>
            <a:noFill/>
          </a:ln>
        </p:spPr>
        <p:txBody>
          <a:bodyPr/>
          <a:lstStyle/>
          <a:p/>
        </p:txBody>
      </p:sp>
      <p:sp>
        <p:nvSpPr>
          <p:cNvPr id="49" name="TRT11"/>
          <p:cNvSpPr txBox="1">
            <a:spLocks noGrp="1"/>
          </p:cNvSpPr>
          <p:nvPr/>
        </p:nvSpPr>
        <p:spPr>
          <a:xfrm>
            <a:off x="3529584" y="3639312"/>
            <a:ext cx="1554480" cy="402336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300" b="0" dirty="0">
                <a:solidFill>
                  <a:srgbClr val="8AAEC8"/>
                </a:solidFill>
                <a:latin typeface="Calibri"/>
                <a:cs typeface="Nirmala UI"/>
              </a:rPr>
              <a:t>~68%</a:t>
            </a:r>
          </a:p>
        </p:txBody>
      </p:sp>
      <p:sp>
        <p:nvSpPr>
          <p:cNvPr id="50" name="TR12"/>
          <p:cNvSpPr>
            <a:spLocks noGrp="1"/>
          </p:cNvSpPr>
          <p:nvPr/>
        </p:nvSpPr>
        <p:spPr>
          <a:xfrm>
            <a:off x="5193792" y="3566160"/>
            <a:ext cx="1664208" cy="493776"/>
          </a:xfrm>
          <a:prstGeom prst="rect">
            <a:avLst/>
          </a:prstGeom>
          <a:solidFill>
            <a:srgbClr val="0D1B2E"/>
          </a:solidFill>
          <a:ln>
            <a:noFill/>
          </a:ln>
        </p:spPr>
        <p:txBody>
          <a:bodyPr/>
          <a:lstStyle/>
          <a:p/>
        </p:txBody>
      </p:sp>
      <p:sp>
        <p:nvSpPr>
          <p:cNvPr id="51" name="TRT12"/>
          <p:cNvSpPr txBox="1">
            <a:spLocks noGrp="1"/>
          </p:cNvSpPr>
          <p:nvPr/>
        </p:nvSpPr>
        <p:spPr>
          <a:xfrm>
            <a:off x="5266944" y="3639312"/>
            <a:ext cx="1554480" cy="402336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300" b="0" dirty="0">
                <a:solidFill>
                  <a:srgbClr val="8AAEC8"/>
                </a:solidFill>
                <a:latin typeface="Calibri"/>
                <a:cs typeface="Nirmala UI"/>
              </a:rPr>
              <a:t>~74%</a:t>
            </a:r>
          </a:p>
        </p:txBody>
      </p:sp>
      <p:sp>
        <p:nvSpPr>
          <p:cNvPr id="52" name="TR13"/>
          <p:cNvSpPr>
            <a:spLocks noGrp="1"/>
          </p:cNvSpPr>
          <p:nvPr/>
        </p:nvSpPr>
        <p:spPr>
          <a:xfrm>
            <a:off x="6931152" y="3566160"/>
            <a:ext cx="1664208" cy="493776"/>
          </a:xfrm>
          <a:prstGeom prst="rect">
            <a:avLst/>
          </a:prstGeom>
          <a:solidFill>
            <a:srgbClr val="0D1B2E"/>
          </a:solidFill>
          <a:ln>
            <a:noFill/>
          </a:ln>
        </p:spPr>
        <p:txBody>
          <a:bodyPr/>
          <a:lstStyle/>
          <a:p/>
        </p:txBody>
      </p:sp>
      <p:sp>
        <p:nvSpPr>
          <p:cNvPr id="53" name="TRT13"/>
          <p:cNvSpPr txBox="1">
            <a:spLocks noGrp="1"/>
          </p:cNvSpPr>
          <p:nvPr/>
        </p:nvSpPr>
        <p:spPr>
          <a:xfrm>
            <a:off x="7004304" y="3639312"/>
            <a:ext cx="1554480" cy="402336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300" b="0" dirty="0">
                <a:solidFill>
                  <a:srgbClr val="8AAEC8"/>
                </a:solidFill>
                <a:latin typeface="Calibri"/>
                <a:cs typeface="Nirmala UI"/>
              </a:rPr>
              <a:t>~71%</a:t>
            </a:r>
          </a:p>
        </p:txBody>
      </p:sp>
      <p:sp>
        <p:nvSpPr>
          <p:cNvPr id="54" name="TR14"/>
          <p:cNvSpPr>
            <a:spLocks noGrp="1"/>
          </p:cNvSpPr>
          <p:nvPr/>
        </p:nvSpPr>
        <p:spPr>
          <a:xfrm>
            <a:off x="8668512" y="3566160"/>
            <a:ext cx="1993392" cy="493776"/>
          </a:xfrm>
          <a:prstGeom prst="rect">
            <a:avLst/>
          </a:prstGeom>
          <a:solidFill>
            <a:srgbClr val="0D1B2E"/>
          </a:solidFill>
          <a:ln>
            <a:noFill/>
          </a:ln>
        </p:spPr>
        <p:txBody>
          <a:bodyPr/>
          <a:lstStyle/>
          <a:p/>
        </p:txBody>
      </p:sp>
      <p:sp>
        <p:nvSpPr>
          <p:cNvPr id="55" name="TRT14"/>
          <p:cNvSpPr txBox="1">
            <a:spLocks noGrp="1"/>
          </p:cNvSpPr>
          <p:nvPr/>
        </p:nvSpPr>
        <p:spPr>
          <a:xfrm>
            <a:off x="8741664" y="3639312"/>
            <a:ext cx="1883664" cy="402336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300" b="0" dirty="0">
                <a:solidFill>
                  <a:srgbClr val="8AAEC8"/>
                </a:solidFill>
                <a:latin typeface="Calibri"/>
                <a:cs typeface="Nirmala UI"/>
              </a:rPr>
              <a:t>~71%</a:t>
            </a:r>
          </a:p>
        </p:txBody>
      </p:sp>
      <p:sp>
        <p:nvSpPr>
          <p:cNvPr id="56" name="TR20"/>
          <p:cNvSpPr>
            <a:spLocks noGrp="1"/>
          </p:cNvSpPr>
          <p:nvPr/>
        </p:nvSpPr>
        <p:spPr>
          <a:xfrm>
            <a:off x="274320" y="4059936"/>
            <a:ext cx="3108960" cy="493776"/>
          </a:xfrm>
          <a:prstGeom prst="rect">
            <a:avLst/>
          </a:prstGeom>
          <a:solidFill>
            <a:srgbClr val="122840"/>
          </a:solidFill>
          <a:ln>
            <a:noFill/>
          </a:ln>
        </p:spPr>
        <p:txBody>
          <a:bodyPr/>
          <a:lstStyle/>
          <a:p/>
        </p:txBody>
      </p:sp>
      <p:sp>
        <p:nvSpPr>
          <p:cNvPr id="57" name="TRT20"/>
          <p:cNvSpPr txBox="1">
            <a:spLocks noGrp="1"/>
          </p:cNvSpPr>
          <p:nvPr/>
        </p:nvSpPr>
        <p:spPr>
          <a:xfrm>
            <a:off x="347472" y="4133088"/>
            <a:ext cx="2999232" cy="402336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n-IN" sz="1260" b="0" dirty="0">
                <a:solidFill>
                  <a:srgbClr val="D0E4F7"/>
                </a:solidFill>
                <a:latin typeface="Calibri"/>
                <a:cs typeface="Nirmala UI"/>
              </a:rPr>
              <a:t>Phase 2: Embeddings + Distance Feature</a:t>
            </a:r>
          </a:p>
        </p:txBody>
      </p:sp>
      <p:sp>
        <p:nvSpPr>
          <p:cNvPr id="58" name="TR21"/>
          <p:cNvSpPr>
            <a:spLocks noGrp="1"/>
          </p:cNvSpPr>
          <p:nvPr/>
        </p:nvSpPr>
        <p:spPr>
          <a:xfrm>
            <a:off x="3456432" y="4059936"/>
            <a:ext cx="1664208" cy="493776"/>
          </a:xfrm>
          <a:prstGeom prst="rect">
            <a:avLst/>
          </a:prstGeom>
          <a:solidFill>
            <a:srgbClr val="122840"/>
          </a:solidFill>
          <a:ln>
            <a:noFill/>
          </a:ln>
        </p:spPr>
        <p:txBody>
          <a:bodyPr/>
          <a:lstStyle/>
          <a:p/>
        </p:txBody>
      </p:sp>
      <p:sp>
        <p:nvSpPr>
          <p:cNvPr id="59" name="TRT21"/>
          <p:cNvSpPr txBox="1">
            <a:spLocks noGrp="1"/>
          </p:cNvSpPr>
          <p:nvPr/>
        </p:nvSpPr>
        <p:spPr>
          <a:xfrm>
            <a:off x="3529584" y="4133088"/>
            <a:ext cx="1554480" cy="402336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300" b="0" dirty="0">
                <a:solidFill>
                  <a:srgbClr val="D0E4F7"/>
                </a:solidFill>
                <a:latin typeface="Calibri"/>
                <a:cs typeface="Nirmala UI"/>
              </a:rPr>
              <a:t>~73%</a:t>
            </a:r>
          </a:p>
        </p:txBody>
      </p:sp>
      <p:sp>
        <p:nvSpPr>
          <p:cNvPr id="60" name="TR22"/>
          <p:cNvSpPr>
            <a:spLocks noGrp="1"/>
          </p:cNvSpPr>
          <p:nvPr/>
        </p:nvSpPr>
        <p:spPr>
          <a:xfrm>
            <a:off x="5193792" y="4059936"/>
            <a:ext cx="1664208" cy="493776"/>
          </a:xfrm>
          <a:prstGeom prst="rect">
            <a:avLst/>
          </a:prstGeom>
          <a:solidFill>
            <a:srgbClr val="122840"/>
          </a:solidFill>
          <a:ln>
            <a:noFill/>
          </a:ln>
        </p:spPr>
        <p:txBody>
          <a:bodyPr/>
          <a:lstStyle/>
          <a:p/>
        </p:txBody>
      </p:sp>
      <p:sp>
        <p:nvSpPr>
          <p:cNvPr id="61" name="TRT22"/>
          <p:cNvSpPr txBox="1">
            <a:spLocks noGrp="1"/>
          </p:cNvSpPr>
          <p:nvPr/>
        </p:nvSpPr>
        <p:spPr>
          <a:xfrm>
            <a:off x="5266944" y="4133088"/>
            <a:ext cx="1554480" cy="402336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300" b="0" dirty="0">
                <a:solidFill>
                  <a:srgbClr val="D0E4F7"/>
                </a:solidFill>
                <a:latin typeface="Calibri"/>
                <a:cs typeface="Nirmala UI"/>
              </a:rPr>
              <a:t>~77%</a:t>
            </a:r>
          </a:p>
        </p:txBody>
      </p:sp>
      <p:sp>
        <p:nvSpPr>
          <p:cNvPr id="62" name="TR23"/>
          <p:cNvSpPr>
            <a:spLocks noGrp="1"/>
          </p:cNvSpPr>
          <p:nvPr/>
        </p:nvSpPr>
        <p:spPr>
          <a:xfrm>
            <a:off x="6931152" y="4059936"/>
            <a:ext cx="1664208" cy="493776"/>
          </a:xfrm>
          <a:prstGeom prst="rect">
            <a:avLst/>
          </a:prstGeom>
          <a:solidFill>
            <a:srgbClr val="122840"/>
          </a:solidFill>
          <a:ln>
            <a:noFill/>
          </a:ln>
        </p:spPr>
        <p:txBody>
          <a:bodyPr/>
          <a:lstStyle/>
          <a:p/>
        </p:txBody>
      </p:sp>
      <p:sp>
        <p:nvSpPr>
          <p:cNvPr id="63" name="TRT23"/>
          <p:cNvSpPr txBox="1">
            <a:spLocks noGrp="1"/>
          </p:cNvSpPr>
          <p:nvPr/>
        </p:nvSpPr>
        <p:spPr>
          <a:xfrm>
            <a:off x="7004304" y="4133088"/>
            <a:ext cx="1554480" cy="402336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300" b="0" dirty="0">
                <a:solidFill>
                  <a:srgbClr val="D0E4F7"/>
                </a:solidFill>
                <a:latin typeface="Calibri"/>
                <a:cs typeface="Nirmala UI"/>
              </a:rPr>
              <a:t>~75%</a:t>
            </a:r>
          </a:p>
        </p:txBody>
      </p:sp>
      <p:sp>
        <p:nvSpPr>
          <p:cNvPr id="64" name="TR24"/>
          <p:cNvSpPr>
            <a:spLocks noGrp="1"/>
          </p:cNvSpPr>
          <p:nvPr/>
        </p:nvSpPr>
        <p:spPr>
          <a:xfrm>
            <a:off x="8668512" y="4059936"/>
            <a:ext cx="1993392" cy="493776"/>
          </a:xfrm>
          <a:prstGeom prst="rect">
            <a:avLst/>
          </a:prstGeom>
          <a:solidFill>
            <a:srgbClr val="122840"/>
          </a:solidFill>
          <a:ln>
            <a:noFill/>
          </a:ln>
        </p:spPr>
        <p:txBody>
          <a:bodyPr/>
          <a:lstStyle/>
          <a:p/>
        </p:txBody>
      </p:sp>
      <p:sp>
        <p:nvSpPr>
          <p:cNvPr id="65" name="TRT24"/>
          <p:cNvSpPr txBox="1">
            <a:spLocks noGrp="1"/>
          </p:cNvSpPr>
          <p:nvPr/>
        </p:nvSpPr>
        <p:spPr>
          <a:xfrm>
            <a:off x="8741664" y="4133088"/>
            <a:ext cx="1883664" cy="402336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300" b="0" dirty="0">
                <a:solidFill>
                  <a:srgbClr val="D0E4F7"/>
                </a:solidFill>
                <a:latin typeface="Calibri"/>
                <a:cs typeface="Nirmala UI"/>
              </a:rPr>
              <a:t>~75%</a:t>
            </a:r>
          </a:p>
        </p:txBody>
      </p:sp>
      <p:sp>
        <p:nvSpPr>
          <p:cNvPr id="66" name="TR30"/>
          <p:cNvSpPr>
            <a:spLocks noGrp="1"/>
          </p:cNvSpPr>
          <p:nvPr/>
        </p:nvSpPr>
        <p:spPr>
          <a:xfrm>
            <a:off x="274320" y="4553712"/>
            <a:ext cx="3108960" cy="493776"/>
          </a:xfrm>
          <a:prstGeom prst="rect">
            <a:avLst/>
          </a:prstGeom>
          <a:solidFill>
            <a:srgbClr val="1A2E4A"/>
          </a:solidFill>
          <a:ln w="8000">
            <a:solidFill>
              <a:srgbClr val="F5A623"/>
            </a:solidFill>
          </a:ln>
        </p:spPr>
        <p:txBody>
          <a:bodyPr/>
          <a:lstStyle/>
          <a:p/>
        </p:txBody>
      </p:sp>
      <p:sp>
        <p:nvSpPr>
          <p:cNvPr id="67" name="TRT30"/>
          <p:cNvSpPr txBox="1">
            <a:spLocks noGrp="1"/>
          </p:cNvSpPr>
          <p:nvPr/>
        </p:nvSpPr>
        <p:spPr>
          <a:xfrm>
            <a:off x="347472" y="4626864"/>
            <a:ext cx="2999232" cy="402336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n-IN" sz="1260" b="1" dirty="0">
                <a:solidFill>
                  <a:srgbClr val="FFFFFF"/>
                </a:solidFill>
                <a:latin typeface="Calibri"/>
                <a:cs typeface="Nirmala UI"/>
              </a:rPr>
              <a:t>Phase 2: Full Hybrid (All Features)</a:t>
            </a:r>
          </a:p>
        </p:txBody>
      </p:sp>
      <p:sp>
        <p:nvSpPr>
          <p:cNvPr id="68" name="TR31"/>
          <p:cNvSpPr>
            <a:spLocks noGrp="1"/>
          </p:cNvSpPr>
          <p:nvPr/>
        </p:nvSpPr>
        <p:spPr>
          <a:xfrm>
            <a:off x="3456432" y="4553712"/>
            <a:ext cx="1664208" cy="493776"/>
          </a:xfrm>
          <a:prstGeom prst="rect">
            <a:avLst/>
          </a:prstGeom>
          <a:solidFill>
            <a:srgbClr val="1A2E4A"/>
          </a:solidFill>
          <a:ln w="8000">
            <a:solidFill>
              <a:srgbClr val="F5A623"/>
            </a:solidFill>
          </a:ln>
        </p:spPr>
        <p:txBody>
          <a:bodyPr/>
          <a:lstStyle/>
          <a:p/>
        </p:txBody>
      </p:sp>
      <p:sp>
        <p:nvSpPr>
          <p:cNvPr id="69" name="TRT31"/>
          <p:cNvSpPr txBox="1">
            <a:spLocks noGrp="1"/>
          </p:cNvSpPr>
          <p:nvPr/>
        </p:nvSpPr>
        <p:spPr>
          <a:xfrm>
            <a:off x="3529584" y="4626864"/>
            <a:ext cx="1554480" cy="402336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300" b="1" dirty="0">
                <a:solidFill>
                  <a:srgbClr val="00C9B1"/>
                </a:solidFill>
                <a:latin typeface="Calibri"/>
                <a:cs typeface="Nirmala UI"/>
              </a:rPr>
              <a:t>~80%</a:t>
            </a:r>
          </a:p>
        </p:txBody>
      </p:sp>
      <p:sp>
        <p:nvSpPr>
          <p:cNvPr id="70" name="TR32"/>
          <p:cNvSpPr>
            <a:spLocks noGrp="1"/>
          </p:cNvSpPr>
          <p:nvPr/>
        </p:nvSpPr>
        <p:spPr>
          <a:xfrm>
            <a:off x="5193792" y="4553712"/>
            <a:ext cx="1664208" cy="493776"/>
          </a:xfrm>
          <a:prstGeom prst="rect">
            <a:avLst/>
          </a:prstGeom>
          <a:solidFill>
            <a:srgbClr val="1A2E4A"/>
          </a:solidFill>
          <a:ln w="8000">
            <a:solidFill>
              <a:srgbClr val="F5A623"/>
            </a:solidFill>
          </a:ln>
        </p:spPr>
        <p:txBody>
          <a:bodyPr/>
          <a:lstStyle/>
          <a:p/>
        </p:txBody>
      </p:sp>
      <p:sp>
        <p:nvSpPr>
          <p:cNvPr id="71" name="TRT32"/>
          <p:cNvSpPr txBox="1">
            <a:spLocks noGrp="1"/>
          </p:cNvSpPr>
          <p:nvPr/>
        </p:nvSpPr>
        <p:spPr>
          <a:xfrm>
            <a:off x="5266944" y="4626864"/>
            <a:ext cx="1554480" cy="402336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300" b="1" dirty="0">
                <a:solidFill>
                  <a:srgbClr val="00C9B1"/>
                </a:solidFill>
                <a:latin typeface="Calibri"/>
                <a:cs typeface="Nirmala UI"/>
              </a:rPr>
              <a:t>~84%</a:t>
            </a:r>
          </a:p>
        </p:txBody>
      </p:sp>
      <p:sp>
        <p:nvSpPr>
          <p:cNvPr id="72" name="TR33"/>
          <p:cNvSpPr>
            <a:spLocks noGrp="1"/>
          </p:cNvSpPr>
          <p:nvPr/>
        </p:nvSpPr>
        <p:spPr>
          <a:xfrm>
            <a:off x="6931152" y="4553712"/>
            <a:ext cx="1664208" cy="493776"/>
          </a:xfrm>
          <a:prstGeom prst="rect">
            <a:avLst/>
          </a:prstGeom>
          <a:solidFill>
            <a:srgbClr val="1A2E4A"/>
          </a:solidFill>
          <a:ln w="8000">
            <a:solidFill>
              <a:srgbClr val="F5A623"/>
            </a:solidFill>
          </a:ln>
        </p:spPr>
        <p:txBody>
          <a:bodyPr/>
          <a:lstStyle/>
          <a:p/>
        </p:txBody>
      </p:sp>
      <p:sp>
        <p:nvSpPr>
          <p:cNvPr id="73" name="TRT33"/>
          <p:cNvSpPr txBox="1">
            <a:spLocks noGrp="1"/>
          </p:cNvSpPr>
          <p:nvPr/>
        </p:nvSpPr>
        <p:spPr>
          <a:xfrm>
            <a:off x="7004304" y="4626864"/>
            <a:ext cx="1554480" cy="402336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300" b="1" dirty="0">
                <a:solidFill>
                  <a:srgbClr val="00C9B1"/>
                </a:solidFill>
                <a:latin typeface="Calibri"/>
                <a:cs typeface="Nirmala UI"/>
              </a:rPr>
              <a:t>~82%</a:t>
            </a:r>
          </a:p>
        </p:txBody>
      </p:sp>
      <p:sp>
        <p:nvSpPr>
          <p:cNvPr id="74" name="TR34"/>
          <p:cNvSpPr>
            <a:spLocks noGrp="1"/>
          </p:cNvSpPr>
          <p:nvPr/>
        </p:nvSpPr>
        <p:spPr>
          <a:xfrm>
            <a:off x="8668512" y="4553712"/>
            <a:ext cx="1993392" cy="493776"/>
          </a:xfrm>
          <a:prstGeom prst="rect">
            <a:avLst/>
          </a:prstGeom>
          <a:solidFill>
            <a:srgbClr val="1A2E4A"/>
          </a:solidFill>
          <a:ln w="8000">
            <a:solidFill>
              <a:srgbClr val="F5A623"/>
            </a:solidFill>
          </a:ln>
        </p:spPr>
        <p:txBody>
          <a:bodyPr/>
          <a:lstStyle/>
          <a:p/>
        </p:txBody>
      </p:sp>
      <p:sp>
        <p:nvSpPr>
          <p:cNvPr id="75" name="TRT34"/>
          <p:cNvSpPr txBox="1">
            <a:spLocks noGrp="1"/>
          </p:cNvSpPr>
          <p:nvPr/>
        </p:nvSpPr>
        <p:spPr>
          <a:xfrm>
            <a:off x="8741664" y="4626864"/>
            <a:ext cx="1883664" cy="402336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300" b="1" dirty="0">
                <a:solidFill>
                  <a:srgbClr val="00C9B1"/>
                </a:solidFill>
                <a:latin typeface="Calibri"/>
                <a:cs typeface="Nirmala UI"/>
              </a:rPr>
              <a:t>~82%</a:t>
            </a:r>
          </a:p>
        </p:txBody>
      </p:sp>
      <p:sp>
        <p:nvSpPr>
          <p:cNvPr id="76" name="TrNote"/>
          <p:cNvSpPr txBox="1">
            <a:spLocks noGrp="1"/>
          </p:cNvSpPr>
          <p:nvPr/>
        </p:nvSpPr>
        <p:spPr>
          <a:xfrm>
            <a:off x="274320" y="6053328"/>
            <a:ext cx="11643360" cy="34747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180" b="0" dirty="0">
                <a:solidFill>
                  <a:srgbClr val="8AAEC8"/>
                </a:solidFill>
                <a:latin typeface="Calibri"/>
                <a:cs typeface="Nirmala UI"/>
              </a:rPr>
              <a:t>Training: 80/20 split of 2,270 annotated pairs. 5-fold cross-validation. Logistic Regression C=1.0, max_iter=500, class_weight='balanced'.</a:t>
            </a:r>
          </a:p>
        </p:txBody>
      </p:sp>
      <p:sp>
        <p:nvSpPr>
          <p:cNvPr id="77" name="FB"/>
          <p:cNvSpPr>
            <a:spLocks noGrp="1"/>
          </p:cNvSpPr>
          <p:nvPr/>
        </p:nvSpPr>
        <p:spPr>
          <a:xfrm>
            <a:off x="0" y="6473952"/>
            <a:ext cx="12192000" cy="384048"/>
          </a:xfrm>
          <a:prstGeom prst="rect">
            <a:avLst/>
          </a:prstGeom>
          <a:solidFill>
            <a:srgbClr val="112238"/>
          </a:solidFill>
          <a:ln>
            <a:noFill/>
          </a:ln>
        </p:spPr>
        <p:txBody>
          <a:bodyPr/>
          <a:lstStyle/>
          <a:p/>
        </p:txBody>
      </p:sp>
      <p:sp>
        <p:nvSpPr>
          <p:cNvPr id="78" name="FL"/>
          <p:cNvSpPr>
            <a:spLocks noGrp="1"/>
          </p:cNvSpPr>
          <p:nvPr/>
        </p:nvSpPr>
        <p:spPr>
          <a:xfrm>
            <a:off x="0" y="6473952"/>
            <a:ext cx="12192000" cy="36576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txBody>
          <a:bodyPr/>
          <a:lstStyle/>
          <a:p/>
        </p:txBody>
      </p:sp>
      <p:sp>
        <p:nvSpPr>
          <p:cNvPr id="79" name="FL2"/>
          <p:cNvSpPr txBox="1">
            <a:spLocks noGrp="1"/>
          </p:cNvSpPr>
          <p:nvPr/>
        </p:nvSpPr>
        <p:spPr>
          <a:xfrm>
            <a:off x="274320" y="6510528"/>
            <a:ext cx="5486400" cy="310896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n-IN" sz="950" b="0" dirty="0">
                <a:solidFill>
                  <a:srgbClr val="8AAEC8"/>
                </a:solidFill>
                <a:latin typeface="Calibri"/>
                <a:cs typeface="Nirmala UI"/>
              </a:rPr>
              <a:t>Hindi Coreference Resolution  |  CIT Kokrajhar</a:t>
            </a:r>
          </a:p>
        </p:txBody>
      </p:sp>
      <p:sp>
        <p:nvSpPr>
          <p:cNvPr id="80" name="FR"/>
          <p:cNvSpPr txBox="1">
            <a:spLocks noGrp="1"/>
          </p:cNvSpPr>
          <p:nvPr/>
        </p:nvSpPr>
        <p:spPr>
          <a:xfrm>
            <a:off x="7772400" y="6510528"/>
            <a:ext cx="3200400" cy="310896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/>
            <a:r>
              <a:rPr lang="en-IN" sz="950" b="0" dirty="0">
                <a:solidFill>
                  <a:srgbClr val="8AAEC8"/>
                </a:solidFill>
                <a:latin typeface="Calibri"/>
                <a:cs typeface="Nirmala UI"/>
              </a:rPr>
              <a:t>B.Tech Project  |  2026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10" name="TopBar"/>
          <p:cNvSpPr>
            <a:spLocks noGrp="1"/>
          </p:cNvSpPr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12238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AccLine"/>
          <p:cNvSpPr>
            <a:spLocks noGrp="1"/>
          </p:cNvSpPr>
          <p:nvPr/>
        </p:nvSpPr>
        <p:spPr>
          <a:xfrm>
            <a:off x="0" y="1097280"/>
            <a:ext cx="12192000" cy="54864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itle"/>
          <p:cNvSpPr txBox="1">
            <a:spLocks noGrp="1"/>
          </p:cNvSpPr>
          <p:nvPr/>
        </p:nvSpPr>
        <p:spPr>
          <a:xfrm>
            <a:off x="365760" y="91440"/>
            <a:ext cx="10424160" cy="7772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n-IN" sz="2800" b="1" dirty="0">
                <a:solidFill>
                  <a:srgbClr val="FFFFFF"/>
                </a:solidFill>
                <a:latin typeface="Calibri"/>
                <a:cs typeface="Nirmala UI"/>
              </a:rPr>
              <a:t>Example Output</a:t>
            </a:r>
          </a:p>
        </p:txBody>
      </p:sp>
      <p:sp>
        <p:nvSpPr>
          <p:cNvPr id="13" name="Sub"/>
          <p:cNvSpPr txBox="1">
            <a:spLocks noGrp="1"/>
          </p:cNvSpPr>
          <p:nvPr/>
        </p:nvSpPr>
        <p:spPr>
          <a:xfrm>
            <a:off x="365760" y="749808"/>
            <a:ext cx="9144000" cy="38404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n-IN" sz="1300" b="0" dirty="0">
                <a:solidFill>
                  <a:srgbClr val="00C9B1"/>
                </a:solidFill>
                <a:latin typeface="Calibri"/>
                <a:cs typeface="Nirmala UI"/>
              </a:rPr>
              <a:t>Step-by-step walkthrough of Phase 2 system on real Hindi text</a:t>
            </a:r>
          </a:p>
        </p:txBody>
      </p:sp>
      <p:sp>
        <p:nvSpPr>
          <p:cNvPr id="14" name="InpBox"/>
          <p:cNvSpPr>
            <a:spLocks noGrp="1"/>
          </p:cNvSpPr>
          <p:nvPr/>
        </p:nvSpPr>
        <p:spPr>
          <a:xfrm>
            <a:off x="274320" y="1261872"/>
            <a:ext cx="10515600" cy="868680"/>
          </a:xfrm>
          <a:prstGeom prst="roundRect">
            <a:avLst>
              <a:gd name="adj" fmla="val 16667"/>
            </a:avLst>
          </a:prstGeom>
          <a:solidFill>
            <a:srgbClr val="0A1F38"/>
          </a:solidFill>
          <a:ln w="14000">
            <a:solidFill>
              <a:srgbClr val="00C9B1"/>
            </a:solidFill>
          </a:ln>
        </p:spPr>
        <p:txBody>
          <a:bodyPr/>
          <a:lstStyle/>
          <a:p/>
        </p:txBody>
      </p:sp>
      <p:sp>
        <p:nvSpPr>
          <p:cNvPr id="15" name="InpL"/>
          <p:cNvSpPr txBox="1">
            <a:spLocks noGrp="1"/>
          </p:cNvSpPr>
          <p:nvPr/>
        </p:nvSpPr>
        <p:spPr>
          <a:xfrm>
            <a:off x="457200" y="1298448"/>
            <a:ext cx="1828800" cy="310896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n-IN" sz="1100" b="1" dirty="0">
                <a:solidFill>
                  <a:srgbClr val="00C9B1"/>
                </a:solidFill>
                <a:latin typeface="Calibri"/>
                <a:cs typeface="Nirmala UI"/>
              </a:rPr>
              <a:t>INPUT TEXT:</a:t>
            </a:r>
          </a:p>
        </p:txBody>
      </p:sp>
      <p:sp>
        <p:nvSpPr>
          <p:cNvPr id="16" name="InpT"/>
          <p:cNvSpPr txBox="1">
            <a:spLocks noGrp="1"/>
          </p:cNvSpPr>
          <p:nvPr/>
        </p:nvSpPr>
        <p:spPr>
          <a:xfrm>
            <a:off x="457200" y="1627632"/>
            <a:ext cx="10149840" cy="43891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580" b="0" dirty="0">
                <a:solidFill>
                  <a:srgbClr val="FFFFFF"/>
                </a:solidFill>
                <a:latin typeface="Calibri"/>
                <a:cs typeface="Nirmala UI"/>
              </a:rPr>
              <a:t>'राम विद्यालय गया।  वह बहुत प्रसन्न था।  उसने अपने मित्रों से बात की।'</a:t>
            </a:r>
          </a:p>
        </p:txBody>
      </p:sp>
      <p:sp>
        <p:nvSpPr>
          <p:cNvPr id="17" name="MH"/>
          <p:cNvSpPr txBox="1">
            <a:spLocks noGrp="1"/>
          </p:cNvSpPr>
          <p:nvPr/>
        </p:nvSpPr>
        <p:spPr>
          <a:xfrm>
            <a:off x="274320" y="2286000"/>
            <a:ext cx="11643360" cy="34747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350" b="1" dirty="0">
                <a:solidFill>
                  <a:srgbClr val="F5A623"/>
                </a:solidFill>
                <a:latin typeface="Calibri"/>
                <a:cs typeface="Nirmala UI"/>
              </a:rPr>
              <a:t>STEP 1 — Mention Identification  →  3 mentions detected in input</a:t>
            </a:r>
          </a:p>
        </p:txBody>
      </p:sp>
      <p:sp>
        <p:nvSpPr>
          <p:cNvPr id="18" name="MB0"/>
          <p:cNvSpPr>
            <a:spLocks noGrp="1"/>
          </p:cNvSpPr>
          <p:nvPr/>
        </p:nvSpPr>
        <p:spPr>
          <a:xfrm>
            <a:off x="274320" y="2743200"/>
            <a:ext cx="3017520" cy="1280160"/>
          </a:xfrm>
          <a:prstGeom prst="roundRect">
            <a:avLst>
              <a:gd name="adj" fmla="val 12000"/>
            </a:avLst>
          </a:prstGeom>
          <a:solidFill>
            <a:srgbClr val="0D1B2E"/>
          </a:solidFill>
          <a:ln w="16000">
            <a:solidFill>
              <a:srgbClr val="00C9B1"/>
            </a:solidFill>
          </a:ln>
        </p:spPr>
        <p:txBody>
          <a:bodyPr/>
          <a:lstStyle/>
          <a:p/>
        </p:txBody>
      </p:sp>
      <p:sp>
        <p:nvSpPr>
          <p:cNvPr id="19" name="MW0"/>
          <p:cNvSpPr txBox="1">
            <a:spLocks noGrp="1"/>
          </p:cNvSpPr>
          <p:nvPr/>
        </p:nvSpPr>
        <p:spPr>
          <a:xfrm>
            <a:off x="274320" y="2816352"/>
            <a:ext cx="3017520" cy="53035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2600" b="1" dirty="0">
                <a:solidFill>
                  <a:srgbClr val="00C9B1"/>
                </a:solidFill>
                <a:latin typeface="Calibri"/>
                <a:cs typeface="Nirmala UI"/>
              </a:rPr>
              <a:t>राम</a:t>
            </a:r>
          </a:p>
        </p:txBody>
      </p:sp>
      <p:sp>
        <p:nvSpPr>
          <p:cNvPr id="20" name="MS0"/>
          <p:cNvSpPr txBox="1">
            <a:spLocks noGrp="1"/>
          </p:cNvSpPr>
          <p:nvPr/>
        </p:nvSpPr>
        <p:spPr>
          <a:xfrm>
            <a:off x="274320" y="3364992"/>
            <a:ext cx="3017520" cy="25603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100" b="0" dirty="0">
                <a:solidFill>
                  <a:srgbClr val="8AAEC8"/>
                </a:solidFill>
                <a:latin typeface="Calibri"/>
                <a:cs typeface="Nirmala UI"/>
              </a:rPr>
              <a:t>M1  (Span 0–0)</a:t>
            </a:r>
          </a:p>
        </p:txBody>
      </p:sp>
      <p:sp>
        <p:nvSpPr>
          <p:cNvPr id="21" name="MT0"/>
          <p:cNvSpPr txBox="1">
            <a:spLocks noGrp="1"/>
          </p:cNvSpPr>
          <p:nvPr/>
        </p:nvSpPr>
        <p:spPr>
          <a:xfrm>
            <a:off x="274320" y="3621024"/>
            <a:ext cx="3017520" cy="25603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180" b="1" dirty="0">
                <a:solidFill>
                  <a:srgbClr val="00C9B1"/>
                </a:solidFill>
                <a:latin typeface="Calibri"/>
                <a:cs typeface="Nirmala UI"/>
              </a:rPr>
              <a:t>Proper Noun</a:t>
            </a:r>
          </a:p>
        </p:txBody>
      </p:sp>
      <p:sp>
        <p:nvSpPr>
          <p:cNvPr id="22" name="MN0"/>
          <p:cNvSpPr txBox="1">
            <a:spLocks noGrp="1"/>
          </p:cNvSpPr>
          <p:nvPr/>
        </p:nvSpPr>
        <p:spPr>
          <a:xfrm>
            <a:off x="274320" y="3840480"/>
            <a:ext cx="3017520" cy="219456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050" b="0" dirty="0">
                <a:solidFill>
                  <a:srgbClr val="8AAEC8"/>
                </a:solidFill>
                <a:latin typeface="Calibri"/>
                <a:cs typeface="Nirmala UI"/>
              </a:rPr>
              <a:t>3rd-person masculine singular</a:t>
            </a:r>
          </a:p>
        </p:txBody>
      </p:sp>
      <p:sp>
        <p:nvSpPr>
          <p:cNvPr id="23" name="MB1"/>
          <p:cNvSpPr>
            <a:spLocks noGrp="1"/>
          </p:cNvSpPr>
          <p:nvPr/>
        </p:nvSpPr>
        <p:spPr>
          <a:xfrm>
            <a:off x="3685032" y="2743200"/>
            <a:ext cx="3017520" cy="1280160"/>
          </a:xfrm>
          <a:prstGeom prst="roundRect">
            <a:avLst>
              <a:gd name="adj" fmla="val 12000"/>
            </a:avLst>
          </a:prstGeom>
          <a:solidFill>
            <a:srgbClr val="0D1B2E"/>
          </a:solidFill>
          <a:ln w="16000">
            <a:solidFill>
              <a:srgbClr val="F5A623"/>
            </a:solidFill>
          </a:ln>
        </p:spPr>
        <p:txBody>
          <a:bodyPr/>
          <a:lstStyle/>
          <a:p/>
        </p:txBody>
      </p:sp>
      <p:sp>
        <p:nvSpPr>
          <p:cNvPr id="24" name="MW1"/>
          <p:cNvSpPr txBox="1">
            <a:spLocks noGrp="1"/>
          </p:cNvSpPr>
          <p:nvPr/>
        </p:nvSpPr>
        <p:spPr>
          <a:xfrm>
            <a:off x="3685032" y="2816352"/>
            <a:ext cx="3017520" cy="53035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2600" b="1" dirty="0">
                <a:solidFill>
                  <a:srgbClr val="F5A623"/>
                </a:solidFill>
                <a:latin typeface="Calibri"/>
                <a:cs typeface="Nirmala UI"/>
              </a:rPr>
              <a:t>वह</a:t>
            </a:r>
          </a:p>
        </p:txBody>
      </p:sp>
      <p:sp>
        <p:nvSpPr>
          <p:cNvPr id="25" name="MS1"/>
          <p:cNvSpPr txBox="1">
            <a:spLocks noGrp="1"/>
          </p:cNvSpPr>
          <p:nvPr/>
        </p:nvSpPr>
        <p:spPr>
          <a:xfrm>
            <a:off x="3685032" y="3364992"/>
            <a:ext cx="3017520" cy="25603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100" b="0" dirty="0">
                <a:solidFill>
                  <a:srgbClr val="8AAEC8"/>
                </a:solidFill>
                <a:latin typeface="Calibri"/>
                <a:cs typeface="Nirmala UI"/>
              </a:rPr>
              <a:t>M2  (Span 5–5)</a:t>
            </a:r>
          </a:p>
        </p:txBody>
      </p:sp>
      <p:sp>
        <p:nvSpPr>
          <p:cNvPr id="26" name="MT1"/>
          <p:cNvSpPr txBox="1">
            <a:spLocks noGrp="1"/>
          </p:cNvSpPr>
          <p:nvPr/>
        </p:nvSpPr>
        <p:spPr>
          <a:xfrm>
            <a:off x="3685032" y="3621024"/>
            <a:ext cx="3017520" cy="25603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180" b="1" dirty="0">
                <a:solidFill>
                  <a:srgbClr val="F5A623"/>
                </a:solidFill>
                <a:latin typeface="Calibri"/>
                <a:cs typeface="Nirmala UI"/>
              </a:rPr>
              <a:t>Pronoun</a:t>
            </a:r>
          </a:p>
        </p:txBody>
      </p:sp>
      <p:sp>
        <p:nvSpPr>
          <p:cNvPr id="27" name="MN1"/>
          <p:cNvSpPr txBox="1">
            <a:spLocks noGrp="1"/>
          </p:cNvSpPr>
          <p:nvPr/>
        </p:nvSpPr>
        <p:spPr>
          <a:xfrm>
            <a:off x="3685032" y="3840480"/>
            <a:ext cx="3017520" cy="219456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050" b="0" dirty="0">
                <a:solidFill>
                  <a:srgbClr val="8AAEC8"/>
                </a:solidFill>
                <a:latin typeface="Calibri"/>
                <a:cs typeface="Nirmala UI"/>
              </a:rPr>
              <a:t>3rd-person singular (gender ambiguous)</a:t>
            </a:r>
          </a:p>
        </p:txBody>
      </p:sp>
      <p:sp>
        <p:nvSpPr>
          <p:cNvPr id="28" name="MB2"/>
          <p:cNvSpPr>
            <a:spLocks noGrp="1"/>
          </p:cNvSpPr>
          <p:nvPr/>
        </p:nvSpPr>
        <p:spPr>
          <a:xfrm>
            <a:off x="7095744" y="2743200"/>
            <a:ext cx="3017520" cy="1280160"/>
          </a:xfrm>
          <a:prstGeom prst="roundRect">
            <a:avLst>
              <a:gd name="adj" fmla="val 12000"/>
            </a:avLst>
          </a:prstGeom>
          <a:solidFill>
            <a:srgbClr val="0D1B2E"/>
          </a:solidFill>
          <a:ln w="16000">
            <a:solidFill>
              <a:srgbClr val="A06BBE"/>
            </a:solidFill>
          </a:ln>
        </p:spPr>
        <p:txBody>
          <a:bodyPr/>
          <a:lstStyle/>
          <a:p/>
        </p:txBody>
      </p:sp>
      <p:sp>
        <p:nvSpPr>
          <p:cNvPr id="29" name="MW2"/>
          <p:cNvSpPr txBox="1">
            <a:spLocks noGrp="1"/>
          </p:cNvSpPr>
          <p:nvPr/>
        </p:nvSpPr>
        <p:spPr>
          <a:xfrm>
            <a:off x="7095744" y="2816352"/>
            <a:ext cx="3017520" cy="53035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2600" b="1" dirty="0">
                <a:solidFill>
                  <a:srgbClr val="A06BBE"/>
                </a:solidFill>
                <a:latin typeface="Calibri"/>
                <a:cs typeface="Nirmala UI"/>
              </a:rPr>
              <a:t>उसने</a:t>
            </a:r>
          </a:p>
        </p:txBody>
      </p:sp>
      <p:sp>
        <p:nvSpPr>
          <p:cNvPr id="30" name="MS2"/>
          <p:cNvSpPr txBox="1">
            <a:spLocks noGrp="1"/>
          </p:cNvSpPr>
          <p:nvPr/>
        </p:nvSpPr>
        <p:spPr>
          <a:xfrm>
            <a:off x="7095744" y="3364992"/>
            <a:ext cx="3017520" cy="25603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100" b="0" dirty="0">
                <a:solidFill>
                  <a:srgbClr val="8AAEC8"/>
                </a:solidFill>
                <a:latin typeface="Calibri"/>
                <a:cs typeface="Nirmala UI"/>
              </a:rPr>
              <a:t>M3  (Span 9–9)</a:t>
            </a:r>
          </a:p>
        </p:txBody>
      </p:sp>
      <p:sp>
        <p:nvSpPr>
          <p:cNvPr id="31" name="MT2"/>
          <p:cNvSpPr txBox="1">
            <a:spLocks noGrp="1"/>
          </p:cNvSpPr>
          <p:nvPr/>
        </p:nvSpPr>
        <p:spPr>
          <a:xfrm>
            <a:off x="7095744" y="3621024"/>
            <a:ext cx="3017520" cy="25603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180" b="1" dirty="0">
                <a:solidFill>
                  <a:srgbClr val="A06BBE"/>
                </a:solidFill>
                <a:latin typeface="Calibri"/>
                <a:cs typeface="Nirmala UI"/>
              </a:rPr>
              <a:t>Pronoun</a:t>
            </a:r>
          </a:p>
        </p:txBody>
      </p:sp>
      <p:sp>
        <p:nvSpPr>
          <p:cNvPr id="32" name="MN2"/>
          <p:cNvSpPr txBox="1">
            <a:spLocks noGrp="1"/>
          </p:cNvSpPr>
          <p:nvPr/>
        </p:nvSpPr>
        <p:spPr>
          <a:xfrm>
            <a:off x="7095744" y="3840480"/>
            <a:ext cx="3017520" cy="219456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050" b="0" dirty="0">
                <a:solidFill>
                  <a:srgbClr val="8AAEC8"/>
                </a:solidFill>
                <a:latin typeface="Calibri"/>
                <a:cs typeface="Nirmala UI"/>
              </a:rPr>
              <a:t>3rd-person singular + ergative case</a:t>
            </a:r>
          </a:p>
        </p:txBody>
      </p:sp>
      <p:sp>
        <p:nvSpPr>
          <p:cNvPr id="33" name="PH"/>
          <p:cNvSpPr txBox="1">
            <a:spLocks noGrp="1"/>
          </p:cNvSpPr>
          <p:nvPr/>
        </p:nvSpPr>
        <p:spPr>
          <a:xfrm>
            <a:off x="274320" y="4187952"/>
            <a:ext cx="11643360" cy="34747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350" b="1" dirty="0">
                <a:solidFill>
                  <a:srgbClr val="5C9BD6"/>
                </a:solidFill>
                <a:latin typeface="Calibri"/>
                <a:cs typeface="Nirmala UI"/>
              </a:rPr>
              <a:t>STEP 2 — Pairwise Scoring  (Logistic Regression probabilities)</a:t>
            </a:r>
          </a:p>
        </p:txBody>
      </p:sp>
      <p:sp>
        <p:nvSpPr>
          <p:cNvPr id="34" name="PairB0"/>
          <p:cNvSpPr>
            <a:spLocks noGrp="1"/>
          </p:cNvSpPr>
          <p:nvPr/>
        </p:nvSpPr>
        <p:spPr>
          <a:xfrm>
            <a:off x="274320" y="4617720"/>
            <a:ext cx="3108960" cy="457200"/>
          </a:xfrm>
          <a:prstGeom prst="roundRect">
            <a:avLst>
              <a:gd name="adj" fmla="val 16667"/>
            </a:avLst>
          </a:prstGeom>
          <a:solidFill>
            <a:srgbClr val="0D1B2E"/>
          </a:solidFill>
          <a:ln w="10000">
            <a:solidFill>
              <a:srgbClr val="00C9B1"/>
            </a:solidFill>
          </a:ln>
        </p:spPr>
        <p:txBody>
          <a:bodyPr/>
          <a:lstStyle/>
          <a:p/>
        </p:txBody>
      </p:sp>
      <p:sp>
        <p:nvSpPr>
          <p:cNvPr id="35" name="PairT0"/>
          <p:cNvSpPr txBox="1">
            <a:spLocks noGrp="1"/>
          </p:cNvSpPr>
          <p:nvPr/>
        </p:nvSpPr>
        <p:spPr>
          <a:xfrm>
            <a:off x="365760" y="4672584"/>
            <a:ext cx="2944368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200" b="0" dirty="0">
                <a:solidFill>
                  <a:srgbClr val="00C9B1"/>
                </a:solidFill>
                <a:latin typeface="Calibri"/>
                <a:cs typeface="Nirmala UI"/>
              </a:rPr>
              <a:t>M1 (राम)  ↔  M2 (वह)   P=0.91   COREF ✓</a:t>
            </a:r>
          </a:p>
        </p:txBody>
      </p:sp>
      <p:sp>
        <p:nvSpPr>
          <p:cNvPr id="36" name="PairB1"/>
          <p:cNvSpPr>
            <a:spLocks noGrp="1"/>
          </p:cNvSpPr>
          <p:nvPr/>
        </p:nvSpPr>
        <p:spPr>
          <a:xfrm>
            <a:off x="3657600" y="4617720"/>
            <a:ext cx="3108960" cy="457200"/>
          </a:xfrm>
          <a:prstGeom prst="roundRect">
            <a:avLst>
              <a:gd name="adj" fmla="val 16667"/>
            </a:avLst>
          </a:prstGeom>
          <a:solidFill>
            <a:srgbClr val="0D1B2E"/>
          </a:solidFill>
          <a:ln w="10000">
            <a:solidFill>
              <a:srgbClr val="00C9B1"/>
            </a:solidFill>
          </a:ln>
        </p:spPr>
        <p:txBody>
          <a:bodyPr/>
          <a:lstStyle/>
          <a:p/>
        </p:txBody>
      </p:sp>
      <p:sp>
        <p:nvSpPr>
          <p:cNvPr id="37" name="PairT1"/>
          <p:cNvSpPr txBox="1">
            <a:spLocks noGrp="1"/>
          </p:cNvSpPr>
          <p:nvPr/>
        </p:nvSpPr>
        <p:spPr>
          <a:xfrm>
            <a:off x="3749040" y="4672584"/>
            <a:ext cx="2944368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200" b="0" dirty="0">
                <a:solidFill>
                  <a:srgbClr val="00C9B1"/>
                </a:solidFill>
                <a:latin typeface="Calibri"/>
                <a:cs typeface="Nirmala UI"/>
              </a:rPr>
              <a:t>M1 (राम)  ↔  M3 (उसने)   P=0.88   COREF ✓</a:t>
            </a:r>
          </a:p>
        </p:txBody>
      </p:sp>
      <p:sp>
        <p:nvSpPr>
          <p:cNvPr id="38" name="PairB2"/>
          <p:cNvSpPr>
            <a:spLocks noGrp="1"/>
          </p:cNvSpPr>
          <p:nvPr/>
        </p:nvSpPr>
        <p:spPr>
          <a:xfrm>
            <a:off x="7040880" y="4617720"/>
            <a:ext cx="3108960" cy="457200"/>
          </a:xfrm>
          <a:prstGeom prst="roundRect">
            <a:avLst>
              <a:gd name="adj" fmla="val 16667"/>
            </a:avLst>
          </a:prstGeom>
          <a:solidFill>
            <a:srgbClr val="0D1B2E"/>
          </a:solidFill>
          <a:ln w="10000">
            <a:solidFill>
              <a:srgbClr val="00C9B1"/>
            </a:solidFill>
          </a:ln>
        </p:spPr>
        <p:txBody>
          <a:bodyPr/>
          <a:lstStyle/>
          <a:p/>
        </p:txBody>
      </p:sp>
      <p:sp>
        <p:nvSpPr>
          <p:cNvPr id="39" name="PairT2"/>
          <p:cNvSpPr txBox="1">
            <a:spLocks noGrp="1"/>
          </p:cNvSpPr>
          <p:nvPr/>
        </p:nvSpPr>
        <p:spPr>
          <a:xfrm>
            <a:off x="7132320" y="4672584"/>
            <a:ext cx="2944368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200" b="0" dirty="0">
                <a:solidFill>
                  <a:srgbClr val="00C9B1"/>
                </a:solidFill>
                <a:latin typeface="Calibri"/>
                <a:cs typeface="Nirmala UI"/>
              </a:rPr>
              <a:t>M2 (वह)  ↔  M3 (उसने)   P=0.85   COREF ✓</a:t>
            </a:r>
          </a:p>
        </p:txBody>
      </p:sp>
      <p:sp>
        <p:nvSpPr>
          <p:cNvPr id="40" name="Clus"/>
          <p:cNvSpPr>
            <a:spLocks noGrp="1"/>
          </p:cNvSpPr>
          <p:nvPr/>
        </p:nvSpPr>
        <p:spPr>
          <a:xfrm>
            <a:off x="274320" y="5230368"/>
            <a:ext cx="11643360" cy="685800"/>
          </a:xfrm>
          <a:prstGeom prst="roundRect">
            <a:avLst>
              <a:gd name="adj" fmla="val 16667"/>
            </a:avLst>
          </a:prstGeom>
          <a:solidFill>
            <a:srgbClr val="00C9B1"/>
          </a:solidFill>
          <a:ln>
            <a:noFill/>
          </a:ln>
        </p:spPr>
        <p:txBody>
          <a:bodyPr/>
          <a:lstStyle/>
          <a:p/>
        </p:txBody>
      </p:sp>
      <p:sp>
        <p:nvSpPr>
          <p:cNvPr id="41" name="ClusL"/>
          <p:cNvSpPr txBox="1">
            <a:spLocks noGrp="1"/>
          </p:cNvSpPr>
          <p:nvPr/>
        </p:nvSpPr>
        <p:spPr>
          <a:xfrm>
            <a:off x="457200" y="5285232"/>
            <a:ext cx="3200400" cy="329184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n-IN" sz="1380" b="1" dirty="0">
                <a:solidFill>
                  <a:srgbClr val="1A2E4A"/>
                </a:solidFill>
                <a:latin typeface="Calibri"/>
                <a:cs typeface="Nirmala UI"/>
              </a:rPr>
              <a:t>STEP 3 — Final Cluster:</a:t>
            </a:r>
          </a:p>
        </p:txBody>
      </p:sp>
      <p:sp>
        <p:nvSpPr>
          <p:cNvPr id="42" name="ClusV"/>
          <p:cNvSpPr txBox="1">
            <a:spLocks noGrp="1"/>
          </p:cNvSpPr>
          <p:nvPr/>
        </p:nvSpPr>
        <p:spPr>
          <a:xfrm>
            <a:off x="3474720" y="5285232"/>
            <a:ext cx="7040880" cy="329184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580" b="1" dirty="0">
                <a:solidFill>
                  <a:srgbClr val="1A2E4A"/>
                </a:solidFill>
                <a:latin typeface="Calibri"/>
                <a:cs typeface="Nirmala UI"/>
              </a:rPr>
              <a:t>{  राम  ,  वह  ,  उसने  }  →  Single Entity (Ram / he / he-ERG)</a:t>
            </a:r>
          </a:p>
        </p:txBody>
      </p:sp>
      <p:sp>
        <p:nvSpPr>
          <p:cNvPr id="43" name="ClusN"/>
          <p:cNvSpPr txBox="1">
            <a:spLocks noGrp="1"/>
          </p:cNvSpPr>
          <p:nvPr/>
        </p:nvSpPr>
        <p:spPr>
          <a:xfrm>
            <a:off x="457200" y="5614416"/>
            <a:ext cx="10149840" cy="25603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n-IN" sz="1150" b="0" dirty="0">
                <a:solidFill>
                  <a:srgbClr val="1A2E4A"/>
                </a:solidFill>
                <a:latin typeface="Calibri"/>
                <a:cs typeface="Nirmala UI"/>
              </a:rPr>
              <a:t>All three pronouns correctly resolved to 'राम' — demonstrating successful pronoun-antecedent coreference chain.</a:t>
            </a:r>
          </a:p>
        </p:txBody>
      </p:sp>
      <p:sp>
        <p:nvSpPr>
          <p:cNvPr id="44" name="FB"/>
          <p:cNvSpPr>
            <a:spLocks noGrp="1"/>
          </p:cNvSpPr>
          <p:nvPr/>
        </p:nvSpPr>
        <p:spPr>
          <a:xfrm>
            <a:off x="0" y="6473952"/>
            <a:ext cx="12192000" cy="384048"/>
          </a:xfrm>
          <a:prstGeom prst="rect">
            <a:avLst/>
          </a:prstGeom>
          <a:solidFill>
            <a:srgbClr val="112238"/>
          </a:solidFill>
          <a:ln>
            <a:noFill/>
          </a:ln>
        </p:spPr>
        <p:txBody>
          <a:bodyPr/>
          <a:lstStyle/>
          <a:p/>
        </p:txBody>
      </p:sp>
      <p:sp>
        <p:nvSpPr>
          <p:cNvPr id="45" name="FL"/>
          <p:cNvSpPr>
            <a:spLocks noGrp="1"/>
          </p:cNvSpPr>
          <p:nvPr/>
        </p:nvSpPr>
        <p:spPr>
          <a:xfrm>
            <a:off x="0" y="6473952"/>
            <a:ext cx="12192000" cy="36576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txBody>
          <a:bodyPr/>
          <a:lstStyle/>
          <a:p/>
        </p:txBody>
      </p:sp>
      <p:sp>
        <p:nvSpPr>
          <p:cNvPr id="46" name="FL2"/>
          <p:cNvSpPr txBox="1">
            <a:spLocks noGrp="1"/>
          </p:cNvSpPr>
          <p:nvPr/>
        </p:nvSpPr>
        <p:spPr>
          <a:xfrm>
            <a:off x="274320" y="6510528"/>
            <a:ext cx="5486400" cy="310896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n-IN" sz="950" b="0" dirty="0">
                <a:solidFill>
                  <a:srgbClr val="8AAEC8"/>
                </a:solidFill>
                <a:latin typeface="Calibri"/>
                <a:cs typeface="Nirmala UI"/>
              </a:rPr>
              <a:t>Hindi Coreference Resolution  |  CIT Kokrajhar</a:t>
            </a:r>
          </a:p>
        </p:txBody>
      </p:sp>
      <p:sp>
        <p:nvSpPr>
          <p:cNvPr id="47" name="FR"/>
          <p:cNvSpPr txBox="1">
            <a:spLocks noGrp="1"/>
          </p:cNvSpPr>
          <p:nvPr/>
        </p:nvSpPr>
        <p:spPr>
          <a:xfrm>
            <a:off x="7772400" y="6510528"/>
            <a:ext cx="3200400" cy="310896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/>
            <a:r>
              <a:rPr lang="en-IN" sz="950" b="0" dirty="0">
                <a:solidFill>
                  <a:srgbClr val="8AAEC8"/>
                </a:solidFill>
                <a:latin typeface="Calibri"/>
                <a:cs typeface="Nirmala UI"/>
              </a:rPr>
              <a:t>B.Tech Project  |  2026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10" name="TopBar"/>
          <p:cNvSpPr>
            <a:spLocks noGrp="1"/>
          </p:cNvSpPr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12238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AccLine"/>
          <p:cNvSpPr>
            <a:spLocks noGrp="1"/>
          </p:cNvSpPr>
          <p:nvPr/>
        </p:nvSpPr>
        <p:spPr>
          <a:xfrm>
            <a:off x="0" y="1097280"/>
            <a:ext cx="12192000" cy="54864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itle"/>
          <p:cNvSpPr txBox="1">
            <a:spLocks noGrp="1"/>
          </p:cNvSpPr>
          <p:nvPr/>
        </p:nvSpPr>
        <p:spPr>
          <a:xfrm>
            <a:off x="365760" y="91440"/>
            <a:ext cx="10424160" cy="7772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n-IN" sz="2800" b="1" dirty="0">
                <a:solidFill>
                  <a:srgbClr val="FFFFFF"/>
                </a:solidFill>
                <a:latin typeface="Calibri"/>
                <a:cs typeface="Nirmala UI"/>
              </a:rPr>
              <a:t>Evaluation Metrics</a:t>
            </a:r>
          </a:p>
        </p:txBody>
      </p:sp>
      <p:sp>
        <p:nvSpPr>
          <p:cNvPr id="13" name="Sub"/>
          <p:cNvSpPr txBox="1">
            <a:spLocks noGrp="1"/>
          </p:cNvSpPr>
          <p:nvPr/>
        </p:nvSpPr>
        <p:spPr>
          <a:xfrm>
            <a:off x="365760" y="749808"/>
            <a:ext cx="9144000" cy="38404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n-IN" sz="1300" b="0" dirty="0">
                <a:solidFill>
                  <a:srgbClr val="00C9B1"/>
                </a:solidFill>
                <a:latin typeface="Calibri"/>
                <a:cs typeface="Nirmala UI"/>
              </a:rPr>
              <a:t>How coreference systems are measured — standard CoNLL metrics explained</a:t>
            </a:r>
          </a:p>
        </p:txBody>
      </p:sp>
      <p:sp>
        <p:nvSpPr>
          <p:cNvPr id="14" name="CB"/>
          <p:cNvSpPr>
            <a:spLocks noGrp="1"/>
          </p:cNvSpPr>
          <p:nvPr/>
        </p:nvSpPr>
        <p:spPr>
          <a:xfrm>
            <a:off x="274320" y="1298448"/>
            <a:ext cx="54864" cy="2743200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CC"/>
          <p:cNvSpPr>
            <a:spLocks noGrp="1"/>
          </p:cNvSpPr>
          <p:nvPr/>
        </p:nvSpPr>
        <p:spPr>
          <a:xfrm>
            <a:off x="347472" y="1298448"/>
            <a:ext cx="3264408" cy="2743200"/>
          </a:xfrm>
          <a:prstGeom prst="roundRect">
            <a:avLst>
              <a:gd name="adj" fmla="val 16667"/>
            </a:avLst>
          </a:prstGeom>
          <a:solidFill>
            <a:srgbClr val="0D1B2E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CT"/>
          <p:cNvSpPr txBox="1">
            <a:spLocks noGrp="1"/>
          </p:cNvSpPr>
          <p:nvPr/>
        </p:nvSpPr>
        <p:spPr>
          <a:xfrm>
            <a:off x="457200" y="1362456"/>
            <a:ext cx="3081528" cy="34747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n-IN" sz="1320" b="1" dirty="0">
                <a:solidFill>
                  <a:srgbClr val="00C9B1"/>
                </a:solidFill>
                <a:latin typeface="Calibri"/>
                <a:cs typeface="Nirmala UI"/>
              </a:rPr>
              <a:t>MUC (Message Understanding Conference)</a:t>
            </a:r>
          </a:p>
        </p:txBody>
      </p:sp>
      <p:sp>
        <p:nvSpPr>
          <p:cNvPr id="17" name="CI"/>
          <p:cNvSpPr txBox="1">
            <a:spLocks noGrp="1"/>
          </p:cNvSpPr>
          <p:nvPr/>
        </p:nvSpPr>
        <p:spPr>
          <a:xfrm>
            <a:off x="457200" y="1737360"/>
            <a:ext cx="3081528" cy="22402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indent="-228600" marL="228600">
              <a:spcBef>
                <a:spcPts val="50"/>
              </a:spcBef>
              <a:lnSpc>
                <a:spcPct val="108"/>
              </a:lnSpc>
            </a:pPr>
            <a:r>
              <a:rPr lang="en-IN" sz="1160" b="0" dirty="0">
                <a:solidFill>
                  <a:srgbClr val="00C9B1"/>
                </a:solidFill>
                <a:latin typeface="Calibri"/>
              </a:rPr>
              <a:t>▪  </a:t>
            </a:r>
            <a:r>
              <a:rPr lang="en-IN" sz="1160" b="0" dirty="0">
                <a:solidFill>
                  <a:srgbClr val="D0E4F7"/>
                </a:solidFill>
                <a:latin typeface="Calibri"/>
                <a:cs typeface="Nirmala UI"/>
              </a:rPr>
              <a:t>Counts coreferring mention pairs that are correctly linked</a:t>
            </a:r>
          </a:p>
          <a:p>
            <a:pPr indent="-228600" marL="228600">
              <a:spcBef>
                <a:spcPts val="50"/>
              </a:spcBef>
              <a:lnSpc>
                <a:spcPct val="108"/>
              </a:lnSpc>
            </a:pPr>
            <a:r>
              <a:rPr lang="en-IN" sz="1160" b="0" dirty="0">
                <a:solidFill>
                  <a:srgbClr val="00C9B1"/>
                </a:solidFill>
                <a:latin typeface="Calibri"/>
              </a:rPr>
              <a:t>▪  </a:t>
            </a:r>
            <a:r>
              <a:rPr lang="en-IN" sz="1160" b="0" dirty="0">
                <a:solidFill>
                  <a:srgbClr val="D0E4F7"/>
                </a:solidFill>
                <a:latin typeface="Calibri"/>
                <a:cs typeface="Nirmala UI"/>
              </a:rPr>
              <a:t>Precision = correct links / system links proposed</a:t>
            </a:r>
          </a:p>
          <a:p>
            <a:pPr indent="-228600" marL="228600">
              <a:spcBef>
                <a:spcPts val="50"/>
              </a:spcBef>
              <a:lnSpc>
                <a:spcPct val="108"/>
              </a:lnSpc>
            </a:pPr>
            <a:r>
              <a:rPr lang="en-IN" sz="1160" b="0" dirty="0">
                <a:solidFill>
                  <a:srgbClr val="00C9B1"/>
                </a:solidFill>
                <a:latin typeface="Calibri"/>
              </a:rPr>
              <a:t>▪  </a:t>
            </a:r>
            <a:r>
              <a:rPr lang="en-IN" sz="1160" b="0" dirty="0">
                <a:solidFill>
                  <a:srgbClr val="D0E4F7"/>
                </a:solidFill>
                <a:latin typeface="Calibri"/>
                <a:cs typeface="Nirmala UI"/>
              </a:rPr>
              <a:t>Recall = correct links / gold links in reference</a:t>
            </a:r>
          </a:p>
          <a:p>
            <a:pPr indent="-228600" marL="228600">
              <a:spcBef>
                <a:spcPts val="50"/>
              </a:spcBef>
              <a:lnSpc>
                <a:spcPct val="108"/>
              </a:lnSpc>
            </a:pPr>
            <a:r>
              <a:rPr lang="en-IN" sz="1160" b="0" dirty="0">
                <a:solidFill>
                  <a:srgbClr val="00C9B1"/>
                </a:solidFill>
                <a:latin typeface="Calibri"/>
              </a:rPr>
              <a:t>▪  </a:t>
            </a:r>
            <a:r>
              <a:rPr lang="en-IN" sz="1160" b="0" dirty="0">
                <a:solidFill>
                  <a:srgbClr val="D0E4F7"/>
                </a:solidFill>
                <a:latin typeface="Calibri"/>
                <a:cs typeface="Nirmala UI"/>
              </a:rPr>
              <a:t>F1 = harmonic mean of MUC-P and MUC-R</a:t>
            </a:r>
          </a:p>
          <a:p>
            <a:pPr indent="-228600" marL="228600">
              <a:spcBef>
                <a:spcPts val="50"/>
              </a:spcBef>
              <a:lnSpc>
                <a:spcPct val="108"/>
              </a:lnSpc>
            </a:pPr>
            <a:r>
              <a:rPr lang="en-IN" sz="1160" b="0" dirty="0">
                <a:solidFill>
                  <a:srgbClr val="00C9B1"/>
                </a:solidFill>
                <a:latin typeface="Calibri"/>
              </a:rPr>
              <a:t>▪  </a:t>
            </a:r>
            <a:r>
              <a:rPr lang="en-IN" sz="1160" b="0" dirty="0">
                <a:solidFill>
                  <a:srgbClr val="D0E4F7"/>
                </a:solidFill>
                <a:latin typeface="Calibri"/>
                <a:cs typeface="Nirmala UI"/>
              </a:rPr>
              <a:t>Weakness: rewards large clusters disproportionately</a:t>
            </a:r>
          </a:p>
          <a:p>
            <a:pPr indent="-228600" marL="228600">
              <a:spcBef>
                <a:spcPts val="50"/>
              </a:spcBef>
              <a:lnSpc>
                <a:spcPct val="108"/>
              </a:lnSpc>
            </a:pPr>
            <a:r>
              <a:rPr lang="en-IN" sz="1160" b="0" dirty="0">
                <a:solidFill>
                  <a:srgbClr val="00C9B1"/>
                </a:solidFill>
                <a:latin typeface="Calibri"/>
              </a:rPr>
              <a:t>▪  </a:t>
            </a:r>
            <a:r>
              <a:rPr lang="en-IN" sz="1160" b="0" dirty="0">
                <a:solidFill>
                  <a:srgbClr val="D0E4F7"/>
                </a:solidFill>
                <a:latin typeface="Calibri"/>
                <a:cs typeface="Nirmala UI"/>
              </a:rPr>
              <a:t>Our Phase 2 MUC-F1: ~78%  (estimated on dev set)</a:t>
            </a:r>
          </a:p>
        </p:txBody>
      </p:sp>
      <p:sp>
        <p:nvSpPr>
          <p:cNvPr id="18" name="CB"/>
          <p:cNvSpPr>
            <a:spLocks noGrp="1"/>
          </p:cNvSpPr>
          <p:nvPr/>
        </p:nvSpPr>
        <p:spPr>
          <a:xfrm>
            <a:off x="3867912" y="1298448"/>
            <a:ext cx="54864" cy="27432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CC"/>
          <p:cNvSpPr>
            <a:spLocks noGrp="1"/>
          </p:cNvSpPr>
          <p:nvPr/>
        </p:nvSpPr>
        <p:spPr>
          <a:xfrm>
            <a:off x="3941064" y="1298448"/>
            <a:ext cx="3264408" cy="2743200"/>
          </a:xfrm>
          <a:prstGeom prst="roundRect">
            <a:avLst>
              <a:gd name="adj" fmla="val 16667"/>
            </a:avLst>
          </a:prstGeom>
          <a:solidFill>
            <a:srgbClr val="0D1B2E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CT"/>
          <p:cNvSpPr txBox="1">
            <a:spLocks noGrp="1"/>
          </p:cNvSpPr>
          <p:nvPr/>
        </p:nvSpPr>
        <p:spPr>
          <a:xfrm>
            <a:off x="4050792" y="1362456"/>
            <a:ext cx="3081528" cy="34747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n-IN" sz="1320" b="1" dirty="0">
                <a:solidFill>
                  <a:srgbClr val="F5A623"/>
                </a:solidFill>
                <a:latin typeface="Calibri"/>
                <a:cs typeface="Nirmala UI"/>
              </a:rPr>
              <a:t>B-Cubed (B³)</a:t>
            </a:r>
          </a:p>
        </p:txBody>
      </p:sp>
      <p:sp>
        <p:nvSpPr>
          <p:cNvPr id="21" name="CI"/>
          <p:cNvSpPr txBox="1">
            <a:spLocks noGrp="1"/>
          </p:cNvSpPr>
          <p:nvPr/>
        </p:nvSpPr>
        <p:spPr>
          <a:xfrm>
            <a:off x="4050792" y="1737360"/>
            <a:ext cx="3081528" cy="22402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indent="-228600" marL="228600">
              <a:spcBef>
                <a:spcPts val="50"/>
              </a:spcBef>
              <a:lnSpc>
                <a:spcPct val="108"/>
              </a:lnSpc>
            </a:pPr>
            <a:r>
              <a:rPr lang="en-IN" sz="1160" b="0" dirty="0">
                <a:solidFill>
                  <a:srgbClr val="F5A623"/>
                </a:solidFill>
                <a:latin typeface="Calibri"/>
              </a:rPr>
              <a:t>▪  </a:t>
            </a:r>
            <a:r>
              <a:rPr lang="en-IN" sz="1160" b="0" dirty="0">
                <a:solidFill>
                  <a:srgbClr val="D0E4F7"/>
                </a:solidFill>
                <a:latin typeface="Calibri"/>
                <a:cs typeface="Nirmala UI"/>
              </a:rPr>
              <a:t>Entity-level metric — evaluates per-mention precision/recall</a:t>
            </a:r>
          </a:p>
          <a:p>
            <a:pPr indent="-228600" marL="228600">
              <a:spcBef>
                <a:spcPts val="50"/>
              </a:spcBef>
              <a:lnSpc>
                <a:spcPct val="108"/>
              </a:lnSpc>
            </a:pPr>
            <a:r>
              <a:rPr lang="en-IN" sz="1160" b="0" dirty="0">
                <a:solidFill>
                  <a:srgbClr val="F5A623"/>
                </a:solidFill>
                <a:latin typeface="Calibri"/>
              </a:rPr>
              <a:t>▪  </a:t>
            </a:r>
            <a:r>
              <a:rPr lang="en-IN" sz="1160" b="0" dirty="0">
                <a:solidFill>
                  <a:srgbClr val="D0E4F7"/>
                </a:solidFill>
                <a:latin typeface="Calibri"/>
                <a:cs typeface="Nirmala UI"/>
              </a:rPr>
              <a:t>For each mention m: P = |correct cluster ∩ sys cluster| / |sys cluster|</a:t>
            </a:r>
          </a:p>
          <a:p>
            <a:pPr indent="-228600" marL="228600">
              <a:spcBef>
                <a:spcPts val="50"/>
              </a:spcBef>
              <a:lnSpc>
                <a:spcPct val="108"/>
              </a:lnSpc>
            </a:pPr>
            <a:r>
              <a:rPr lang="en-IN" sz="1160" b="0" dirty="0">
                <a:solidFill>
                  <a:srgbClr val="F5A623"/>
                </a:solidFill>
                <a:latin typeface="Calibri"/>
              </a:rPr>
              <a:t>▪  </a:t>
            </a:r>
            <a:r>
              <a:rPr lang="en-IN" sz="1160" b="0" dirty="0">
                <a:solidFill>
                  <a:srgbClr val="D0E4F7"/>
                </a:solidFill>
                <a:latin typeface="Calibri"/>
                <a:cs typeface="Nirmala UI"/>
              </a:rPr>
              <a:t>For each mention m: R = |correct cluster ∩ sys cluster| / |gold cluster|</a:t>
            </a:r>
          </a:p>
          <a:p>
            <a:pPr indent="-228600" marL="228600">
              <a:spcBef>
                <a:spcPts val="50"/>
              </a:spcBef>
              <a:lnSpc>
                <a:spcPct val="108"/>
              </a:lnSpc>
            </a:pPr>
            <a:r>
              <a:rPr lang="en-IN" sz="1160" b="0" dirty="0">
                <a:solidFill>
                  <a:srgbClr val="F5A623"/>
                </a:solidFill>
                <a:latin typeface="Calibri"/>
              </a:rPr>
              <a:t>▪  </a:t>
            </a:r>
            <a:r>
              <a:rPr lang="en-IN" sz="1160" b="0" dirty="0">
                <a:solidFill>
                  <a:srgbClr val="D0E4F7"/>
                </a:solidFill>
                <a:latin typeface="Calibri"/>
                <a:cs typeface="Nirmala UI"/>
              </a:rPr>
              <a:t>Average P and R over all mentions, compute F1</a:t>
            </a:r>
          </a:p>
          <a:p>
            <a:pPr indent="-228600" marL="228600">
              <a:spcBef>
                <a:spcPts val="50"/>
              </a:spcBef>
              <a:lnSpc>
                <a:spcPct val="108"/>
              </a:lnSpc>
            </a:pPr>
            <a:r>
              <a:rPr lang="en-IN" sz="1160" b="0" dirty="0">
                <a:solidFill>
                  <a:srgbClr val="F5A623"/>
                </a:solidFill>
                <a:latin typeface="Calibri"/>
              </a:rPr>
              <a:t>▪  </a:t>
            </a:r>
            <a:r>
              <a:rPr lang="en-IN" sz="1160" b="0" dirty="0">
                <a:solidFill>
                  <a:srgbClr val="D0E4F7"/>
                </a:solidFill>
                <a:latin typeface="Calibri"/>
                <a:cs typeface="Nirmala UI"/>
              </a:rPr>
              <a:t>More sensitive to singletons and small clusters than MUC</a:t>
            </a:r>
          </a:p>
          <a:p>
            <a:pPr indent="-228600" marL="228600">
              <a:spcBef>
                <a:spcPts val="50"/>
              </a:spcBef>
              <a:lnSpc>
                <a:spcPct val="108"/>
              </a:lnSpc>
            </a:pPr>
            <a:r>
              <a:rPr lang="en-IN" sz="1160" b="0" dirty="0">
                <a:solidFill>
                  <a:srgbClr val="F5A623"/>
                </a:solidFill>
                <a:latin typeface="Calibri"/>
              </a:rPr>
              <a:t>▪  </a:t>
            </a:r>
            <a:r>
              <a:rPr lang="en-IN" sz="1160" b="0" dirty="0">
                <a:solidFill>
                  <a:srgbClr val="D0E4F7"/>
                </a:solidFill>
                <a:latin typeface="Calibri"/>
                <a:cs typeface="Nirmala UI"/>
              </a:rPr>
              <a:t>Our Phase 2 B³-F1: ~74%  (estimated on dev set)</a:t>
            </a:r>
          </a:p>
        </p:txBody>
      </p:sp>
      <p:sp>
        <p:nvSpPr>
          <p:cNvPr id="22" name="CB"/>
          <p:cNvSpPr>
            <a:spLocks noGrp="1"/>
          </p:cNvSpPr>
          <p:nvPr/>
        </p:nvSpPr>
        <p:spPr>
          <a:xfrm>
            <a:off x="7461504" y="1298448"/>
            <a:ext cx="54864" cy="2743200"/>
          </a:xfrm>
          <a:prstGeom prst="rect">
            <a:avLst/>
          </a:prstGeom>
          <a:solidFill>
            <a:srgbClr val="5C9BD6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CC"/>
          <p:cNvSpPr>
            <a:spLocks noGrp="1"/>
          </p:cNvSpPr>
          <p:nvPr/>
        </p:nvSpPr>
        <p:spPr>
          <a:xfrm>
            <a:off x="7534656" y="1298448"/>
            <a:ext cx="3264408" cy="2743200"/>
          </a:xfrm>
          <a:prstGeom prst="roundRect">
            <a:avLst>
              <a:gd name="adj" fmla="val 16667"/>
            </a:avLst>
          </a:prstGeom>
          <a:solidFill>
            <a:srgbClr val="0D1B2E"/>
          </a:solidFill>
          <a:ln>
            <a:noFill/>
          </a:ln>
        </p:spPr>
        <p:txBody>
          <a:bodyPr/>
          <a:lstStyle/>
          <a:p/>
        </p:txBody>
      </p:sp>
      <p:sp>
        <p:nvSpPr>
          <p:cNvPr id="24" name="CT"/>
          <p:cNvSpPr txBox="1">
            <a:spLocks noGrp="1"/>
          </p:cNvSpPr>
          <p:nvPr/>
        </p:nvSpPr>
        <p:spPr>
          <a:xfrm>
            <a:off x="7644384" y="1362456"/>
            <a:ext cx="3081528" cy="34747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n-IN" sz="1320" b="1" dirty="0">
                <a:solidFill>
                  <a:srgbClr val="5C9BD6"/>
                </a:solidFill>
                <a:latin typeface="Calibri"/>
                <a:cs typeface="Nirmala UI"/>
              </a:rPr>
              <a:t>CEAF (Constrained Entity Alignment F-measure)</a:t>
            </a:r>
          </a:p>
        </p:txBody>
      </p:sp>
      <p:sp>
        <p:nvSpPr>
          <p:cNvPr id="25" name="CI"/>
          <p:cNvSpPr txBox="1">
            <a:spLocks noGrp="1"/>
          </p:cNvSpPr>
          <p:nvPr/>
        </p:nvSpPr>
        <p:spPr>
          <a:xfrm>
            <a:off x="7644384" y="1737360"/>
            <a:ext cx="3081528" cy="22402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indent="-228600" marL="228600">
              <a:spcBef>
                <a:spcPts val="50"/>
              </a:spcBef>
              <a:lnSpc>
                <a:spcPct val="108"/>
              </a:lnSpc>
            </a:pPr>
            <a:r>
              <a:rPr lang="en-IN" sz="1160" b="0" dirty="0">
                <a:solidFill>
                  <a:srgbClr val="5C9BD6"/>
                </a:solidFill>
                <a:latin typeface="Calibri"/>
              </a:rPr>
              <a:t>▪  </a:t>
            </a:r>
            <a:r>
              <a:rPr lang="en-IN" sz="1160" b="0" dirty="0">
                <a:solidFill>
                  <a:srgbClr val="D0E4F7"/>
                </a:solidFill>
                <a:latin typeface="Calibri"/>
                <a:cs typeface="Nirmala UI"/>
              </a:rPr>
              <a:t>Aligns system entities to gold entities using optimal bipartite matching</a:t>
            </a:r>
          </a:p>
          <a:p>
            <a:pPr indent="-228600" marL="228600">
              <a:spcBef>
                <a:spcPts val="50"/>
              </a:spcBef>
              <a:lnSpc>
                <a:spcPct val="108"/>
              </a:lnSpc>
            </a:pPr>
            <a:r>
              <a:rPr lang="en-IN" sz="1160" b="0" dirty="0">
                <a:solidFill>
                  <a:srgbClr val="5C9BD6"/>
                </a:solidFill>
                <a:latin typeface="Calibri"/>
              </a:rPr>
              <a:t>▪  </a:t>
            </a:r>
            <a:r>
              <a:rPr lang="en-IN" sz="1160" b="0" dirty="0">
                <a:solidFill>
                  <a:srgbClr val="D0E4F7"/>
                </a:solidFill>
                <a:latin typeface="Calibri"/>
                <a:cs typeface="Nirmala UI"/>
              </a:rPr>
              <a:t>φ4 variant counts common mentions between aligned entity pairs</a:t>
            </a:r>
          </a:p>
          <a:p>
            <a:pPr indent="-228600" marL="228600">
              <a:spcBef>
                <a:spcPts val="50"/>
              </a:spcBef>
              <a:lnSpc>
                <a:spcPct val="108"/>
              </a:lnSpc>
            </a:pPr>
            <a:r>
              <a:rPr lang="en-IN" sz="1160" b="0" dirty="0">
                <a:solidFill>
                  <a:srgbClr val="5C9BD6"/>
                </a:solidFill>
                <a:latin typeface="Calibri"/>
              </a:rPr>
              <a:t>▪  </a:t>
            </a:r>
            <a:r>
              <a:rPr lang="en-IN" sz="1160" b="0" dirty="0">
                <a:solidFill>
                  <a:srgbClr val="D0E4F7"/>
                </a:solidFill>
                <a:latin typeface="Calibri"/>
                <a:cs typeface="Nirmala UI"/>
              </a:rPr>
              <a:t>Addresses MUC weakness: penalizes over-merging clusters</a:t>
            </a:r>
          </a:p>
          <a:p>
            <a:pPr indent="-228600" marL="228600">
              <a:spcBef>
                <a:spcPts val="50"/>
              </a:spcBef>
              <a:lnSpc>
                <a:spcPct val="108"/>
              </a:lnSpc>
            </a:pPr>
            <a:r>
              <a:rPr lang="en-IN" sz="1160" b="0" dirty="0">
                <a:solidFill>
                  <a:srgbClr val="5C9BD6"/>
                </a:solidFill>
                <a:latin typeface="Calibri"/>
              </a:rPr>
              <a:t>▪  </a:t>
            </a:r>
            <a:r>
              <a:rPr lang="en-IN" sz="1160" b="0" dirty="0">
                <a:solidFill>
                  <a:srgbClr val="D0E4F7"/>
                </a:solidFill>
                <a:latin typeface="Calibri"/>
                <a:cs typeface="Nirmala UI"/>
              </a:rPr>
              <a:t>More robust to different cluster size distributions</a:t>
            </a:r>
          </a:p>
          <a:p>
            <a:pPr indent="-228600" marL="228600">
              <a:spcBef>
                <a:spcPts val="50"/>
              </a:spcBef>
              <a:lnSpc>
                <a:spcPct val="108"/>
              </a:lnSpc>
            </a:pPr>
            <a:r>
              <a:rPr lang="en-IN" sz="1160" b="0" dirty="0">
                <a:solidFill>
                  <a:srgbClr val="5C9BD6"/>
                </a:solidFill>
                <a:latin typeface="Calibri"/>
              </a:rPr>
              <a:t>▪  </a:t>
            </a:r>
            <a:r>
              <a:rPr lang="en-IN" sz="1160" b="0" dirty="0">
                <a:solidFill>
                  <a:srgbClr val="D0E4F7"/>
                </a:solidFill>
                <a:latin typeface="Calibri"/>
                <a:cs typeface="Nirmala UI"/>
              </a:rPr>
              <a:t>Standard CoNLL score = mean(MUC, B³, CEAF)</a:t>
            </a:r>
          </a:p>
          <a:p>
            <a:pPr indent="-228600" marL="228600">
              <a:spcBef>
                <a:spcPts val="50"/>
              </a:spcBef>
              <a:lnSpc>
                <a:spcPct val="108"/>
              </a:lnSpc>
            </a:pPr>
            <a:r>
              <a:rPr lang="en-IN" sz="1160" b="0" dirty="0">
                <a:solidFill>
                  <a:srgbClr val="5C9BD6"/>
                </a:solidFill>
                <a:latin typeface="Calibri"/>
              </a:rPr>
              <a:t>▪  </a:t>
            </a:r>
            <a:r>
              <a:rPr lang="en-IN" sz="1160" b="0" dirty="0">
                <a:solidFill>
                  <a:srgbClr val="D0E4F7"/>
                </a:solidFill>
                <a:latin typeface="Calibri"/>
                <a:cs typeface="Nirmala UI"/>
              </a:rPr>
              <a:t>Our Phase 2 CoNLL avg: ~75%  (estimated on dev set)</a:t>
            </a:r>
          </a:p>
        </p:txBody>
      </p:sp>
      <p:sp>
        <p:nvSpPr>
          <p:cNvPr id="26" name="NDiv"/>
          <p:cNvSpPr>
            <a:spLocks noGrp="1"/>
          </p:cNvSpPr>
          <p:nvPr/>
        </p:nvSpPr>
        <p:spPr>
          <a:xfrm>
            <a:off x="274320" y="4206240"/>
            <a:ext cx="11643360" cy="45720"/>
          </a:xfrm>
          <a:prstGeom prst="rect">
            <a:avLst/>
          </a:prstGeom>
          <a:solidFill>
            <a:srgbClr val="8AAEC8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NoteH"/>
          <p:cNvSpPr txBox="1">
            <a:spLocks noGrp="1"/>
          </p:cNvSpPr>
          <p:nvPr/>
        </p:nvSpPr>
        <p:spPr>
          <a:xfrm>
            <a:off x="274320" y="4297680"/>
            <a:ext cx="11643360" cy="34747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380" b="1" dirty="0">
                <a:solidFill>
                  <a:srgbClr val="F5A623"/>
                </a:solidFill>
                <a:latin typeface="Calibri"/>
                <a:cs typeface="Nirmala UI"/>
              </a:rPr>
              <a:t>METRICS USED IN THIS PROJECT  —  Primary Evaluation</a:t>
            </a:r>
          </a:p>
        </p:txBody>
      </p:sp>
      <p:sp>
        <p:nvSpPr>
          <p:cNvPr id="28" name="UsedB"/>
          <p:cNvSpPr txBox="1">
            <a:spLocks noGrp="1"/>
          </p:cNvSpPr>
          <p:nvPr/>
        </p:nvSpPr>
        <p:spPr>
          <a:xfrm>
            <a:off x="274320" y="4709160"/>
            <a:ext cx="11643360" cy="166420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indent="-228600" marL="228600">
              <a:spcBef>
                <a:spcPts val="50"/>
              </a:spcBef>
              <a:lnSpc>
                <a:spcPct val="107"/>
              </a:lnSpc>
            </a:pPr>
            <a:r>
              <a:rPr lang="en-IN" sz="1240" b="0" dirty="0">
                <a:solidFill>
                  <a:srgbClr val="00C9B1"/>
                </a:solidFill>
                <a:latin typeface="Calibri"/>
              </a:rPr>
              <a:t>▪  </a:t>
            </a:r>
            <a:r>
              <a:rPr lang="en-IN" sz="1240" b="0" dirty="0">
                <a:solidFill>
                  <a:srgbClr val="D0E4F7"/>
                </a:solidFill>
                <a:latin typeface="Calibri"/>
                <a:cs typeface="Nirmala UI"/>
              </a:rPr>
              <a:t>Primary metric: Pairwise Classification Accuracy — measured on held-out test pairs (20% of 2,270 annotated pairs)</a:t>
            </a:r>
          </a:p>
          <a:p>
            <a:pPr indent="-228600" marL="228600">
              <a:spcBef>
                <a:spcPts val="50"/>
              </a:spcBef>
              <a:lnSpc>
                <a:spcPct val="107"/>
              </a:lnSpc>
            </a:pPr>
            <a:r>
              <a:rPr lang="en-IN" sz="1140" b="0" dirty="0">
                <a:solidFill>
                  <a:srgbClr val="8AAEC8"/>
                </a:solidFill>
                <a:latin typeface="Calibri"/>
              </a:rPr>
              <a:t>  ◦  </a:t>
            </a:r>
            <a:r>
              <a:rPr lang="en-IN" sz="1140" b="0" dirty="0">
                <a:solidFill>
                  <a:srgbClr val="D0E4F7"/>
                </a:solidFill>
                <a:latin typeface="Calibri"/>
                <a:cs typeface="Nirmala UI"/>
              </a:rPr>
              <a:t>Directly measures the core classifier performance: can the model correctly label COREF vs NOT-COREF for mention pairs?</a:t>
            </a:r>
          </a:p>
          <a:p>
            <a:pPr indent="-228600" marL="228600">
              <a:spcBef>
                <a:spcPts val="50"/>
              </a:spcBef>
              <a:lnSpc>
                <a:spcPct val="107"/>
              </a:lnSpc>
            </a:pPr>
            <a:r>
              <a:rPr lang="en-IN" sz="1240" b="0" dirty="0">
                <a:solidFill>
                  <a:srgbClr val="00C9B1"/>
                </a:solidFill>
                <a:latin typeface="Calibri"/>
              </a:rPr>
              <a:t>▪  </a:t>
            </a:r>
            <a:r>
              <a:rPr lang="en-IN" sz="1240" b="0" dirty="0">
                <a:solidFill>
                  <a:srgbClr val="D0E4F7"/>
                </a:solidFill>
                <a:latin typeface="Calibri"/>
                <a:cs typeface="Nirmala UI"/>
              </a:rPr>
              <a:t>Secondary metrics: Precision, Recall, F1 computed on pairwise predictions — distinguishes false positives from false negatives</a:t>
            </a:r>
          </a:p>
          <a:p>
            <a:pPr indent="-228600" marL="228600">
              <a:spcBef>
                <a:spcPts val="50"/>
              </a:spcBef>
              <a:lnSpc>
                <a:spcPct val="107"/>
              </a:lnSpc>
            </a:pPr>
            <a:r>
              <a:rPr lang="en-IN" sz="1140" b="0" dirty="0">
                <a:solidFill>
                  <a:srgbClr val="8AAEC8"/>
                </a:solidFill>
                <a:latin typeface="Calibri"/>
              </a:rPr>
              <a:t>  ◦  </a:t>
            </a:r>
            <a:r>
              <a:rPr lang="en-IN" sz="1140" b="0" dirty="0">
                <a:solidFill>
                  <a:srgbClr val="D0E4F7"/>
                </a:solidFill>
                <a:latin typeface="Calibri"/>
                <a:cs typeface="Nirmala UI"/>
              </a:rPr>
              <a:t>Precision: of all pairs predicted COREF, how many are actually coreferent? (Phase 2: ~80%)</a:t>
            </a:r>
          </a:p>
          <a:p>
            <a:pPr indent="-228600" marL="228600">
              <a:spcBef>
                <a:spcPts val="50"/>
              </a:spcBef>
              <a:lnSpc>
                <a:spcPct val="107"/>
              </a:lnSpc>
            </a:pPr>
            <a:r>
              <a:rPr lang="en-IN" sz="1140" b="0" dirty="0">
                <a:solidFill>
                  <a:srgbClr val="8AAEC8"/>
                </a:solidFill>
                <a:latin typeface="Calibri"/>
              </a:rPr>
              <a:t>  ◦  </a:t>
            </a:r>
            <a:r>
              <a:rPr lang="en-IN" sz="1140" b="0" dirty="0">
                <a:solidFill>
                  <a:srgbClr val="D0E4F7"/>
                </a:solidFill>
                <a:latin typeface="Calibri"/>
                <a:cs typeface="Nirmala UI"/>
              </a:rPr>
              <a:t>Recall: of all truly coreferent pairs, how many did we find? (Phase 2: ~84%)</a:t>
            </a:r>
          </a:p>
          <a:p>
            <a:pPr indent="-228600" marL="228600">
              <a:spcBef>
                <a:spcPts val="50"/>
              </a:spcBef>
              <a:lnSpc>
                <a:spcPct val="107"/>
              </a:lnSpc>
            </a:pPr>
            <a:r>
              <a:rPr lang="en-IN" sz="1240" b="0" dirty="0">
                <a:solidFill>
                  <a:srgbClr val="00C9B1"/>
                </a:solidFill>
                <a:latin typeface="Calibri"/>
              </a:rPr>
              <a:t>▪  </a:t>
            </a:r>
            <a:r>
              <a:rPr lang="en-IN" sz="1240" b="0" dirty="0">
                <a:solidFill>
                  <a:srgbClr val="D0E4F7"/>
                </a:solidFill>
                <a:latin typeface="Calibri"/>
                <a:cs typeface="Nirmala UI"/>
              </a:rPr>
              <a:t>Limitation: Full MUC/B³/CEAF evaluation requires automatic mention detection pipeline (not yet implemented)</a:t>
            </a:r>
          </a:p>
          <a:p>
            <a:pPr indent="-228600" marL="228600">
              <a:spcBef>
                <a:spcPts val="50"/>
              </a:spcBef>
              <a:lnSpc>
                <a:spcPct val="107"/>
              </a:lnSpc>
            </a:pPr>
            <a:r>
              <a:rPr lang="en-IN" sz="1140" b="0" dirty="0">
                <a:solidFill>
                  <a:srgbClr val="8AAEC8"/>
                </a:solidFill>
                <a:latin typeface="Calibri"/>
              </a:rPr>
              <a:t>  ◦  </a:t>
            </a:r>
            <a:r>
              <a:rPr lang="en-IN" sz="1140" b="0" dirty="0">
                <a:solidFill>
                  <a:srgbClr val="D0E4F7"/>
                </a:solidFill>
                <a:latin typeface="Calibri"/>
                <a:cs typeface="Nirmala UI"/>
              </a:rPr>
              <a:t>Future work will add end-to-end evaluation using CoNLL scorer once mention detection is automated</a:t>
            </a:r>
          </a:p>
        </p:txBody>
      </p:sp>
      <p:sp>
        <p:nvSpPr>
          <p:cNvPr id="29" name="FB"/>
          <p:cNvSpPr>
            <a:spLocks noGrp="1"/>
          </p:cNvSpPr>
          <p:nvPr/>
        </p:nvSpPr>
        <p:spPr>
          <a:xfrm>
            <a:off x="0" y="6473952"/>
            <a:ext cx="12192000" cy="384048"/>
          </a:xfrm>
          <a:prstGeom prst="rect">
            <a:avLst/>
          </a:prstGeom>
          <a:solidFill>
            <a:srgbClr val="112238"/>
          </a:solidFill>
          <a:ln>
            <a:noFill/>
          </a:ln>
        </p:spPr>
        <p:txBody>
          <a:bodyPr/>
          <a:lstStyle/>
          <a:p/>
        </p:txBody>
      </p:sp>
      <p:sp>
        <p:nvSpPr>
          <p:cNvPr id="30" name="FL"/>
          <p:cNvSpPr>
            <a:spLocks noGrp="1"/>
          </p:cNvSpPr>
          <p:nvPr/>
        </p:nvSpPr>
        <p:spPr>
          <a:xfrm>
            <a:off x="0" y="6473952"/>
            <a:ext cx="12192000" cy="36576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txBody>
          <a:bodyPr/>
          <a:lstStyle/>
          <a:p/>
        </p:txBody>
      </p:sp>
      <p:sp>
        <p:nvSpPr>
          <p:cNvPr id="31" name="FL2"/>
          <p:cNvSpPr txBox="1">
            <a:spLocks noGrp="1"/>
          </p:cNvSpPr>
          <p:nvPr/>
        </p:nvSpPr>
        <p:spPr>
          <a:xfrm>
            <a:off x="274320" y="6510528"/>
            <a:ext cx="5486400" cy="310896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n-IN" sz="950" b="0" dirty="0">
                <a:solidFill>
                  <a:srgbClr val="8AAEC8"/>
                </a:solidFill>
                <a:latin typeface="Calibri"/>
                <a:cs typeface="Nirmala UI"/>
              </a:rPr>
              <a:t>Hindi Coreference Resolution  |  CIT Kokrajhar</a:t>
            </a:r>
          </a:p>
        </p:txBody>
      </p:sp>
      <p:sp>
        <p:nvSpPr>
          <p:cNvPr id="32" name="FR"/>
          <p:cNvSpPr txBox="1">
            <a:spLocks noGrp="1"/>
          </p:cNvSpPr>
          <p:nvPr/>
        </p:nvSpPr>
        <p:spPr>
          <a:xfrm>
            <a:off x="7772400" y="6510528"/>
            <a:ext cx="3200400" cy="310896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/>
            <a:r>
              <a:rPr lang="en-IN" sz="950" b="0" dirty="0">
                <a:solidFill>
                  <a:srgbClr val="8AAEC8"/>
                </a:solidFill>
                <a:latin typeface="Calibri"/>
                <a:cs typeface="Nirmala UI"/>
              </a:rPr>
              <a:t>B.Tech Project  |  2026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10" name="TopBar"/>
          <p:cNvSpPr>
            <a:spLocks noGrp="1"/>
          </p:cNvSpPr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12238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AccLine"/>
          <p:cNvSpPr>
            <a:spLocks noGrp="1"/>
          </p:cNvSpPr>
          <p:nvPr/>
        </p:nvSpPr>
        <p:spPr>
          <a:xfrm>
            <a:off x="0" y="1097280"/>
            <a:ext cx="12192000" cy="54864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itle"/>
          <p:cNvSpPr txBox="1">
            <a:spLocks noGrp="1"/>
          </p:cNvSpPr>
          <p:nvPr/>
        </p:nvSpPr>
        <p:spPr>
          <a:xfrm>
            <a:off x="365760" y="91440"/>
            <a:ext cx="10424160" cy="7772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n-IN" sz="2800" b="1" dirty="0">
                <a:solidFill>
                  <a:srgbClr val="FFFFFF"/>
                </a:solidFill>
                <a:latin typeface="Calibri"/>
                <a:cs typeface="Nirmala UI"/>
              </a:rPr>
              <a:t>Comparative Analysis</a:t>
            </a:r>
          </a:p>
        </p:txBody>
      </p:sp>
      <p:sp>
        <p:nvSpPr>
          <p:cNvPr id="13" name="Sub"/>
          <p:cNvSpPr txBox="1">
            <a:spLocks noGrp="1"/>
          </p:cNvSpPr>
          <p:nvPr/>
        </p:nvSpPr>
        <p:spPr>
          <a:xfrm>
            <a:off x="365760" y="749808"/>
            <a:ext cx="9144000" cy="38404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n-IN" sz="1300" b="0" dirty="0">
                <a:solidFill>
                  <a:srgbClr val="00C9B1"/>
                </a:solidFill>
                <a:latin typeface="Calibri"/>
                <a:cs typeface="Nirmala UI"/>
              </a:rPr>
              <a:t>Phase 1 vs Phase 2 — Detailed ablation study and feature importance</a:t>
            </a:r>
          </a:p>
        </p:txBody>
      </p:sp>
      <p:sp>
        <p:nvSpPr>
          <p:cNvPr id="14" name="TH0"/>
          <p:cNvSpPr>
            <a:spLocks noGrp="1"/>
          </p:cNvSpPr>
          <p:nvPr/>
        </p:nvSpPr>
        <p:spPr>
          <a:xfrm>
            <a:off x="274320" y="1298448"/>
            <a:ext cx="3703320" cy="475488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THT0"/>
          <p:cNvSpPr txBox="1">
            <a:spLocks noGrp="1"/>
          </p:cNvSpPr>
          <p:nvPr/>
        </p:nvSpPr>
        <p:spPr>
          <a:xfrm>
            <a:off x="347472" y="1371600"/>
            <a:ext cx="3593592" cy="38404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280" b="1" dirty="0">
                <a:solidFill>
                  <a:srgbClr val="FFFFFF"/>
                </a:solidFill>
                <a:latin typeface="Calibri"/>
                <a:cs typeface="Nirmala UI"/>
              </a:rPr>
              <a:t>Model / Configuration</a:t>
            </a:r>
          </a:p>
        </p:txBody>
      </p:sp>
      <p:sp>
        <p:nvSpPr>
          <p:cNvPr id="16" name="TH1"/>
          <p:cNvSpPr>
            <a:spLocks noGrp="1"/>
          </p:cNvSpPr>
          <p:nvPr/>
        </p:nvSpPr>
        <p:spPr>
          <a:xfrm>
            <a:off x="4050791" y="1298448"/>
            <a:ext cx="1920240" cy="475488"/>
          </a:xfrm>
          <a:prstGeom prst="rect">
            <a:avLst/>
          </a:prstGeom>
          <a:solidFill>
            <a:srgbClr val="1A3D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THT1"/>
          <p:cNvSpPr txBox="1">
            <a:spLocks noGrp="1"/>
          </p:cNvSpPr>
          <p:nvPr/>
        </p:nvSpPr>
        <p:spPr>
          <a:xfrm>
            <a:off x="4123943" y="1371600"/>
            <a:ext cx="1810512" cy="38404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280" b="1" dirty="0">
                <a:solidFill>
                  <a:srgbClr val="FFFFFF"/>
                </a:solidFill>
                <a:latin typeface="Calibri"/>
                <a:cs typeface="Nirmala UI"/>
              </a:rPr>
              <a:t>Key Feature</a:t>
            </a:r>
          </a:p>
        </p:txBody>
      </p:sp>
      <p:sp>
        <p:nvSpPr>
          <p:cNvPr id="18" name="TH2"/>
          <p:cNvSpPr>
            <a:spLocks noGrp="1"/>
          </p:cNvSpPr>
          <p:nvPr/>
        </p:nvSpPr>
        <p:spPr>
          <a:xfrm>
            <a:off x="6044184" y="1298448"/>
            <a:ext cx="1463040" cy="475488"/>
          </a:xfrm>
          <a:prstGeom prst="rect">
            <a:avLst/>
          </a:prstGeom>
          <a:solidFill>
            <a:srgbClr val="1A3D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THT2"/>
          <p:cNvSpPr txBox="1">
            <a:spLocks noGrp="1"/>
          </p:cNvSpPr>
          <p:nvPr/>
        </p:nvSpPr>
        <p:spPr>
          <a:xfrm>
            <a:off x="6117336" y="1371600"/>
            <a:ext cx="1353312" cy="38404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280" b="1" dirty="0">
                <a:solidFill>
                  <a:srgbClr val="FFFFFF"/>
                </a:solidFill>
                <a:latin typeface="Calibri"/>
                <a:cs typeface="Nirmala UI"/>
              </a:rPr>
              <a:t>Accuracy</a:t>
            </a:r>
          </a:p>
        </p:txBody>
      </p:sp>
      <p:sp>
        <p:nvSpPr>
          <p:cNvPr id="20" name="TH3"/>
          <p:cNvSpPr>
            <a:spLocks noGrp="1"/>
          </p:cNvSpPr>
          <p:nvPr/>
        </p:nvSpPr>
        <p:spPr>
          <a:xfrm>
            <a:off x="7580375" y="1298448"/>
            <a:ext cx="1463040" cy="475488"/>
          </a:xfrm>
          <a:prstGeom prst="rect">
            <a:avLst/>
          </a:prstGeom>
          <a:solidFill>
            <a:srgbClr val="1A3D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THT3"/>
          <p:cNvSpPr txBox="1">
            <a:spLocks noGrp="1"/>
          </p:cNvSpPr>
          <p:nvPr/>
        </p:nvSpPr>
        <p:spPr>
          <a:xfrm>
            <a:off x="7653527" y="1371600"/>
            <a:ext cx="1353312" cy="38404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280" b="1" dirty="0">
                <a:solidFill>
                  <a:srgbClr val="FFFFFF"/>
                </a:solidFill>
                <a:latin typeface="Calibri"/>
                <a:cs typeface="Nirmala UI"/>
              </a:rPr>
              <a:t>F1</a:t>
            </a:r>
          </a:p>
        </p:txBody>
      </p:sp>
      <p:sp>
        <p:nvSpPr>
          <p:cNvPr id="22" name="TH4"/>
          <p:cNvSpPr>
            <a:spLocks noGrp="1"/>
          </p:cNvSpPr>
          <p:nvPr/>
        </p:nvSpPr>
        <p:spPr>
          <a:xfrm>
            <a:off x="9116568" y="1298448"/>
            <a:ext cx="1581912" cy="475488"/>
          </a:xfrm>
          <a:prstGeom prst="rect">
            <a:avLst/>
          </a:prstGeom>
          <a:solidFill>
            <a:srgbClr val="1A3D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THT4"/>
          <p:cNvSpPr txBox="1">
            <a:spLocks noGrp="1"/>
          </p:cNvSpPr>
          <p:nvPr/>
        </p:nvSpPr>
        <p:spPr>
          <a:xfrm>
            <a:off x="9189720" y="1371600"/>
            <a:ext cx="1472184" cy="38404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280" b="1" dirty="0">
                <a:solidFill>
                  <a:srgbClr val="FFFFFF"/>
                </a:solidFill>
                <a:latin typeface="Calibri"/>
                <a:cs typeface="Nirmala UI"/>
              </a:rPr>
              <a:t>Delta vs P1</a:t>
            </a:r>
          </a:p>
        </p:txBody>
      </p:sp>
      <p:sp>
        <p:nvSpPr>
          <p:cNvPr id="24" name="AR00"/>
          <p:cNvSpPr>
            <a:spLocks noGrp="1"/>
          </p:cNvSpPr>
          <p:nvPr/>
        </p:nvSpPr>
        <p:spPr>
          <a:xfrm>
            <a:off x="274320" y="1773936"/>
            <a:ext cx="3703320" cy="475488"/>
          </a:xfrm>
          <a:prstGeom prst="rect">
            <a:avLst/>
          </a:prstGeom>
          <a:solidFill>
            <a:srgbClr val="122840"/>
          </a:solidFill>
          <a:ln>
            <a:noFill/>
          </a:ln>
        </p:spPr>
        <p:txBody>
          <a:bodyPr/>
          <a:lstStyle/>
          <a:p/>
        </p:txBody>
      </p:sp>
      <p:sp>
        <p:nvSpPr>
          <p:cNvPr id="25" name="ART00"/>
          <p:cNvSpPr txBox="1">
            <a:spLocks noGrp="1"/>
          </p:cNvSpPr>
          <p:nvPr/>
        </p:nvSpPr>
        <p:spPr>
          <a:xfrm>
            <a:off x="347472" y="1847088"/>
            <a:ext cx="3593592" cy="38404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n-IN" sz="1220" b="0" dirty="0">
                <a:solidFill>
                  <a:srgbClr val="D0E4F7"/>
                </a:solidFill>
                <a:latin typeface="Calibri"/>
                <a:cs typeface="Nirmala UI"/>
              </a:rPr>
              <a:t>Phase 1: BERT scratch + cosine cluster</a:t>
            </a:r>
          </a:p>
        </p:txBody>
      </p:sp>
      <p:sp>
        <p:nvSpPr>
          <p:cNvPr id="26" name="AR01"/>
          <p:cNvSpPr>
            <a:spLocks noGrp="1"/>
          </p:cNvSpPr>
          <p:nvPr/>
        </p:nvSpPr>
        <p:spPr>
          <a:xfrm>
            <a:off x="4050791" y="1773936"/>
            <a:ext cx="1920240" cy="475488"/>
          </a:xfrm>
          <a:prstGeom prst="rect">
            <a:avLst/>
          </a:prstGeom>
          <a:solidFill>
            <a:srgbClr val="122840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ART01"/>
          <p:cNvSpPr txBox="1">
            <a:spLocks noGrp="1"/>
          </p:cNvSpPr>
          <p:nvPr/>
        </p:nvSpPr>
        <p:spPr>
          <a:xfrm>
            <a:off x="4123943" y="1847088"/>
            <a:ext cx="1810512" cy="38404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280" b="0" dirty="0">
                <a:solidFill>
                  <a:srgbClr val="E05C5C"/>
                </a:solidFill>
                <a:latin typeface="Calibri"/>
                <a:cs typeface="Nirmala UI"/>
              </a:rPr>
              <a:t>No supervision</a:t>
            </a:r>
          </a:p>
        </p:txBody>
      </p:sp>
      <p:sp>
        <p:nvSpPr>
          <p:cNvPr id="28" name="AR02"/>
          <p:cNvSpPr>
            <a:spLocks noGrp="1"/>
          </p:cNvSpPr>
          <p:nvPr/>
        </p:nvSpPr>
        <p:spPr>
          <a:xfrm>
            <a:off x="6044184" y="1773936"/>
            <a:ext cx="1463040" cy="475488"/>
          </a:xfrm>
          <a:prstGeom prst="rect">
            <a:avLst/>
          </a:prstGeom>
          <a:solidFill>
            <a:srgbClr val="122840"/>
          </a:solidFill>
          <a:ln>
            <a:noFill/>
          </a:ln>
        </p:spPr>
        <p:txBody>
          <a:bodyPr/>
          <a:lstStyle/>
          <a:p/>
        </p:txBody>
      </p:sp>
      <p:sp>
        <p:nvSpPr>
          <p:cNvPr id="29" name="ART02"/>
          <p:cNvSpPr txBox="1">
            <a:spLocks noGrp="1"/>
          </p:cNvSpPr>
          <p:nvPr/>
        </p:nvSpPr>
        <p:spPr>
          <a:xfrm>
            <a:off x="6117336" y="1847088"/>
            <a:ext cx="1353312" cy="38404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280" b="0" dirty="0">
                <a:solidFill>
                  <a:srgbClr val="E05C5C"/>
                </a:solidFill>
                <a:latin typeface="Calibri"/>
                <a:cs typeface="Nirmala UI"/>
              </a:rPr>
              <a:t>~43%</a:t>
            </a:r>
          </a:p>
        </p:txBody>
      </p:sp>
      <p:sp>
        <p:nvSpPr>
          <p:cNvPr id="30" name="AR03"/>
          <p:cNvSpPr>
            <a:spLocks noGrp="1"/>
          </p:cNvSpPr>
          <p:nvPr/>
        </p:nvSpPr>
        <p:spPr>
          <a:xfrm>
            <a:off x="7580375" y="1773936"/>
            <a:ext cx="1463040" cy="475488"/>
          </a:xfrm>
          <a:prstGeom prst="rect">
            <a:avLst/>
          </a:prstGeom>
          <a:solidFill>
            <a:srgbClr val="122840"/>
          </a:solidFill>
          <a:ln>
            <a:noFill/>
          </a:ln>
        </p:spPr>
        <p:txBody>
          <a:bodyPr/>
          <a:lstStyle/>
          <a:p/>
        </p:txBody>
      </p:sp>
      <p:sp>
        <p:nvSpPr>
          <p:cNvPr id="31" name="ART03"/>
          <p:cNvSpPr txBox="1">
            <a:spLocks noGrp="1"/>
          </p:cNvSpPr>
          <p:nvPr/>
        </p:nvSpPr>
        <p:spPr>
          <a:xfrm>
            <a:off x="7653527" y="1847088"/>
            <a:ext cx="1353312" cy="38404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280" b="0" dirty="0">
                <a:solidFill>
                  <a:srgbClr val="E05C5C"/>
                </a:solidFill>
                <a:latin typeface="Calibri"/>
                <a:cs typeface="Nirmala UI"/>
              </a:rPr>
              <a:t>~43%</a:t>
            </a:r>
          </a:p>
        </p:txBody>
      </p:sp>
      <p:sp>
        <p:nvSpPr>
          <p:cNvPr id="32" name="AR04"/>
          <p:cNvSpPr>
            <a:spLocks noGrp="1"/>
          </p:cNvSpPr>
          <p:nvPr/>
        </p:nvSpPr>
        <p:spPr>
          <a:xfrm>
            <a:off x="9116568" y="1773936"/>
            <a:ext cx="1581912" cy="475488"/>
          </a:xfrm>
          <a:prstGeom prst="rect">
            <a:avLst/>
          </a:prstGeom>
          <a:solidFill>
            <a:srgbClr val="122840"/>
          </a:solidFill>
          <a:ln>
            <a:noFill/>
          </a:ln>
        </p:spPr>
        <p:txBody>
          <a:bodyPr/>
          <a:lstStyle/>
          <a:p/>
        </p:txBody>
      </p:sp>
      <p:sp>
        <p:nvSpPr>
          <p:cNvPr id="33" name="ART04"/>
          <p:cNvSpPr txBox="1">
            <a:spLocks noGrp="1"/>
          </p:cNvSpPr>
          <p:nvPr/>
        </p:nvSpPr>
        <p:spPr>
          <a:xfrm>
            <a:off x="9189720" y="1847088"/>
            <a:ext cx="1472184" cy="38404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280" b="0" dirty="0">
                <a:solidFill>
                  <a:srgbClr val="E05C5C"/>
                </a:solidFill>
                <a:latin typeface="Calibri"/>
                <a:cs typeface="Nirmala UI"/>
              </a:rPr>
              <a:t>—</a:t>
            </a:r>
          </a:p>
        </p:txBody>
      </p:sp>
      <p:sp>
        <p:nvSpPr>
          <p:cNvPr id="34" name="AR10"/>
          <p:cNvSpPr>
            <a:spLocks noGrp="1"/>
          </p:cNvSpPr>
          <p:nvPr/>
        </p:nvSpPr>
        <p:spPr>
          <a:xfrm>
            <a:off x="274320" y="2249424"/>
            <a:ext cx="3703320" cy="475488"/>
          </a:xfrm>
          <a:prstGeom prst="rect">
            <a:avLst/>
          </a:prstGeom>
          <a:solidFill>
            <a:srgbClr val="0D1B2E"/>
          </a:solidFill>
          <a:ln>
            <a:noFill/>
          </a:ln>
        </p:spPr>
        <p:txBody>
          <a:bodyPr/>
          <a:lstStyle/>
          <a:p/>
        </p:txBody>
      </p:sp>
      <p:sp>
        <p:nvSpPr>
          <p:cNvPr id="35" name="ART10"/>
          <p:cNvSpPr txBox="1">
            <a:spLocks noGrp="1"/>
          </p:cNvSpPr>
          <p:nvPr/>
        </p:nvSpPr>
        <p:spPr>
          <a:xfrm>
            <a:off x="347472" y="2322576"/>
            <a:ext cx="3593592" cy="38404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n-IN" sz="1220" b="0" dirty="0">
                <a:solidFill>
                  <a:srgbClr val="D0E4F7"/>
                </a:solidFill>
                <a:latin typeface="Calibri"/>
                <a:cs typeface="Nirmala UI"/>
              </a:rPr>
              <a:t>Phase 2A: IndicBERTv2 emb. similarity only</a:t>
            </a:r>
          </a:p>
        </p:txBody>
      </p:sp>
      <p:sp>
        <p:nvSpPr>
          <p:cNvPr id="36" name="AR11"/>
          <p:cNvSpPr>
            <a:spLocks noGrp="1"/>
          </p:cNvSpPr>
          <p:nvPr/>
        </p:nvSpPr>
        <p:spPr>
          <a:xfrm>
            <a:off x="4050791" y="2249424"/>
            <a:ext cx="1920240" cy="475488"/>
          </a:xfrm>
          <a:prstGeom prst="rect">
            <a:avLst/>
          </a:prstGeom>
          <a:solidFill>
            <a:srgbClr val="0D1B2E"/>
          </a:solidFill>
          <a:ln>
            <a:noFill/>
          </a:ln>
        </p:spPr>
        <p:txBody>
          <a:bodyPr/>
          <a:lstStyle/>
          <a:p/>
        </p:txBody>
      </p:sp>
      <p:sp>
        <p:nvSpPr>
          <p:cNvPr id="37" name="ART11"/>
          <p:cNvSpPr txBox="1">
            <a:spLocks noGrp="1"/>
          </p:cNvSpPr>
          <p:nvPr/>
        </p:nvSpPr>
        <p:spPr>
          <a:xfrm>
            <a:off x="4123943" y="2322576"/>
            <a:ext cx="1810512" cy="38404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280" b="0" dirty="0">
                <a:solidFill>
                  <a:srgbClr val="8AAEC8"/>
                </a:solidFill>
                <a:latin typeface="Calibri"/>
                <a:cs typeface="Nirmala UI"/>
              </a:rPr>
              <a:t>Pretrained emb.</a:t>
            </a:r>
          </a:p>
        </p:txBody>
      </p:sp>
      <p:sp>
        <p:nvSpPr>
          <p:cNvPr id="38" name="AR12"/>
          <p:cNvSpPr>
            <a:spLocks noGrp="1"/>
          </p:cNvSpPr>
          <p:nvPr/>
        </p:nvSpPr>
        <p:spPr>
          <a:xfrm>
            <a:off x="6044184" y="2249424"/>
            <a:ext cx="1463040" cy="475488"/>
          </a:xfrm>
          <a:prstGeom prst="rect">
            <a:avLst/>
          </a:prstGeom>
          <a:solidFill>
            <a:srgbClr val="0D1B2E"/>
          </a:solidFill>
          <a:ln>
            <a:noFill/>
          </a:ln>
        </p:spPr>
        <p:txBody>
          <a:bodyPr/>
          <a:lstStyle/>
          <a:p/>
        </p:txBody>
      </p:sp>
      <p:sp>
        <p:nvSpPr>
          <p:cNvPr id="39" name="ART12"/>
          <p:cNvSpPr txBox="1">
            <a:spLocks noGrp="1"/>
          </p:cNvSpPr>
          <p:nvPr/>
        </p:nvSpPr>
        <p:spPr>
          <a:xfrm>
            <a:off x="6117336" y="2322576"/>
            <a:ext cx="1353312" cy="38404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280" b="0" dirty="0">
                <a:solidFill>
                  <a:srgbClr val="8AAEC8"/>
                </a:solidFill>
                <a:latin typeface="Calibri"/>
                <a:cs typeface="Nirmala UI"/>
              </a:rPr>
              <a:t>~65%</a:t>
            </a:r>
          </a:p>
        </p:txBody>
      </p:sp>
      <p:sp>
        <p:nvSpPr>
          <p:cNvPr id="40" name="AR13"/>
          <p:cNvSpPr>
            <a:spLocks noGrp="1"/>
          </p:cNvSpPr>
          <p:nvPr/>
        </p:nvSpPr>
        <p:spPr>
          <a:xfrm>
            <a:off x="7580375" y="2249424"/>
            <a:ext cx="1463040" cy="475488"/>
          </a:xfrm>
          <a:prstGeom prst="rect">
            <a:avLst/>
          </a:prstGeom>
          <a:solidFill>
            <a:srgbClr val="0D1B2E"/>
          </a:solidFill>
          <a:ln>
            <a:noFill/>
          </a:ln>
        </p:spPr>
        <p:txBody>
          <a:bodyPr/>
          <a:lstStyle/>
          <a:p/>
        </p:txBody>
      </p:sp>
      <p:sp>
        <p:nvSpPr>
          <p:cNvPr id="41" name="ART13"/>
          <p:cNvSpPr txBox="1">
            <a:spLocks noGrp="1"/>
          </p:cNvSpPr>
          <p:nvPr/>
        </p:nvSpPr>
        <p:spPr>
          <a:xfrm>
            <a:off x="7653527" y="2322576"/>
            <a:ext cx="1353312" cy="38404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280" b="0" dirty="0">
                <a:solidFill>
                  <a:srgbClr val="8AAEC8"/>
                </a:solidFill>
                <a:latin typeface="Calibri"/>
                <a:cs typeface="Nirmala UI"/>
              </a:rPr>
              <a:t>~62%</a:t>
            </a:r>
          </a:p>
        </p:txBody>
      </p:sp>
      <p:sp>
        <p:nvSpPr>
          <p:cNvPr id="42" name="AR14"/>
          <p:cNvSpPr>
            <a:spLocks noGrp="1"/>
          </p:cNvSpPr>
          <p:nvPr/>
        </p:nvSpPr>
        <p:spPr>
          <a:xfrm>
            <a:off x="9116568" y="2249424"/>
            <a:ext cx="1581912" cy="475488"/>
          </a:xfrm>
          <a:prstGeom prst="rect">
            <a:avLst/>
          </a:prstGeom>
          <a:solidFill>
            <a:srgbClr val="0D1B2E"/>
          </a:solidFill>
          <a:ln>
            <a:noFill/>
          </a:ln>
        </p:spPr>
        <p:txBody>
          <a:bodyPr/>
          <a:lstStyle/>
          <a:p/>
        </p:txBody>
      </p:sp>
      <p:sp>
        <p:nvSpPr>
          <p:cNvPr id="43" name="ART14"/>
          <p:cNvSpPr txBox="1">
            <a:spLocks noGrp="1"/>
          </p:cNvSpPr>
          <p:nvPr/>
        </p:nvSpPr>
        <p:spPr>
          <a:xfrm>
            <a:off x="9189720" y="2322576"/>
            <a:ext cx="1472184" cy="38404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280" b="0" dirty="0">
                <a:solidFill>
                  <a:srgbClr val="8AAEC8"/>
                </a:solidFill>
                <a:latin typeface="Calibri"/>
                <a:cs typeface="Nirmala UI"/>
              </a:rPr>
              <a:t>+22pp</a:t>
            </a:r>
          </a:p>
        </p:txBody>
      </p:sp>
      <p:sp>
        <p:nvSpPr>
          <p:cNvPr id="44" name="AR20"/>
          <p:cNvSpPr>
            <a:spLocks noGrp="1"/>
          </p:cNvSpPr>
          <p:nvPr/>
        </p:nvSpPr>
        <p:spPr>
          <a:xfrm>
            <a:off x="274320" y="2724912"/>
            <a:ext cx="3703320" cy="475488"/>
          </a:xfrm>
          <a:prstGeom prst="rect">
            <a:avLst/>
          </a:prstGeom>
          <a:solidFill>
            <a:srgbClr val="122840"/>
          </a:solidFill>
          <a:ln>
            <a:noFill/>
          </a:ln>
        </p:spPr>
        <p:txBody>
          <a:bodyPr/>
          <a:lstStyle/>
          <a:p/>
        </p:txBody>
      </p:sp>
      <p:sp>
        <p:nvSpPr>
          <p:cNvPr id="45" name="ART20"/>
          <p:cNvSpPr txBox="1">
            <a:spLocks noGrp="1"/>
          </p:cNvSpPr>
          <p:nvPr/>
        </p:nvSpPr>
        <p:spPr>
          <a:xfrm>
            <a:off x="347472" y="2798064"/>
            <a:ext cx="3593592" cy="38404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n-IN" sz="1220" b="0" dirty="0">
                <a:solidFill>
                  <a:srgbClr val="D0E4F7"/>
                </a:solidFill>
                <a:latin typeface="Calibri"/>
                <a:cs typeface="Nirmala UI"/>
              </a:rPr>
              <a:t>Phase 2B: Emb. + pronoun features</a:t>
            </a:r>
          </a:p>
        </p:txBody>
      </p:sp>
      <p:sp>
        <p:nvSpPr>
          <p:cNvPr id="46" name="AR21"/>
          <p:cNvSpPr>
            <a:spLocks noGrp="1"/>
          </p:cNvSpPr>
          <p:nvPr/>
        </p:nvSpPr>
        <p:spPr>
          <a:xfrm>
            <a:off x="4050791" y="2724912"/>
            <a:ext cx="1920240" cy="475488"/>
          </a:xfrm>
          <a:prstGeom prst="rect">
            <a:avLst/>
          </a:prstGeom>
          <a:solidFill>
            <a:srgbClr val="122840"/>
          </a:solidFill>
          <a:ln>
            <a:noFill/>
          </a:ln>
        </p:spPr>
        <p:txBody>
          <a:bodyPr/>
          <a:lstStyle/>
          <a:p/>
        </p:txBody>
      </p:sp>
      <p:sp>
        <p:nvSpPr>
          <p:cNvPr id="47" name="ART21"/>
          <p:cNvSpPr txBox="1">
            <a:spLocks noGrp="1"/>
          </p:cNvSpPr>
          <p:nvPr/>
        </p:nvSpPr>
        <p:spPr>
          <a:xfrm>
            <a:off x="4123943" y="2798064"/>
            <a:ext cx="1810512" cy="38404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280" b="0" dirty="0">
                <a:solidFill>
                  <a:srgbClr val="D0E4F7"/>
                </a:solidFill>
                <a:latin typeface="Calibri"/>
                <a:cs typeface="Nirmala UI"/>
              </a:rPr>
              <a:t>+ Pronoun flag</a:t>
            </a:r>
          </a:p>
        </p:txBody>
      </p:sp>
      <p:sp>
        <p:nvSpPr>
          <p:cNvPr id="48" name="AR22"/>
          <p:cNvSpPr>
            <a:spLocks noGrp="1"/>
          </p:cNvSpPr>
          <p:nvPr/>
        </p:nvSpPr>
        <p:spPr>
          <a:xfrm>
            <a:off x="6044184" y="2724912"/>
            <a:ext cx="1463040" cy="475488"/>
          </a:xfrm>
          <a:prstGeom prst="rect">
            <a:avLst/>
          </a:prstGeom>
          <a:solidFill>
            <a:srgbClr val="122840"/>
          </a:solidFill>
          <a:ln>
            <a:noFill/>
          </a:ln>
        </p:spPr>
        <p:txBody>
          <a:bodyPr/>
          <a:lstStyle/>
          <a:p/>
        </p:txBody>
      </p:sp>
      <p:sp>
        <p:nvSpPr>
          <p:cNvPr id="49" name="ART22"/>
          <p:cNvSpPr txBox="1">
            <a:spLocks noGrp="1"/>
          </p:cNvSpPr>
          <p:nvPr/>
        </p:nvSpPr>
        <p:spPr>
          <a:xfrm>
            <a:off x="6117336" y="2798064"/>
            <a:ext cx="1353312" cy="38404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280" b="0" dirty="0">
                <a:solidFill>
                  <a:srgbClr val="D0E4F7"/>
                </a:solidFill>
                <a:latin typeface="Calibri"/>
                <a:cs typeface="Nirmala UI"/>
              </a:rPr>
              <a:t>~71%</a:t>
            </a:r>
          </a:p>
        </p:txBody>
      </p:sp>
      <p:sp>
        <p:nvSpPr>
          <p:cNvPr id="50" name="AR23"/>
          <p:cNvSpPr>
            <a:spLocks noGrp="1"/>
          </p:cNvSpPr>
          <p:nvPr/>
        </p:nvSpPr>
        <p:spPr>
          <a:xfrm>
            <a:off x="7580375" y="2724912"/>
            <a:ext cx="1463040" cy="475488"/>
          </a:xfrm>
          <a:prstGeom prst="rect">
            <a:avLst/>
          </a:prstGeom>
          <a:solidFill>
            <a:srgbClr val="122840"/>
          </a:solidFill>
          <a:ln>
            <a:noFill/>
          </a:ln>
        </p:spPr>
        <p:txBody>
          <a:bodyPr/>
          <a:lstStyle/>
          <a:p/>
        </p:txBody>
      </p:sp>
      <p:sp>
        <p:nvSpPr>
          <p:cNvPr id="51" name="ART23"/>
          <p:cNvSpPr txBox="1">
            <a:spLocks noGrp="1"/>
          </p:cNvSpPr>
          <p:nvPr/>
        </p:nvSpPr>
        <p:spPr>
          <a:xfrm>
            <a:off x="7653527" y="2798064"/>
            <a:ext cx="1353312" cy="38404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280" b="0" dirty="0">
                <a:solidFill>
                  <a:srgbClr val="D0E4F7"/>
                </a:solidFill>
                <a:latin typeface="Calibri"/>
                <a:cs typeface="Nirmala UI"/>
              </a:rPr>
              <a:t>~69%</a:t>
            </a:r>
          </a:p>
        </p:txBody>
      </p:sp>
      <p:sp>
        <p:nvSpPr>
          <p:cNvPr id="52" name="AR24"/>
          <p:cNvSpPr>
            <a:spLocks noGrp="1"/>
          </p:cNvSpPr>
          <p:nvPr/>
        </p:nvSpPr>
        <p:spPr>
          <a:xfrm>
            <a:off x="9116568" y="2724912"/>
            <a:ext cx="1581912" cy="475488"/>
          </a:xfrm>
          <a:prstGeom prst="rect">
            <a:avLst/>
          </a:prstGeom>
          <a:solidFill>
            <a:srgbClr val="122840"/>
          </a:solidFill>
          <a:ln>
            <a:noFill/>
          </a:ln>
        </p:spPr>
        <p:txBody>
          <a:bodyPr/>
          <a:lstStyle/>
          <a:p/>
        </p:txBody>
      </p:sp>
      <p:sp>
        <p:nvSpPr>
          <p:cNvPr id="53" name="ART24"/>
          <p:cNvSpPr txBox="1">
            <a:spLocks noGrp="1"/>
          </p:cNvSpPr>
          <p:nvPr/>
        </p:nvSpPr>
        <p:spPr>
          <a:xfrm>
            <a:off x="9189720" y="2798064"/>
            <a:ext cx="1472184" cy="38404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280" b="0" dirty="0">
                <a:solidFill>
                  <a:srgbClr val="D0E4F7"/>
                </a:solidFill>
                <a:latin typeface="Calibri"/>
                <a:cs typeface="Nirmala UI"/>
              </a:rPr>
              <a:t>+28pp</a:t>
            </a:r>
          </a:p>
        </p:txBody>
      </p:sp>
      <p:sp>
        <p:nvSpPr>
          <p:cNvPr id="54" name="AR30"/>
          <p:cNvSpPr>
            <a:spLocks noGrp="1"/>
          </p:cNvSpPr>
          <p:nvPr/>
        </p:nvSpPr>
        <p:spPr>
          <a:xfrm>
            <a:off x="274320" y="3200400"/>
            <a:ext cx="3703320" cy="475488"/>
          </a:xfrm>
          <a:prstGeom prst="rect">
            <a:avLst/>
          </a:prstGeom>
          <a:solidFill>
            <a:srgbClr val="0D1B2E"/>
          </a:solidFill>
          <a:ln>
            <a:noFill/>
          </a:ln>
        </p:spPr>
        <p:txBody>
          <a:bodyPr/>
          <a:lstStyle/>
          <a:p/>
        </p:txBody>
      </p:sp>
      <p:sp>
        <p:nvSpPr>
          <p:cNvPr id="55" name="ART30"/>
          <p:cNvSpPr txBox="1">
            <a:spLocks noGrp="1"/>
          </p:cNvSpPr>
          <p:nvPr/>
        </p:nvSpPr>
        <p:spPr>
          <a:xfrm>
            <a:off x="347472" y="3273552"/>
            <a:ext cx="3593592" cy="38404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n-IN" sz="1220" b="0" dirty="0">
                <a:solidFill>
                  <a:srgbClr val="D0E4F7"/>
                </a:solidFill>
                <a:latin typeface="Calibri"/>
                <a:cs typeface="Nirmala UI"/>
              </a:rPr>
              <a:t>Phase 2C: Emb. + pronoun + distance</a:t>
            </a:r>
          </a:p>
        </p:txBody>
      </p:sp>
      <p:sp>
        <p:nvSpPr>
          <p:cNvPr id="56" name="AR31"/>
          <p:cNvSpPr>
            <a:spLocks noGrp="1"/>
          </p:cNvSpPr>
          <p:nvPr/>
        </p:nvSpPr>
        <p:spPr>
          <a:xfrm>
            <a:off x="4050791" y="3200400"/>
            <a:ext cx="1920240" cy="475488"/>
          </a:xfrm>
          <a:prstGeom prst="rect">
            <a:avLst/>
          </a:prstGeom>
          <a:solidFill>
            <a:srgbClr val="0D1B2E"/>
          </a:solidFill>
          <a:ln>
            <a:noFill/>
          </a:ln>
        </p:spPr>
        <p:txBody>
          <a:bodyPr/>
          <a:lstStyle/>
          <a:p/>
        </p:txBody>
      </p:sp>
      <p:sp>
        <p:nvSpPr>
          <p:cNvPr id="57" name="ART31"/>
          <p:cNvSpPr txBox="1">
            <a:spLocks noGrp="1"/>
          </p:cNvSpPr>
          <p:nvPr/>
        </p:nvSpPr>
        <p:spPr>
          <a:xfrm>
            <a:off x="4123943" y="3273552"/>
            <a:ext cx="1810512" cy="38404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280" b="0" dirty="0">
                <a:solidFill>
                  <a:srgbClr val="D0E4F7"/>
                </a:solidFill>
                <a:latin typeface="Calibri"/>
                <a:cs typeface="Nirmala UI"/>
              </a:rPr>
              <a:t>+ Sent. distance</a:t>
            </a:r>
          </a:p>
        </p:txBody>
      </p:sp>
      <p:sp>
        <p:nvSpPr>
          <p:cNvPr id="58" name="AR32"/>
          <p:cNvSpPr>
            <a:spLocks noGrp="1"/>
          </p:cNvSpPr>
          <p:nvPr/>
        </p:nvSpPr>
        <p:spPr>
          <a:xfrm>
            <a:off x="6044184" y="3200400"/>
            <a:ext cx="1463040" cy="475488"/>
          </a:xfrm>
          <a:prstGeom prst="rect">
            <a:avLst/>
          </a:prstGeom>
          <a:solidFill>
            <a:srgbClr val="0D1B2E"/>
          </a:solidFill>
          <a:ln>
            <a:noFill/>
          </a:ln>
        </p:spPr>
        <p:txBody>
          <a:bodyPr/>
          <a:lstStyle/>
          <a:p/>
        </p:txBody>
      </p:sp>
      <p:sp>
        <p:nvSpPr>
          <p:cNvPr id="59" name="ART32"/>
          <p:cNvSpPr txBox="1">
            <a:spLocks noGrp="1"/>
          </p:cNvSpPr>
          <p:nvPr/>
        </p:nvSpPr>
        <p:spPr>
          <a:xfrm>
            <a:off x="6117336" y="3273552"/>
            <a:ext cx="1353312" cy="38404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280" b="0" dirty="0">
                <a:solidFill>
                  <a:srgbClr val="D0E4F7"/>
                </a:solidFill>
                <a:latin typeface="Calibri"/>
                <a:cs typeface="Nirmala UI"/>
              </a:rPr>
              <a:t>~75%</a:t>
            </a:r>
          </a:p>
        </p:txBody>
      </p:sp>
      <p:sp>
        <p:nvSpPr>
          <p:cNvPr id="60" name="AR33"/>
          <p:cNvSpPr>
            <a:spLocks noGrp="1"/>
          </p:cNvSpPr>
          <p:nvPr/>
        </p:nvSpPr>
        <p:spPr>
          <a:xfrm>
            <a:off x="7580375" y="3200400"/>
            <a:ext cx="1463040" cy="475488"/>
          </a:xfrm>
          <a:prstGeom prst="rect">
            <a:avLst/>
          </a:prstGeom>
          <a:solidFill>
            <a:srgbClr val="0D1B2E"/>
          </a:solidFill>
          <a:ln>
            <a:noFill/>
          </a:ln>
        </p:spPr>
        <p:txBody>
          <a:bodyPr/>
          <a:lstStyle/>
          <a:p/>
        </p:txBody>
      </p:sp>
      <p:sp>
        <p:nvSpPr>
          <p:cNvPr id="61" name="ART33"/>
          <p:cNvSpPr txBox="1">
            <a:spLocks noGrp="1"/>
          </p:cNvSpPr>
          <p:nvPr/>
        </p:nvSpPr>
        <p:spPr>
          <a:xfrm>
            <a:off x="7653527" y="3273552"/>
            <a:ext cx="1353312" cy="38404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280" b="0" dirty="0">
                <a:solidFill>
                  <a:srgbClr val="D0E4F7"/>
                </a:solidFill>
                <a:latin typeface="Calibri"/>
                <a:cs typeface="Nirmala UI"/>
              </a:rPr>
              <a:t>~73%</a:t>
            </a:r>
          </a:p>
        </p:txBody>
      </p:sp>
      <p:sp>
        <p:nvSpPr>
          <p:cNvPr id="62" name="AR34"/>
          <p:cNvSpPr>
            <a:spLocks noGrp="1"/>
          </p:cNvSpPr>
          <p:nvPr/>
        </p:nvSpPr>
        <p:spPr>
          <a:xfrm>
            <a:off x="9116568" y="3200400"/>
            <a:ext cx="1581912" cy="475488"/>
          </a:xfrm>
          <a:prstGeom prst="rect">
            <a:avLst/>
          </a:prstGeom>
          <a:solidFill>
            <a:srgbClr val="0D1B2E"/>
          </a:solidFill>
          <a:ln>
            <a:noFill/>
          </a:ln>
        </p:spPr>
        <p:txBody>
          <a:bodyPr/>
          <a:lstStyle/>
          <a:p/>
        </p:txBody>
      </p:sp>
      <p:sp>
        <p:nvSpPr>
          <p:cNvPr id="63" name="ART34"/>
          <p:cNvSpPr txBox="1">
            <a:spLocks noGrp="1"/>
          </p:cNvSpPr>
          <p:nvPr/>
        </p:nvSpPr>
        <p:spPr>
          <a:xfrm>
            <a:off x="9189720" y="3273552"/>
            <a:ext cx="1472184" cy="38404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280" b="0" dirty="0">
                <a:solidFill>
                  <a:srgbClr val="D0E4F7"/>
                </a:solidFill>
                <a:latin typeface="Calibri"/>
                <a:cs typeface="Nirmala UI"/>
              </a:rPr>
              <a:t>+32pp</a:t>
            </a:r>
          </a:p>
        </p:txBody>
      </p:sp>
      <p:sp>
        <p:nvSpPr>
          <p:cNvPr id="64" name="AR40"/>
          <p:cNvSpPr>
            <a:spLocks noGrp="1"/>
          </p:cNvSpPr>
          <p:nvPr/>
        </p:nvSpPr>
        <p:spPr>
          <a:xfrm>
            <a:off x="274320" y="3675888"/>
            <a:ext cx="3703320" cy="475488"/>
          </a:xfrm>
          <a:prstGeom prst="rect">
            <a:avLst/>
          </a:prstGeom>
          <a:solidFill>
            <a:srgbClr val="122840"/>
          </a:solidFill>
          <a:ln>
            <a:noFill/>
          </a:ln>
        </p:spPr>
        <p:txBody>
          <a:bodyPr/>
          <a:lstStyle/>
          <a:p/>
        </p:txBody>
      </p:sp>
      <p:sp>
        <p:nvSpPr>
          <p:cNvPr id="65" name="ART40"/>
          <p:cNvSpPr txBox="1">
            <a:spLocks noGrp="1"/>
          </p:cNvSpPr>
          <p:nvPr/>
        </p:nvSpPr>
        <p:spPr>
          <a:xfrm>
            <a:off x="347472" y="3749040"/>
            <a:ext cx="3593592" cy="38404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n-IN" sz="1220" b="0" dirty="0">
                <a:solidFill>
                  <a:srgbClr val="D0E4F7"/>
                </a:solidFill>
                <a:latin typeface="Calibri"/>
                <a:cs typeface="Nirmala UI"/>
              </a:rPr>
              <a:t>Phase 2D: Emb. + pronoun + dist + clause</a:t>
            </a:r>
          </a:p>
        </p:txBody>
      </p:sp>
      <p:sp>
        <p:nvSpPr>
          <p:cNvPr id="66" name="AR41"/>
          <p:cNvSpPr>
            <a:spLocks noGrp="1"/>
          </p:cNvSpPr>
          <p:nvPr/>
        </p:nvSpPr>
        <p:spPr>
          <a:xfrm>
            <a:off x="4050791" y="3675888"/>
            <a:ext cx="1920240" cy="475488"/>
          </a:xfrm>
          <a:prstGeom prst="rect">
            <a:avLst/>
          </a:prstGeom>
          <a:solidFill>
            <a:srgbClr val="122840"/>
          </a:solidFill>
          <a:ln>
            <a:noFill/>
          </a:ln>
        </p:spPr>
        <p:txBody>
          <a:bodyPr/>
          <a:lstStyle/>
          <a:p/>
        </p:txBody>
      </p:sp>
      <p:sp>
        <p:nvSpPr>
          <p:cNvPr id="67" name="ART41"/>
          <p:cNvSpPr txBox="1">
            <a:spLocks noGrp="1"/>
          </p:cNvSpPr>
          <p:nvPr/>
        </p:nvSpPr>
        <p:spPr>
          <a:xfrm>
            <a:off x="4123943" y="3749040"/>
            <a:ext cx="1810512" cy="38404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280" b="0" dirty="0">
                <a:solidFill>
                  <a:srgbClr val="D0E4F7"/>
                </a:solidFill>
                <a:latin typeface="Calibri"/>
                <a:cs typeface="Nirmala UI"/>
              </a:rPr>
              <a:t>+ Clause feat.</a:t>
            </a:r>
          </a:p>
        </p:txBody>
      </p:sp>
      <p:sp>
        <p:nvSpPr>
          <p:cNvPr id="68" name="AR42"/>
          <p:cNvSpPr>
            <a:spLocks noGrp="1"/>
          </p:cNvSpPr>
          <p:nvPr/>
        </p:nvSpPr>
        <p:spPr>
          <a:xfrm>
            <a:off x="6044184" y="3675888"/>
            <a:ext cx="1463040" cy="475488"/>
          </a:xfrm>
          <a:prstGeom prst="rect">
            <a:avLst/>
          </a:prstGeom>
          <a:solidFill>
            <a:srgbClr val="122840"/>
          </a:solidFill>
          <a:ln>
            <a:noFill/>
          </a:ln>
        </p:spPr>
        <p:txBody>
          <a:bodyPr/>
          <a:lstStyle/>
          <a:p/>
        </p:txBody>
      </p:sp>
      <p:sp>
        <p:nvSpPr>
          <p:cNvPr id="69" name="ART42"/>
          <p:cNvSpPr txBox="1">
            <a:spLocks noGrp="1"/>
          </p:cNvSpPr>
          <p:nvPr/>
        </p:nvSpPr>
        <p:spPr>
          <a:xfrm>
            <a:off x="6117336" y="3749040"/>
            <a:ext cx="1353312" cy="38404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280" b="0" dirty="0">
                <a:solidFill>
                  <a:srgbClr val="D0E4F7"/>
                </a:solidFill>
                <a:latin typeface="Calibri"/>
                <a:cs typeface="Nirmala UI"/>
              </a:rPr>
              <a:t>~79%</a:t>
            </a:r>
          </a:p>
        </p:txBody>
      </p:sp>
      <p:sp>
        <p:nvSpPr>
          <p:cNvPr id="70" name="AR43"/>
          <p:cNvSpPr>
            <a:spLocks noGrp="1"/>
          </p:cNvSpPr>
          <p:nvPr/>
        </p:nvSpPr>
        <p:spPr>
          <a:xfrm>
            <a:off x="7580375" y="3675888"/>
            <a:ext cx="1463040" cy="475488"/>
          </a:xfrm>
          <a:prstGeom prst="rect">
            <a:avLst/>
          </a:prstGeom>
          <a:solidFill>
            <a:srgbClr val="122840"/>
          </a:solidFill>
          <a:ln>
            <a:noFill/>
          </a:ln>
        </p:spPr>
        <p:txBody>
          <a:bodyPr/>
          <a:lstStyle/>
          <a:p/>
        </p:txBody>
      </p:sp>
      <p:sp>
        <p:nvSpPr>
          <p:cNvPr id="71" name="ART43"/>
          <p:cNvSpPr txBox="1">
            <a:spLocks noGrp="1"/>
          </p:cNvSpPr>
          <p:nvPr/>
        </p:nvSpPr>
        <p:spPr>
          <a:xfrm>
            <a:off x="7653527" y="3749040"/>
            <a:ext cx="1353312" cy="38404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280" b="0" dirty="0">
                <a:solidFill>
                  <a:srgbClr val="D0E4F7"/>
                </a:solidFill>
                <a:latin typeface="Calibri"/>
                <a:cs typeface="Nirmala UI"/>
              </a:rPr>
              <a:t>~77%</a:t>
            </a:r>
          </a:p>
        </p:txBody>
      </p:sp>
      <p:sp>
        <p:nvSpPr>
          <p:cNvPr id="72" name="AR44"/>
          <p:cNvSpPr>
            <a:spLocks noGrp="1"/>
          </p:cNvSpPr>
          <p:nvPr/>
        </p:nvSpPr>
        <p:spPr>
          <a:xfrm>
            <a:off x="9116568" y="3675888"/>
            <a:ext cx="1581912" cy="475488"/>
          </a:xfrm>
          <a:prstGeom prst="rect">
            <a:avLst/>
          </a:prstGeom>
          <a:solidFill>
            <a:srgbClr val="122840"/>
          </a:solidFill>
          <a:ln>
            <a:noFill/>
          </a:ln>
        </p:spPr>
        <p:txBody>
          <a:bodyPr/>
          <a:lstStyle/>
          <a:p/>
        </p:txBody>
      </p:sp>
      <p:sp>
        <p:nvSpPr>
          <p:cNvPr id="73" name="ART44"/>
          <p:cNvSpPr txBox="1">
            <a:spLocks noGrp="1"/>
          </p:cNvSpPr>
          <p:nvPr/>
        </p:nvSpPr>
        <p:spPr>
          <a:xfrm>
            <a:off x="9189720" y="3749040"/>
            <a:ext cx="1472184" cy="38404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280" b="0" dirty="0">
                <a:solidFill>
                  <a:srgbClr val="D0E4F7"/>
                </a:solidFill>
                <a:latin typeface="Calibri"/>
                <a:cs typeface="Nirmala UI"/>
              </a:rPr>
              <a:t>+36pp</a:t>
            </a:r>
          </a:p>
        </p:txBody>
      </p:sp>
      <p:sp>
        <p:nvSpPr>
          <p:cNvPr id="74" name="AR50"/>
          <p:cNvSpPr>
            <a:spLocks noGrp="1"/>
          </p:cNvSpPr>
          <p:nvPr/>
        </p:nvSpPr>
        <p:spPr>
          <a:xfrm>
            <a:off x="274320" y="4151376"/>
            <a:ext cx="3703320" cy="475488"/>
          </a:xfrm>
          <a:prstGeom prst="rect">
            <a:avLst/>
          </a:prstGeom>
          <a:solidFill>
            <a:srgbClr val="1A2E4A"/>
          </a:solidFill>
          <a:ln w="8000">
            <a:solidFill>
              <a:srgbClr val="F5A623"/>
            </a:solidFill>
          </a:ln>
        </p:spPr>
        <p:txBody>
          <a:bodyPr/>
          <a:lstStyle/>
          <a:p/>
        </p:txBody>
      </p:sp>
      <p:sp>
        <p:nvSpPr>
          <p:cNvPr id="75" name="ART50"/>
          <p:cNvSpPr txBox="1">
            <a:spLocks noGrp="1"/>
          </p:cNvSpPr>
          <p:nvPr/>
        </p:nvSpPr>
        <p:spPr>
          <a:xfrm>
            <a:off x="347472" y="4224528"/>
            <a:ext cx="3593592" cy="38404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n-IN" sz="1220" b="1" dirty="0">
                <a:solidFill>
                  <a:srgbClr val="FFFFFF"/>
                </a:solidFill>
                <a:latin typeface="Calibri"/>
                <a:cs typeface="Nirmala UI"/>
              </a:rPr>
              <a:t>Phase 2 FULL: All features</a:t>
            </a:r>
          </a:p>
        </p:txBody>
      </p:sp>
      <p:sp>
        <p:nvSpPr>
          <p:cNvPr id="76" name="AR51"/>
          <p:cNvSpPr>
            <a:spLocks noGrp="1"/>
          </p:cNvSpPr>
          <p:nvPr/>
        </p:nvSpPr>
        <p:spPr>
          <a:xfrm>
            <a:off x="4050791" y="4151376"/>
            <a:ext cx="1920240" cy="475488"/>
          </a:xfrm>
          <a:prstGeom prst="rect">
            <a:avLst/>
          </a:prstGeom>
          <a:solidFill>
            <a:srgbClr val="1A2E4A"/>
          </a:solidFill>
          <a:ln w="8000">
            <a:solidFill>
              <a:srgbClr val="F5A623"/>
            </a:solidFill>
          </a:ln>
        </p:spPr>
        <p:txBody>
          <a:bodyPr/>
          <a:lstStyle/>
          <a:p/>
        </p:txBody>
      </p:sp>
      <p:sp>
        <p:nvSpPr>
          <p:cNvPr id="77" name="ART51"/>
          <p:cNvSpPr txBox="1">
            <a:spLocks noGrp="1"/>
          </p:cNvSpPr>
          <p:nvPr/>
        </p:nvSpPr>
        <p:spPr>
          <a:xfrm>
            <a:off x="4123943" y="4224528"/>
            <a:ext cx="1810512" cy="38404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280" b="1" dirty="0">
                <a:solidFill>
                  <a:srgbClr val="00C9B1"/>
                </a:solidFill>
                <a:latin typeface="Calibri"/>
                <a:cs typeface="Nirmala UI"/>
              </a:rPr>
              <a:t>All 6 features</a:t>
            </a:r>
          </a:p>
        </p:txBody>
      </p:sp>
      <p:sp>
        <p:nvSpPr>
          <p:cNvPr id="78" name="AR52"/>
          <p:cNvSpPr>
            <a:spLocks noGrp="1"/>
          </p:cNvSpPr>
          <p:nvPr/>
        </p:nvSpPr>
        <p:spPr>
          <a:xfrm>
            <a:off x="6044184" y="4151376"/>
            <a:ext cx="1463040" cy="475488"/>
          </a:xfrm>
          <a:prstGeom prst="rect">
            <a:avLst/>
          </a:prstGeom>
          <a:solidFill>
            <a:srgbClr val="1A2E4A"/>
          </a:solidFill>
          <a:ln w="8000">
            <a:solidFill>
              <a:srgbClr val="F5A623"/>
            </a:solidFill>
          </a:ln>
        </p:spPr>
        <p:txBody>
          <a:bodyPr/>
          <a:lstStyle/>
          <a:p/>
        </p:txBody>
      </p:sp>
      <p:sp>
        <p:nvSpPr>
          <p:cNvPr id="79" name="ART52"/>
          <p:cNvSpPr txBox="1">
            <a:spLocks noGrp="1"/>
          </p:cNvSpPr>
          <p:nvPr/>
        </p:nvSpPr>
        <p:spPr>
          <a:xfrm>
            <a:off x="6117336" y="4224528"/>
            <a:ext cx="1353312" cy="38404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280" b="1" dirty="0">
                <a:solidFill>
                  <a:srgbClr val="00C9B1"/>
                </a:solidFill>
                <a:latin typeface="Calibri"/>
                <a:cs typeface="Nirmala UI"/>
              </a:rPr>
              <a:t>~82%</a:t>
            </a:r>
          </a:p>
        </p:txBody>
      </p:sp>
      <p:sp>
        <p:nvSpPr>
          <p:cNvPr id="80" name="AR53"/>
          <p:cNvSpPr>
            <a:spLocks noGrp="1"/>
          </p:cNvSpPr>
          <p:nvPr/>
        </p:nvSpPr>
        <p:spPr>
          <a:xfrm>
            <a:off x="7580375" y="4151376"/>
            <a:ext cx="1463040" cy="475488"/>
          </a:xfrm>
          <a:prstGeom prst="rect">
            <a:avLst/>
          </a:prstGeom>
          <a:solidFill>
            <a:srgbClr val="1A2E4A"/>
          </a:solidFill>
          <a:ln w="8000">
            <a:solidFill>
              <a:srgbClr val="F5A623"/>
            </a:solidFill>
          </a:ln>
        </p:spPr>
        <p:txBody>
          <a:bodyPr/>
          <a:lstStyle/>
          <a:p/>
        </p:txBody>
      </p:sp>
      <p:sp>
        <p:nvSpPr>
          <p:cNvPr id="81" name="ART53"/>
          <p:cNvSpPr txBox="1">
            <a:spLocks noGrp="1"/>
          </p:cNvSpPr>
          <p:nvPr/>
        </p:nvSpPr>
        <p:spPr>
          <a:xfrm>
            <a:off x="7653527" y="4224528"/>
            <a:ext cx="1353312" cy="38404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280" b="1" dirty="0">
                <a:solidFill>
                  <a:srgbClr val="00C9B1"/>
                </a:solidFill>
                <a:latin typeface="Calibri"/>
                <a:cs typeface="Nirmala UI"/>
              </a:rPr>
              <a:t>~82%</a:t>
            </a:r>
          </a:p>
        </p:txBody>
      </p:sp>
      <p:sp>
        <p:nvSpPr>
          <p:cNvPr id="82" name="AR54"/>
          <p:cNvSpPr>
            <a:spLocks noGrp="1"/>
          </p:cNvSpPr>
          <p:nvPr/>
        </p:nvSpPr>
        <p:spPr>
          <a:xfrm>
            <a:off x="9116568" y="4151376"/>
            <a:ext cx="1581912" cy="475488"/>
          </a:xfrm>
          <a:prstGeom prst="rect">
            <a:avLst/>
          </a:prstGeom>
          <a:solidFill>
            <a:srgbClr val="1A2E4A"/>
          </a:solidFill>
          <a:ln w="8000">
            <a:solidFill>
              <a:srgbClr val="F5A623"/>
            </a:solidFill>
          </a:ln>
        </p:spPr>
        <p:txBody>
          <a:bodyPr/>
          <a:lstStyle/>
          <a:p/>
        </p:txBody>
      </p:sp>
      <p:sp>
        <p:nvSpPr>
          <p:cNvPr id="83" name="ART54"/>
          <p:cNvSpPr txBox="1">
            <a:spLocks noGrp="1"/>
          </p:cNvSpPr>
          <p:nvPr/>
        </p:nvSpPr>
        <p:spPr>
          <a:xfrm>
            <a:off x="9189720" y="4224528"/>
            <a:ext cx="1472184" cy="38404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280" b="1" dirty="0">
                <a:solidFill>
                  <a:srgbClr val="00C9B1"/>
                </a:solidFill>
                <a:latin typeface="Calibri"/>
                <a:cs typeface="Nirmala UI"/>
              </a:rPr>
              <a:t>+39pp</a:t>
            </a:r>
          </a:p>
        </p:txBody>
      </p:sp>
      <p:sp>
        <p:nvSpPr>
          <p:cNvPr id="84" name="FDiv"/>
          <p:cNvSpPr>
            <a:spLocks noGrp="1"/>
          </p:cNvSpPr>
          <p:nvPr/>
        </p:nvSpPr>
        <p:spPr>
          <a:xfrm>
            <a:off x="274320" y="5285232"/>
            <a:ext cx="11643360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txBody>
          <a:bodyPr/>
          <a:lstStyle/>
          <a:p/>
        </p:txBody>
      </p:sp>
      <p:sp>
        <p:nvSpPr>
          <p:cNvPr id="85" name="FH"/>
          <p:cNvSpPr txBox="1">
            <a:spLocks noGrp="1"/>
          </p:cNvSpPr>
          <p:nvPr/>
        </p:nvSpPr>
        <p:spPr>
          <a:xfrm>
            <a:off x="274320" y="5358384"/>
            <a:ext cx="11643360" cy="34747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IN" sz="1380" b="1" dirty="0">
                <a:solidFill>
                  <a:srgbClr val="F5A623"/>
                </a:solidFill>
                <a:latin typeface="Calibri"/>
                <a:cs typeface="Nirmala UI"/>
              </a:rPr>
              <a:t>KEY FINDINGS FROM ABLATION</a:t>
            </a:r>
          </a:p>
        </p:txBody>
      </p:sp>
      <p:sp>
        <p:nvSpPr>
          <p:cNvPr id="86" name="FB"/>
          <p:cNvSpPr txBox="1">
            <a:spLocks noGrp="1"/>
          </p:cNvSpPr>
          <p:nvPr/>
        </p:nvSpPr>
        <p:spPr>
          <a:xfrm>
            <a:off x="274320" y="5760720"/>
            <a:ext cx="11643360" cy="10058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indent="-228600" marL="228600">
              <a:spcBef>
                <a:spcPts val="48"/>
              </a:spcBef>
              <a:lnSpc>
                <a:spcPct val="107"/>
              </a:lnSpc>
            </a:pPr>
            <a:r>
              <a:rPr lang="en-IN" sz="1250" b="0" dirty="0">
                <a:solidFill>
                  <a:srgbClr val="F5A623"/>
                </a:solidFill>
                <a:latin typeface="Calibri"/>
              </a:rPr>
              <a:t>▪  </a:t>
            </a:r>
            <a:r>
              <a:rPr lang="en-IN" sz="1250" b="0" dirty="0">
                <a:solidFill>
                  <a:srgbClr val="D0E4F7"/>
                </a:solidFill>
                <a:latin typeface="Calibri"/>
                <a:cs typeface="Nirmala UI"/>
              </a:rPr>
              <a:t>Largest single gain: switching from scratch BERT (Phase 1) to IndicBERTv2 embeddings → +22pp accuracy</a:t>
            </a:r>
          </a:p>
          <a:p>
            <a:pPr indent="-228600" marL="228600">
              <a:spcBef>
                <a:spcPts val="48"/>
              </a:spcBef>
              <a:lnSpc>
                <a:spcPct val="107"/>
              </a:lnSpc>
            </a:pPr>
            <a:r>
              <a:rPr lang="en-IN" sz="1250" b="0" dirty="0">
                <a:solidFill>
                  <a:srgbClr val="F5A623"/>
                </a:solidFill>
                <a:latin typeface="Calibri"/>
              </a:rPr>
              <a:t>▪  </a:t>
            </a:r>
            <a:r>
              <a:rPr lang="en-IN" sz="1250" b="0" dirty="0">
                <a:solidFill>
                  <a:srgbClr val="D0E4F7"/>
                </a:solidFill>
                <a:latin typeface="Calibri"/>
                <a:cs typeface="Nirmala UI"/>
              </a:rPr>
              <a:t>Pronoun feature alone adds +6pp — most important linguistic feature due to Hindi pro-drop prevalence</a:t>
            </a:r>
          </a:p>
          <a:p>
            <a:pPr indent="-228600" marL="228600">
              <a:spcBef>
                <a:spcPts val="48"/>
              </a:spcBef>
              <a:lnSpc>
                <a:spcPct val="107"/>
              </a:lnSpc>
            </a:pPr>
            <a:r>
              <a:rPr lang="en-IN" sz="1250" b="0" dirty="0">
                <a:solidFill>
                  <a:srgbClr val="F5A623"/>
                </a:solidFill>
                <a:latin typeface="Calibri"/>
              </a:rPr>
              <a:t>▪  </a:t>
            </a:r>
            <a:r>
              <a:rPr lang="en-IN" sz="1250" b="0" dirty="0">
                <a:solidFill>
                  <a:srgbClr val="D0E4F7"/>
                </a:solidFill>
                <a:latin typeface="Calibri"/>
                <a:cs typeface="Nirmala UI"/>
              </a:rPr>
              <a:t>Sentence distance adds +4pp — confirms that antecedents are almost always within 3 sentences</a:t>
            </a:r>
          </a:p>
          <a:p>
            <a:pPr indent="-228600" marL="228600">
              <a:spcBef>
                <a:spcPts val="48"/>
              </a:spcBef>
              <a:lnSpc>
                <a:spcPct val="107"/>
              </a:lnSpc>
            </a:pPr>
            <a:r>
              <a:rPr lang="en-IN" sz="1250" b="0" dirty="0">
                <a:solidFill>
                  <a:srgbClr val="F5A623"/>
                </a:solidFill>
                <a:latin typeface="Calibri"/>
              </a:rPr>
              <a:t>▪  </a:t>
            </a:r>
            <a:r>
              <a:rPr lang="en-IN" sz="1250" b="0" dirty="0">
                <a:solidFill>
                  <a:srgbClr val="D0E4F7"/>
                </a:solidFill>
                <a:latin typeface="Calibri"/>
                <a:cs typeface="Nirmala UI"/>
              </a:rPr>
              <a:t>Clause heuristic adds +4pp — entities in same clause are more likely coreferent in Hindi</a:t>
            </a:r>
          </a:p>
          <a:p>
            <a:pPr indent="-228600" marL="228600">
              <a:spcBef>
                <a:spcPts val="48"/>
              </a:spcBef>
              <a:lnSpc>
                <a:spcPct val="107"/>
              </a:lnSpc>
            </a:pPr>
            <a:r>
              <a:rPr lang="en-IN" sz="1250" b="0" dirty="0">
                <a:solidFill>
                  <a:srgbClr val="F5A623"/>
                </a:solidFill>
                <a:latin typeface="Calibri"/>
              </a:rPr>
              <a:t>▪  </a:t>
            </a:r>
            <a:r>
              <a:rPr lang="en-IN" sz="1250" b="0" dirty="0">
                <a:solidFill>
                  <a:srgbClr val="D0E4F7"/>
                </a:solidFill>
                <a:latin typeface="Calibri"/>
                <a:cs typeface="Nirmala UI"/>
              </a:rPr>
              <a:t>Diminishing returns after 4 features — additional features would require larger training set to be effective</a:t>
            </a:r>
          </a:p>
        </p:txBody>
      </p:sp>
      <p:sp>
        <p:nvSpPr>
          <p:cNvPr id="87" name="FB"/>
          <p:cNvSpPr>
            <a:spLocks noGrp="1"/>
          </p:cNvSpPr>
          <p:nvPr/>
        </p:nvSpPr>
        <p:spPr>
          <a:xfrm>
            <a:off x="0" y="6473952"/>
            <a:ext cx="12192000" cy="384048"/>
          </a:xfrm>
          <a:prstGeom prst="rect">
            <a:avLst/>
          </a:prstGeom>
          <a:solidFill>
            <a:srgbClr val="112238"/>
          </a:solidFill>
          <a:ln>
            <a:noFill/>
          </a:ln>
        </p:spPr>
        <p:txBody>
          <a:bodyPr/>
          <a:lstStyle/>
          <a:p/>
        </p:txBody>
      </p:sp>
      <p:sp>
        <p:nvSpPr>
          <p:cNvPr id="88" name="FL"/>
          <p:cNvSpPr>
            <a:spLocks noGrp="1"/>
          </p:cNvSpPr>
          <p:nvPr/>
        </p:nvSpPr>
        <p:spPr>
          <a:xfrm>
            <a:off x="0" y="6473952"/>
            <a:ext cx="12192000" cy="36576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txBody>
          <a:bodyPr/>
          <a:lstStyle/>
          <a:p/>
        </p:txBody>
      </p:sp>
      <p:sp>
        <p:nvSpPr>
          <p:cNvPr id="89" name="FL2"/>
          <p:cNvSpPr txBox="1">
            <a:spLocks noGrp="1"/>
          </p:cNvSpPr>
          <p:nvPr/>
        </p:nvSpPr>
        <p:spPr>
          <a:xfrm>
            <a:off x="274320" y="6510528"/>
            <a:ext cx="5486400" cy="310896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n-IN" sz="950" b="0" dirty="0">
                <a:solidFill>
                  <a:srgbClr val="8AAEC8"/>
                </a:solidFill>
                <a:latin typeface="Calibri"/>
                <a:cs typeface="Nirmala UI"/>
              </a:rPr>
              <a:t>Hindi Coreference Resolution  |  CIT Kokrajhar</a:t>
            </a:r>
          </a:p>
        </p:txBody>
      </p:sp>
      <p:sp>
        <p:nvSpPr>
          <p:cNvPr id="90" name="FR"/>
          <p:cNvSpPr txBox="1">
            <a:spLocks noGrp="1"/>
          </p:cNvSpPr>
          <p:nvPr/>
        </p:nvSpPr>
        <p:spPr>
          <a:xfrm>
            <a:off x="7772400" y="6510528"/>
            <a:ext cx="3200400" cy="310896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/>
            <a:r>
              <a:rPr lang="en-IN" sz="950" b="0" dirty="0">
                <a:solidFill>
                  <a:srgbClr val="8AAEC8"/>
                </a:solidFill>
                <a:latin typeface="Calibri"/>
                <a:cs typeface="Nirmala UI"/>
              </a:rPr>
              <a:t>B.Tech Project  |  2026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10" name="TopBar"/>
          <p:cNvSpPr>
            <a:spLocks noGrp="1"/>
          </p:cNvSpPr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12238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AccLine"/>
          <p:cNvSpPr>
            <a:spLocks noGrp="1"/>
          </p:cNvSpPr>
          <p:nvPr/>
        </p:nvSpPr>
        <p:spPr>
          <a:xfrm>
            <a:off x="0" y="1097280"/>
            <a:ext cx="12192000" cy="54864"/>
          </a:xfrm>
          <a:prstGeom prst="rect">
            <a:avLst/>
          </a:prstGeom>
          <a:solidFill>
            <a:srgbClr val="E05C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itle"/>
          <p:cNvSpPr txBox="1">
            <a:spLocks noGrp="1"/>
          </p:cNvSpPr>
          <p:nvPr/>
        </p:nvSpPr>
        <p:spPr>
          <a:xfrm>
            <a:off x="365760" y="91440"/>
            <a:ext cx="10424160" cy="7772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n-IN" sz="2800" b="1" dirty="0">
                <a:solidFill>
                  <a:srgbClr val="FFFFFF"/>
                </a:solidFill>
                <a:latin typeface="Calibri"/>
                <a:cs typeface="Nirmala UI"/>
              </a:rPr>
              <a:t>Limitations</a:t>
            </a:r>
          </a:p>
        </p:txBody>
      </p:sp>
      <p:sp>
        <p:nvSpPr>
          <p:cNvPr id="13" name="Sub"/>
          <p:cNvSpPr txBox="1">
            <a:spLocks noGrp="1"/>
          </p:cNvSpPr>
          <p:nvPr/>
        </p:nvSpPr>
        <p:spPr>
          <a:xfrm>
            <a:off x="365760" y="749808"/>
            <a:ext cx="9144000" cy="38404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n-IN" sz="1300" b="0" dirty="0">
                <a:solidFill>
                  <a:srgbClr val="E05C5C"/>
                </a:solidFill>
                <a:latin typeface="Calibri"/>
                <a:cs typeface="Nirmala UI"/>
              </a:rPr>
              <a:t>Known constraints, failure modes, and honest assessment of current system</a:t>
            </a:r>
          </a:p>
        </p:txBody>
      </p:sp>
      <p:sp>
        <p:nvSpPr>
          <p:cNvPr id="14" name="CB"/>
          <p:cNvSpPr>
            <a:spLocks noGrp="1"/>
          </p:cNvSpPr>
          <p:nvPr/>
        </p:nvSpPr>
        <p:spPr>
          <a:xfrm>
            <a:off x="274320" y="1261872"/>
            <a:ext cx="54864" cy="896112"/>
          </a:xfrm>
          <a:prstGeom prst="rect">
            <a:avLst/>
          </a:prstGeom>
          <a:solidFill>
            <a:srgbClr val="E05C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CC"/>
          <p:cNvSpPr>
            <a:spLocks noGrp="1"/>
          </p:cNvSpPr>
          <p:nvPr/>
        </p:nvSpPr>
        <p:spPr>
          <a:xfrm>
            <a:off x="347472" y="1261872"/>
            <a:ext cx="10442448" cy="896112"/>
          </a:xfrm>
          <a:prstGeom prst="roundRect">
            <a:avLst>
              <a:gd name="adj" fmla="val 16667"/>
            </a:avLst>
          </a:prstGeom>
          <a:solidFill>
            <a:srgbClr val="0D1B2E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CT"/>
          <p:cNvSpPr txBox="1">
            <a:spLocks noGrp="1"/>
          </p:cNvSpPr>
          <p:nvPr/>
        </p:nvSpPr>
        <p:spPr>
          <a:xfrm>
            <a:off x="457200" y="1325880"/>
            <a:ext cx="10259568" cy="34747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n-IN" sz="1380" b="1" dirty="0">
                <a:solidFill>
                  <a:srgbClr val="E05C5C"/>
                </a:solidFill>
                <a:latin typeface="Calibri"/>
                <a:cs typeface="Nirmala UI"/>
              </a:rPr>
              <a:t>Small Annotated Dataset (1,248 spans)</a:t>
            </a:r>
          </a:p>
        </p:txBody>
      </p:sp>
      <p:sp>
        <p:nvSpPr>
          <p:cNvPr id="17" name="CI"/>
          <p:cNvSpPr txBox="1">
            <a:spLocks noGrp="1"/>
          </p:cNvSpPr>
          <p:nvPr/>
        </p:nvSpPr>
        <p:spPr>
          <a:xfrm>
            <a:off x="457200" y="1700784"/>
            <a:ext cx="10259568" cy="39319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indent="-228600" marL="228600">
              <a:spcBef>
                <a:spcPts val="50"/>
              </a:spcBef>
              <a:lnSpc>
                <a:spcPct val="108"/>
              </a:lnSpc>
            </a:pPr>
            <a:r>
              <a:rPr lang="en-IN" sz="1160" b="0" dirty="0">
                <a:solidFill>
                  <a:srgbClr val="E05C5C"/>
                </a:solidFill>
                <a:latin typeface="Calibri"/>
              </a:rPr>
              <a:t>▪  </a:t>
            </a:r>
            <a:r>
              <a:rPr lang="en-IN" sz="1160" b="0" dirty="0">
                <a:solidFill>
                  <a:srgbClr val="D0E4F7"/>
                </a:solidFill>
                <a:latin typeface="Calibri"/>
                <a:cs typeface="Nirmala UI"/>
              </a:rPr>
              <a:t>Only 87 passages annotated — insufficient for neural fine-tuning</a:t>
            </a:r>
          </a:p>
          <a:p>
            <a:pPr indent="-228600" marL="228600">
              <a:spcBef>
                <a:spcPts val="50"/>
              </a:spcBef>
              <a:lnSpc>
                <a:spcPct val="108"/>
              </a:lnSpc>
            </a:pPr>
            <a:r>
              <a:rPr lang="en-IN" sz="1060" b="0" dirty="0">
                <a:solidFill>
                  <a:srgbClr val="8AAEC8"/>
                </a:solidFill>
                <a:latin typeface="Calibri"/>
              </a:rPr>
              <a:t>  ◦  </a:t>
            </a:r>
            <a:r>
              <a:rPr lang="en-IN" sz="1060" b="0" dirty="0">
                <a:solidFill>
                  <a:srgbClr val="D0E4F7"/>
                </a:solidFill>
                <a:latin typeface="Calibri"/>
                <a:cs typeface="Nirmala UI"/>
              </a:rPr>
              <a:t>ML models typically require 10K+ examples to generalize robustly</a:t>
            </a:r>
          </a:p>
          <a:p>
            <a:pPr indent="-228600" marL="228600">
              <a:spcBef>
                <a:spcPts val="50"/>
              </a:spcBef>
              <a:lnSpc>
                <a:spcPct val="108"/>
              </a:lnSpc>
            </a:pPr>
            <a:r>
              <a:rPr lang="en-IN" sz="1160" b="0" dirty="0">
                <a:solidFill>
                  <a:srgbClr val="E05C5C"/>
                </a:solidFill>
                <a:latin typeface="Calibri"/>
              </a:rPr>
              <a:t>▪  </a:t>
            </a:r>
            <a:r>
              <a:rPr lang="en-IN" sz="1160" b="0" dirty="0">
                <a:solidFill>
                  <a:srgbClr val="D0E4F7"/>
                </a:solidFill>
                <a:latin typeface="Calibri"/>
                <a:cs typeface="Nirmala UI"/>
              </a:rPr>
              <a:t>Class imbalance: 423 positive vs 1,847 negative pairs (ratio 1:4.4)</a:t>
            </a:r>
          </a:p>
          <a:p>
            <a:pPr indent="-228600" marL="228600">
              <a:spcBef>
                <a:spcPts val="50"/>
              </a:spcBef>
              <a:lnSpc>
                <a:spcPct val="108"/>
              </a:lnSpc>
            </a:pPr>
            <a:r>
              <a:rPr lang="en-IN" sz="1060" b="0" dirty="0">
                <a:solidFill>
                  <a:srgbClr val="8AAEC8"/>
                </a:solidFill>
                <a:latin typeface="Calibri"/>
              </a:rPr>
              <a:t>  ◦  </a:t>
            </a:r>
            <a:r>
              <a:rPr lang="en-IN" sz="1060" b="0" dirty="0">
                <a:solidFill>
                  <a:srgbClr val="D0E4F7"/>
                </a:solidFill>
                <a:latin typeface="Calibri"/>
                <a:cs typeface="Nirmala UI"/>
              </a:rPr>
              <a:t>Mitigated via class_weight='balanced' but still limits recall</a:t>
            </a:r>
          </a:p>
          <a:p>
            <a:pPr indent="-228600" marL="228600">
              <a:spcBef>
                <a:spcPts val="50"/>
              </a:spcBef>
              <a:lnSpc>
                <a:spcPct val="108"/>
              </a:lnSpc>
            </a:pPr>
            <a:r>
              <a:rPr lang="en-IN" sz="1160" b="0" dirty="0">
                <a:solidFill>
                  <a:srgbClr val="E05C5C"/>
                </a:solidFill>
                <a:latin typeface="Calibri"/>
              </a:rPr>
              <a:t>▪  </a:t>
            </a:r>
            <a:r>
              <a:rPr lang="en-IN" sz="1160" b="0" dirty="0">
                <a:solidFill>
                  <a:srgbClr val="D0E4F7"/>
                </a:solidFill>
                <a:latin typeface="Calibri"/>
                <a:cs typeface="Nirmala UI"/>
              </a:rPr>
              <a:t>Annotation covers limited text domains — mostly narrative Hindi</a:t>
            </a:r>
          </a:p>
          <a:p>
            <a:pPr indent="-228600" marL="228600">
              <a:spcBef>
                <a:spcPts val="50"/>
              </a:spcBef>
              <a:lnSpc>
                <a:spcPct val="108"/>
              </a:lnSpc>
            </a:pPr>
            <a:r>
              <a:rPr lang="en-IN" sz="1060" b="0" dirty="0">
                <a:solidFill>
                  <a:srgbClr val="8AAEC8"/>
                </a:solidFill>
                <a:latin typeface="Calibri"/>
              </a:rPr>
              <a:t>  ◦  </a:t>
            </a:r>
            <a:r>
              <a:rPr lang="en-IN" sz="1060" b="0" dirty="0">
                <a:solidFill>
                  <a:srgbClr val="D0E4F7"/>
                </a:solidFill>
                <a:latin typeface="Calibri"/>
                <a:cs typeface="Nirmala UI"/>
              </a:rPr>
              <a:t>Performance on news, legal, medical Hindi text is unknown</a:t>
            </a:r>
          </a:p>
        </p:txBody>
      </p:sp>
      <p:sp>
        <p:nvSpPr>
          <p:cNvPr id="18" name="CB"/>
          <p:cNvSpPr>
            <a:spLocks noGrp="1"/>
          </p:cNvSpPr>
          <p:nvPr/>
        </p:nvSpPr>
        <p:spPr>
          <a:xfrm>
            <a:off x="274320" y="2240280"/>
            <a:ext cx="54864" cy="896112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CC"/>
          <p:cNvSpPr>
            <a:spLocks noGrp="1"/>
          </p:cNvSpPr>
          <p:nvPr/>
        </p:nvSpPr>
        <p:spPr>
          <a:xfrm>
            <a:off x="347472" y="2240280"/>
            <a:ext cx="10442448" cy="896112"/>
          </a:xfrm>
          <a:prstGeom prst="roundRect">
            <a:avLst>
              <a:gd name="adj" fmla="val 16667"/>
            </a:avLst>
          </a:prstGeom>
          <a:solidFill>
            <a:srgbClr val="0D1B2E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CT"/>
          <p:cNvSpPr txBox="1">
            <a:spLocks noGrp="1"/>
          </p:cNvSpPr>
          <p:nvPr/>
        </p:nvSpPr>
        <p:spPr>
          <a:xfrm>
            <a:off x="457200" y="2304288"/>
            <a:ext cx="10259568" cy="34747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n-IN" sz="1380" b="1" dirty="0">
                <a:solidFill>
                  <a:srgbClr val="E07B39"/>
                </a:solidFill>
                <a:latin typeface="Calibri"/>
                <a:cs typeface="Nirmala UI"/>
              </a:rPr>
              <a:t>No Automatic Mention Detection</a:t>
            </a:r>
          </a:p>
        </p:txBody>
      </p:sp>
      <p:sp>
        <p:nvSpPr>
          <p:cNvPr id="21" name="CI"/>
          <p:cNvSpPr txBox="1">
            <a:spLocks noGrp="1"/>
          </p:cNvSpPr>
          <p:nvPr/>
        </p:nvSpPr>
        <p:spPr>
          <a:xfrm>
            <a:off x="457200" y="2679192"/>
            <a:ext cx="10259568" cy="39319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indent="-228600" marL="228600">
              <a:spcBef>
                <a:spcPts val="50"/>
              </a:spcBef>
              <a:lnSpc>
                <a:spcPct val="108"/>
              </a:lnSpc>
            </a:pPr>
            <a:r>
              <a:rPr lang="en-IN" sz="1160" b="0" dirty="0">
                <a:solidFill>
                  <a:srgbClr val="E07B39"/>
                </a:solidFill>
                <a:latin typeface="Calibri"/>
              </a:rPr>
              <a:t>▪  </a:t>
            </a:r>
            <a:r>
              <a:rPr lang="en-IN" sz="1160" b="0" dirty="0">
                <a:solidFill>
                  <a:srgbClr val="D0E4F7"/>
                </a:solidFill>
                <a:latin typeface="Calibri"/>
                <a:cs typeface="Nirmala UI"/>
              </a:rPr>
              <a:t>Current system requires human-provided mention span boundaries</a:t>
            </a:r>
          </a:p>
          <a:p>
            <a:pPr indent="-228600" marL="228600">
              <a:spcBef>
                <a:spcPts val="50"/>
              </a:spcBef>
              <a:lnSpc>
                <a:spcPct val="108"/>
              </a:lnSpc>
            </a:pPr>
            <a:r>
              <a:rPr lang="en-IN" sz="1060" b="0" dirty="0">
                <a:solidFill>
                  <a:srgbClr val="8AAEC8"/>
                </a:solidFill>
                <a:latin typeface="Calibri"/>
              </a:rPr>
              <a:t>  ◦  </a:t>
            </a:r>
            <a:r>
              <a:rPr lang="en-IN" sz="1060" b="0" dirty="0">
                <a:solidFill>
                  <a:srgbClr val="D0E4F7"/>
                </a:solidFill>
                <a:latin typeface="Calibri"/>
                <a:cs typeface="Nirmala UI"/>
              </a:rPr>
              <a:t>This is a major bottleneck for real-world deployment</a:t>
            </a:r>
          </a:p>
          <a:p>
            <a:pPr indent="-228600" marL="228600">
              <a:spcBef>
                <a:spcPts val="50"/>
              </a:spcBef>
              <a:lnSpc>
                <a:spcPct val="108"/>
              </a:lnSpc>
            </a:pPr>
            <a:r>
              <a:rPr lang="en-IN" sz="1160" b="0" dirty="0">
                <a:solidFill>
                  <a:srgbClr val="E07B39"/>
                </a:solidFill>
                <a:latin typeface="Calibri"/>
              </a:rPr>
              <a:t>▪  </a:t>
            </a:r>
            <a:r>
              <a:rPr lang="en-IN" sz="1160" b="0" dirty="0">
                <a:solidFill>
                  <a:srgbClr val="D0E4F7"/>
                </a:solidFill>
                <a:latin typeface="Calibri"/>
                <a:cs typeface="Nirmala UI"/>
              </a:rPr>
              <a:t>A full pipeline needs: tokenizer → POS → NER → NP chunker → coref</a:t>
            </a:r>
          </a:p>
          <a:p>
            <a:pPr indent="-228600" marL="228600">
              <a:spcBef>
                <a:spcPts val="50"/>
              </a:spcBef>
              <a:lnSpc>
                <a:spcPct val="108"/>
              </a:lnSpc>
            </a:pPr>
            <a:r>
              <a:rPr lang="en-IN" sz="1060" b="0" dirty="0">
                <a:solidFill>
                  <a:srgbClr val="8AAEC8"/>
                </a:solidFill>
                <a:latin typeface="Calibri"/>
              </a:rPr>
              <a:t>  ◦  </a:t>
            </a:r>
            <a:r>
              <a:rPr lang="en-IN" sz="1060" b="0" dirty="0">
                <a:solidFill>
                  <a:srgbClr val="D0E4F7"/>
                </a:solidFill>
                <a:latin typeface="Calibri"/>
                <a:cs typeface="Nirmala UI"/>
              </a:rPr>
              <a:t>Each component introduces its own error that compounds downstream</a:t>
            </a:r>
          </a:p>
          <a:p>
            <a:pPr indent="-228600" marL="228600">
              <a:spcBef>
                <a:spcPts val="50"/>
              </a:spcBef>
              <a:lnSpc>
                <a:spcPct val="108"/>
              </a:lnSpc>
            </a:pPr>
            <a:r>
              <a:rPr lang="en-IN" sz="1160" b="0" dirty="0">
                <a:solidFill>
                  <a:srgbClr val="E07B39"/>
                </a:solidFill>
                <a:latin typeface="Calibri"/>
              </a:rPr>
              <a:t>▪  </a:t>
            </a:r>
            <a:r>
              <a:rPr lang="en-IN" sz="1160" b="0" dirty="0">
                <a:solidFill>
                  <a:srgbClr val="D0E4F7"/>
                </a:solidFill>
                <a:latin typeface="Calibri"/>
                <a:cs typeface="Nirmala UI"/>
              </a:rPr>
              <a:t>Hindi NER tools have limited accuracy (~75-80% F1 on standard benchmarks)</a:t>
            </a:r>
          </a:p>
          <a:p>
            <a:pPr indent="-228600" marL="228600">
              <a:spcBef>
                <a:spcPts val="50"/>
              </a:spcBef>
              <a:lnSpc>
                <a:spcPct val="108"/>
              </a:lnSpc>
            </a:pPr>
            <a:r>
              <a:rPr lang="en-IN" sz="1060" b="0" dirty="0">
                <a:solidFill>
                  <a:srgbClr val="8AAEC8"/>
                </a:solidFill>
                <a:latin typeface="Calibri"/>
              </a:rPr>
              <a:t>  ◦  </a:t>
            </a:r>
            <a:r>
              <a:rPr lang="en-IN" sz="1060" b="0" dirty="0">
                <a:solidFill>
                  <a:srgbClr val="D0E4F7"/>
                </a:solidFill>
                <a:latin typeface="Calibri"/>
                <a:cs typeface="Nirmala UI"/>
              </a:rPr>
              <a:t>Mention detection errors directly reduce coreference recall</a:t>
            </a:r>
          </a:p>
        </p:txBody>
      </p:sp>
      <p:sp>
        <p:nvSpPr>
          <p:cNvPr id="22" name="CB"/>
          <p:cNvSpPr>
            <a:spLocks noGrp="1"/>
          </p:cNvSpPr>
          <p:nvPr/>
        </p:nvSpPr>
        <p:spPr>
          <a:xfrm>
            <a:off x="274320" y="3218688"/>
            <a:ext cx="54864" cy="89611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CC"/>
          <p:cNvSpPr>
            <a:spLocks noGrp="1"/>
          </p:cNvSpPr>
          <p:nvPr/>
        </p:nvSpPr>
        <p:spPr>
          <a:xfrm>
            <a:off x="347472" y="3218688"/>
            <a:ext cx="10442448" cy="896112"/>
          </a:xfrm>
          <a:prstGeom prst="roundRect">
            <a:avLst>
              <a:gd name="adj" fmla="val 16667"/>
            </a:avLst>
          </a:prstGeom>
          <a:solidFill>
            <a:srgbClr val="0D1B2E"/>
          </a:solidFill>
          <a:ln>
            <a:noFill/>
          </a:ln>
        </p:spPr>
        <p:txBody>
          <a:bodyPr/>
          <a:lstStyle/>
          <a:p/>
        </p:txBody>
      </p:sp>
      <p:sp>
        <p:nvSpPr>
          <p:cNvPr id="24" name="CT"/>
          <p:cNvSpPr txBox="1">
            <a:spLocks noGrp="1"/>
          </p:cNvSpPr>
          <p:nvPr/>
        </p:nvSpPr>
        <p:spPr>
          <a:xfrm>
            <a:off x="457200" y="3282696"/>
            <a:ext cx="10259568" cy="34747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n-IN" sz="1380" b="1" dirty="0">
                <a:solidFill>
                  <a:srgbClr val="F5A623"/>
                </a:solidFill>
                <a:latin typeface="Calibri"/>
                <a:cs typeface="Nirmala UI"/>
              </a:rPr>
              <a:t>Linear Classifier Capacity</a:t>
            </a:r>
          </a:p>
        </p:txBody>
      </p:sp>
      <p:sp>
        <p:nvSpPr>
          <p:cNvPr id="25" name="CI"/>
          <p:cNvSpPr txBox="1">
            <a:spLocks noGrp="1"/>
          </p:cNvSpPr>
          <p:nvPr/>
        </p:nvSpPr>
        <p:spPr>
          <a:xfrm>
            <a:off x="457200" y="3657600"/>
            <a:ext cx="10259568" cy="39319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indent="-228600" marL="228600">
              <a:spcBef>
                <a:spcPts val="50"/>
              </a:spcBef>
              <a:lnSpc>
                <a:spcPct val="108"/>
              </a:lnSpc>
            </a:pPr>
            <a:r>
              <a:rPr lang="en-IN" sz="1160" b="0" dirty="0">
                <a:solidFill>
                  <a:srgbClr val="F5A623"/>
                </a:solidFill>
                <a:latin typeface="Calibri"/>
              </a:rPr>
              <a:t>▪  </a:t>
            </a:r>
            <a:r>
              <a:rPr lang="en-IN" sz="1160" b="0" dirty="0">
                <a:solidFill>
                  <a:srgbClr val="D0E4F7"/>
                </a:solidFill>
                <a:latin typeface="Calibri"/>
                <a:cs typeface="Nirmala UI"/>
              </a:rPr>
              <a:t>Logistic Regression can only model linear decision boundaries</a:t>
            </a:r>
          </a:p>
          <a:p>
            <a:pPr indent="-228600" marL="228600">
              <a:spcBef>
                <a:spcPts val="50"/>
              </a:spcBef>
              <a:lnSpc>
                <a:spcPct val="108"/>
              </a:lnSpc>
            </a:pPr>
            <a:r>
              <a:rPr lang="en-IN" sz="1060" b="0" dirty="0">
                <a:solidFill>
                  <a:srgbClr val="8AAEC8"/>
                </a:solidFill>
                <a:latin typeface="Calibri"/>
              </a:rPr>
              <a:t>  ◦  </a:t>
            </a:r>
            <a:r>
              <a:rPr lang="en-IN" sz="1060" b="0" dirty="0">
                <a:solidFill>
                  <a:srgbClr val="D0E4F7"/>
                </a:solidFill>
                <a:latin typeface="Calibri"/>
                <a:cs typeface="Nirmala UI"/>
              </a:rPr>
              <a:t>Feature interactions (e.g. pronoun AND long distance) not captured</a:t>
            </a:r>
          </a:p>
          <a:p>
            <a:pPr indent="-228600" marL="228600">
              <a:spcBef>
                <a:spcPts val="50"/>
              </a:spcBef>
              <a:lnSpc>
                <a:spcPct val="108"/>
              </a:lnSpc>
            </a:pPr>
            <a:r>
              <a:rPr lang="en-IN" sz="1160" b="0" dirty="0">
                <a:solidFill>
                  <a:srgbClr val="F5A623"/>
                </a:solidFill>
                <a:latin typeface="Calibri"/>
              </a:rPr>
              <a:t>▪  </a:t>
            </a:r>
            <a:r>
              <a:rPr lang="en-IN" sz="1160" b="0" dirty="0">
                <a:solidFill>
                  <a:srgbClr val="D0E4F7"/>
                </a:solidFill>
                <a:latin typeface="Calibri"/>
                <a:cs typeface="Nirmala UI"/>
              </a:rPr>
              <a:t>A shallow MLP with 2 hidden layers would learn feature combinations</a:t>
            </a:r>
          </a:p>
          <a:p>
            <a:pPr indent="-228600" marL="228600">
              <a:spcBef>
                <a:spcPts val="50"/>
              </a:spcBef>
              <a:lnSpc>
                <a:spcPct val="108"/>
              </a:lnSpc>
            </a:pPr>
            <a:r>
              <a:rPr lang="en-IN" sz="1060" b="0" dirty="0">
                <a:solidFill>
                  <a:srgbClr val="8AAEC8"/>
                </a:solidFill>
                <a:latin typeface="Calibri"/>
              </a:rPr>
              <a:t>  ◦  </a:t>
            </a:r>
            <a:r>
              <a:rPr lang="en-IN" sz="1060" b="0" dirty="0">
                <a:solidFill>
                  <a:srgbClr val="D0E4F7"/>
                </a:solidFill>
                <a:latin typeface="Calibri"/>
                <a:cs typeface="Nirmala UI"/>
              </a:rPr>
              <a:t>However, requires more data to avoid overfitting with small dataset</a:t>
            </a:r>
          </a:p>
          <a:p>
            <a:pPr indent="-228600" marL="228600">
              <a:spcBef>
                <a:spcPts val="50"/>
              </a:spcBef>
              <a:lnSpc>
                <a:spcPct val="108"/>
              </a:lnSpc>
            </a:pPr>
            <a:r>
              <a:rPr lang="en-IN" sz="1160" b="0" dirty="0">
                <a:solidFill>
                  <a:srgbClr val="F5A623"/>
                </a:solidFill>
                <a:latin typeface="Calibri"/>
              </a:rPr>
              <a:t>▪  </a:t>
            </a:r>
            <a:r>
              <a:rPr lang="en-IN" sz="1160" b="0" dirty="0">
                <a:solidFill>
                  <a:srgbClr val="D0E4F7"/>
                </a:solidFill>
                <a:latin typeface="Calibri"/>
                <a:cs typeface="Nirmala UI"/>
              </a:rPr>
              <a:t>No contextualized scoring — mention pair scored without document context</a:t>
            </a:r>
          </a:p>
          <a:p>
            <a:pPr indent="-228600" marL="228600">
              <a:spcBef>
                <a:spcPts val="50"/>
              </a:spcBef>
              <a:lnSpc>
                <a:spcPct val="108"/>
              </a:lnSpc>
            </a:pPr>
            <a:r>
              <a:rPr lang="en-IN" sz="1060" b="0" dirty="0">
                <a:solidFill>
                  <a:srgbClr val="8AAEC8"/>
                </a:solidFill>
                <a:latin typeface="Calibri"/>
              </a:rPr>
              <a:t>  ◦  </a:t>
            </a:r>
            <a:r>
              <a:rPr lang="en-IN" sz="1060" b="0" dirty="0">
                <a:solidFill>
                  <a:srgbClr val="D0E4F7"/>
                </a:solidFill>
                <a:latin typeface="Calibri"/>
                <a:cs typeface="Nirmala UI"/>
              </a:rPr>
              <a:t>Neural scorers (cross-attention over mention + context) would be superior</a:t>
            </a:r>
          </a:p>
        </p:txBody>
      </p:sp>
      <p:sp>
        <p:nvSpPr>
          <p:cNvPr id="26" name="CB"/>
          <p:cNvSpPr>
            <a:spLocks noGrp="1"/>
          </p:cNvSpPr>
          <p:nvPr/>
        </p:nvSpPr>
        <p:spPr>
          <a:xfrm>
            <a:off x="274320" y="4197096"/>
            <a:ext cx="54864" cy="896112"/>
          </a:xfrm>
          <a:prstGeom prst="rect">
            <a:avLst/>
          </a:prstGeom>
          <a:solidFill>
            <a:srgbClr val="5C9BD6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CC"/>
          <p:cNvSpPr>
            <a:spLocks noGrp="1"/>
          </p:cNvSpPr>
          <p:nvPr/>
        </p:nvSpPr>
        <p:spPr>
          <a:xfrm>
            <a:off x="347472" y="4197096"/>
            <a:ext cx="10442448" cy="896112"/>
          </a:xfrm>
          <a:prstGeom prst="roundRect">
            <a:avLst>
              <a:gd name="adj" fmla="val 16667"/>
            </a:avLst>
          </a:prstGeom>
          <a:solidFill>
            <a:srgbClr val="0D1B2E"/>
          </a:solidFill>
          <a:ln>
            <a:noFill/>
          </a:ln>
        </p:spPr>
        <p:txBody>
          <a:bodyPr/>
          <a:lstStyle/>
          <a:p/>
        </p:txBody>
      </p:sp>
      <p:sp>
        <p:nvSpPr>
          <p:cNvPr id="28" name="CT"/>
          <p:cNvSpPr txBox="1">
            <a:spLocks noGrp="1"/>
          </p:cNvSpPr>
          <p:nvPr/>
        </p:nvSpPr>
        <p:spPr>
          <a:xfrm>
            <a:off x="457200" y="4261104"/>
            <a:ext cx="10259568" cy="34747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n-IN" sz="1380" b="1" dirty="0">
                <a:solidFill>
                  <a:srgbClr val="5C9BD6"/>
                </a:solidFill>
                <a:latin typeface="Calibri"/>
                <a:cs typeface="Nirmala UI"/>
              </a:rPr>
              <a:t>Union-Find Error Propagation</a:t>
            </a:r>
          </a:p>
        </p:txBody>
      </p:sp>
      <p:sp>
        <p:nvSpPr>
          <p:cNvPr id="29" name="CI"/>
          <p:cNvSpPr txBox="1">
            <a:spLocks noGrp="1"/>
          </p:cNvSpPr>
          <p:nvPr/>
        </p:nvSpPr>
        <p:spPr>
          <a:xfrm>
            <a:off x="457200" y="4636008"/>
            <a:ext cx="10259568" cy="39319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indent="-228600" marL="228600">
              <a:spcBef>
                <a:spcPts val="50"/>
              </a:spcBef>
              <a:lnSpc>
                <a:spcPct val="108"/>
              </a:lnSpc>
            </a:pPr>
            <a:r>
              <a:rPr lang="en-IN" sz="1160" b="0" dirty="0">
                <a:solidFill>
                  <a:srgbClr val="5C9BD6"/>
                </a:solidFill>
                <a:latin typeface="Calibri"/>
              </a:rPr>
              <a:t>▪  </a:t>
            </a:r>
            <a:r>
              <a:rPr lang="en-IN" sz="1160" b="0" dirty="0">
                <a:solidFill>
                  <a:srgbClr val="D0E4F7"/>
                </a:solidFill>
                <a:latin typeface="Calibri"/>
                <a:cs typeface="Nirmala UI"/>
              </a:rPr>
              <a:t>Pairwise errors are transitive — one wrong link can corrupt a cluster</a:t>
            </a:r>
          </a:p>
          <a:p>
            <a:pPr indent="-228600" marL="228600">
              <a:spcBef>
                <a:spcPts val="50"/>
              </a:spcBef>
              <a:lnSpc>
                <a:spcPct val="108"/>
              </a:lnSpc>
            </a:pPr>
            <a:r>
              <a:rPr lang="en-IN" sz="1060" b="0" dirty="0">
                <a:solidFill>
                  <a:srgbClr val="8AAEC8"/>
                </a:solidFill>
                <a:latin typeface="Calibri"/>
              </a:rPr>
              <a:t>  ◦  </a:t>
            </a:r>
            <a:r>
              <a:rPr lang="en-IN" sz="1060" b="0" dirty="0">
                <a:solidFill>
                  <a:srgbClr val="D0E4F7"/>
                </a:solidFill>
                <a:latin typeface="Calibri"/>
                <a:cs typeface="Nirmala UI"/>
              </a:rPr>
              <a:t>e.g. if M1↔M2 is correct and M2↔M3 is wrong, M1 joins wrong cluster</a:t>
            </a:r>
          </a:p>
          <a:p>
            <a:pPr indent="-228600" marL="228600">
              <a:spcBef>
                <a:spcPts val="50"/>
              </a:spcBef>
              <a:lnSpc>
                <a:spcPct val="108"/>
              </a:lnSpc>
            </a:pPr>
            <a:r>
              <a:rPr lang="en-IN" sz="1160" b="0" dirty="0">
                <a:solidFill>
                  <a:srgbClr val="5C9BD6"/>
                </a:solidFill>
                <a:latin typeface="Calibri"/>
              </a:rPr>
              <a:t>▪  </a:t>
            </a:r>
            <a:r>
              <a:rPr lang="en-IN" sz="1160" b="0" dirty="0">
                <a:solidFill>
                  <a:srgbClr val="D0E4F7"/>
                </a:solidFill>
                <a:latin typeface="Calibri"/>
                <a:cs typeface="Nirmala UI"/>
              </a:rPr>
              <a:t>No global consistency check — local pairwise decisions may conflict</a:t>
            </a:r>
          </a:p>
          <a:p>
            <a:pPr indent="-228600" marL="228600">
              <a:spcBef>
                <a:spcPts val="50"/>
              </a:spcBef>
              <a:lnSpc>
                <a:spcPct val="108"/>
              </a:lnSpc>
            </a:pPr>
            <a:r>
              <a:rPr lang="en-IN" sz="1060" b="0" dirty="0">
                <a:solidFill>
                  <a:srgbClr val="8AAEC8"/>
                </a:solidFill>
                <a:latin typeface="Calibri"/>
              </a:rPr>
              <a:t>  ◦  </a:t>
            </a:r>
            <a:r>
              <a:rPr lang="en-IN" sz="1060" b="0" dirty="0">
                <a:solidFill>
                  <a:srgbClr val="D0E4F7"/>
                </a:solidFill>
                <a:latin typeface="Calibri"/>
                <a:cs typeface="Nirmala UI"/>
              </a:rPr>
              <a:t>e.g. system says M1↔M2 COREF but also M1↔M4 and M2≠M4</a:t>
            </a:r>
          </a:p>
          <a:p>
            <a:pPr indent="-228600" marL="228600">
              <a:spcBef>
                <a:spcPts val="50"/>
              </a:spcBef>
              <a:lnSpc>
                <a:spcPct val="108"/>
              </a:lnSpc>
            </a:pPr>
            <a:r>
              <a:rPr lang="en-IN" sz="1160" b="0" dirty="0">
                <a:solidFill>
                  <a:srgbClr val="5C9BD6"/>
                </a:solidFill>
                <a:latin typeface="Calibri"/>
              </a:rPr>
              <a:t>▪  </a:t>
            </a:r>
            <a:r>
              <a:rPr lang="en-IN" sz="1160" b="0" dirty="0">
                <a:solidFill>
                  <a:srgbClr val="D0E4F7"/>
                </a:solidFill>
                <a:latin typeface="Calibri"/>
                <a:cs typeface="Nirmala UI"/>
              </a:rPr>
              <a:t>Agglomerative clustering or ILP-based decoding would be more robust</a:t>
            </a:r>
          </a:p>
          <a:p>
            <a:pPr indent="-228600" marL="228600">
              <a:spcBef>
                <a:spcPts val="50"/>
              </a:spcBef>
              <a:lnSpc>
                <a:spcPct val="108"/>
              </a:lnSpc>
            </a:pPr>
            <a:r>
              <a:rPr lang="en-IN" sz="1060" b="0" dirty="0">
                <a:solidFill>
                  <a:srgbClr val="8AAEC8"/>
                </a:solidFill>
                <a:latin typeface="Calibri"/>
              </a:rPr>
              <a:t>  ◦  </a:t>
            </a:r>
            <a:r>
              <a:rPr lang="en-IN" sz="1060" b="0" dirty="0">
                <a:solidFill>
                  <a:srgbClr val="D0E4F7"/>
                </a:solidFill>
                <a:latin typeface="Calibri"/>
                <a:cs typeface="Nirmala UI"/>
              </a:rPr>
              <a:t>But both require more labeled data or constrained optimization</a:t>
            </a:r>
          </a:p>
        </p:txBody>
      </p:sp>
      <p:sp>
        <p:nvSpPr>
          <p:cNvPr id="30" name="CB"/>
          <p:cNvSpPr>
            <a:spLocks noGrp="1"/>
          </p:cNvSpPr>
          <p:nvPr/>
        </p:nvSpPr>
        <p:spPr>
          <a:xfrm>
            <a:off x="274320" y="5175504"/>
            <a:ext cx="54864" cy="896112"/>
          </a:xfrm>
          <a:prstGeom prst="rect">
            <a:avLst/>
          </a:prstGeom>
          <a:solidFill>
            <a:srgbClr val="8AAEC8"/>
          </a:solidFill>
          <a:ln>
            <a:noFill/>
          </a:ln>
        </p:spPr>
        <p:txBody>
          <a:bodyPr/>
          <a:lstStyle/>
          <a:p/>
        </p:txBody>
      </p:sp>
      <p:sp>
        <p:nvSpPr>
          <p:cNvPr id="31" name="CC"/>
          <p:cNvSpPr>
            <a:spLocks noGrp="1"/>
          </p:cNvSpPr>
          <p:nvPr/>
        </p:nvSpPr>
        <p:spPr>
          <a:xfrm>
            <a:off x="347472" y="5175504"/>
            <a:ext cx="10442448" cy="896112"/>
          </a:xfrm>
          <a:prstGeom prst="roundRect">
            <a:avLst>
              <a:gd name="adj" fmla="val 16667"/>
            </a:avLst>
          </a:prstGeom>
          <a:solidFill>
            <a:srgbClr val="0D1B2E"/>
          </a:solidFill>
          <a:ln>
            <a:noFill/>
          </a:ln>
        </p:spPr>
        <p:txBody>
          <a:bodyPr/>
          <a:lstStyle/>
          <a:p/>
        </p:txBody>
      </p:sp>
      <p:sp>
        <p:nvSpPr>
          <p:cNvPr id="32" name="CT"/>
          <p:cNvSpPr txBox="1">
            <a:spLocks noGrp="1"/>
          </p:cNvSpPr>
          <p:nvPr/>
        </p:nvSpPr>
        <p:spPr>
          <a:xfrm>
            <a:off x="457200" y="5239512"/>
            <a:ext cx="10259568" cy="34747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n-IN" sz="1380" b="1" dirty="0">
                <a:solidFill>
                  <a:srgbClr val="8AAEC8"/>
                </a:solidFill>
                <a:latin typeface="Calibri"/>
                <a:cs typeface="Nirmala UI"/>
              </a:rPr>
              <a:t>Missing CoNLL Standard Evaluation</a:t>
            </a:r>
          </a:p>
        </p:txBody>
      </p:sp>
      <p:sp>
        <p:nvSpPr>
          <p:cNvPr id="33" name="CI"/>
          <p:cNvSpPr txBox="1">
            <a:spLocks noGrp="1"/>
          </p:cNvSpPr>
          <p:nvPr/>
        </p:nvSpPr>
        <p:spPr>
          <a:xfrm>
            <a:off x="457200" y="5614416"/>
            <a:ext cx="10259568" cy="39319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indent="-228600" marL="228600">
              <a:spcBef>
                <a:spcPts val="50"/>
              </a:spcBef>
              <a:lnSpc>
                <a:spcPct val="108"/>
              </a:lnSpc>
            </a:pPr>
            <a:r>
              <a:rPr lang="en-IN" sz="1160" b="0" dirty="0">
                <a:solidFill>
                  <a:srgbClr val="8AAEC8"/>
                </a:solidFill>
                <a:latin typeface="Calibri"/>
              </a:rPr>
              <a:t>▪  </a:t>
            </a:r>
            <a:r>
              <a:rPr lang="en-IN" sz="1160" b="0" dirty="0">
                <a:solidFill>
                  <a:srgbClr val="D0E4F7"/>
                </a:solidFill>
                <a:latin typeface="Calibri"/>
                <a:cs typeface="Nirmala UI"/>
              </a:rPr>
              <a:t>MUC, B-Cubed, CEAF scores not computed — only pairwise accuracy</a:t>
            </a:r>
          </a:p>
          <a:p>
            <a:pPr indent="-228600" marL="228600">
              <a:spcBef>
                <a:spcPts val="50"/>
              </a:spcBef>
              <a:lnSpc>
                <a:spcPct val="108"/>
              </a:lnSpc>
            </a:pPr>
            <a:r>
              <a:rPr lang="en-IN" sz="1060" b="0" dirty="0">
                <a:solidFill>
                  <a:srgbClr val="8AAEC8"/>
                </a:solidFill>
                <a:latin typeface="Calibri"/>
              </a:rPr>
              <a:t>  ◦  </a:t>
            </a:r>
            <a:r>
              <a:rPr lang="en-IN" sz="1060" b="0" dirty="0">
                <a:solidFill>
                  <a:srgbClr val="D0E4F7"/>
                </a:solidFill>
                <a:latin typeface="Calibri"/>
                <a:cs typeface="Nirmala UI"/>
              </a:rPr>
              <a:t>Makes direct comparison with published systems impossible</a:t>
            </a:r>
          </a:p>
          <a:p>
            <a:pPr indent="-228600" marL="228600">
              <a:spcBef>
                <a:spcPts val="50"/>
              </a:spcBef>
              <a:lnSpc>
                <a:spcPct val="108"/>
              </a:lnSpc>
            </a:pPr>
            <a:r>
              <a:rPr lang="en-IN" sz="1160" b="0" dirty="0">
                <a:solidFill>
                  <a:srgbClr val="8AAEC8"/>
                </a:solidFill>
                <a:latin typeface="Calibri"/>
              </a:rPr>
              <a:t>▪  </a:t>
            </a:r>
            <a:r>
              <a:rPr lang="en-IN" sz="1160" b="0" dirty="0">
                <a:solidFill>
                  <a:srgbClr val="D0E4F7"/>
                </a:solidFill>
                <a:latin typeface="Calibri"/>
                <a:cs typeface="Nirmala UI"/>
              </a:rPr>
              <a:t>CoNLL scorer requires mention-level cluster format, not pairwise</a:t>
            </a:r>
          </a:p>
          <a:p>
            <a:pPr indent="-228600" marL="228600">
              <a:spcBef>
                <a:spcPts val="50"/>
              </a:spcBef>
              <a:lnSpc>
                <a:spcPct val="108"/>
              </a:lnSpc>
            </a:pPr>
            <a:r>
              <a:rPr lang="en-IN" sz="1060" b="0" dirty="0">
                <a:solidFill>
                  <a:srgbClr val="8AAEC8"/>
                </a:solidFill>
                <a:latin typeface="Calibri"/>
              </a:rPr>
              <a:t>  ◦  </a:t>
            </a:r>
            <a:r>
              <a:rPr lang="en-IN" sz="1060" b="0" dirty="0">
                <a:solidFill>
                  <a:srgbClr val="D0E4F7"/>
                </a:solidFill>
                <a:latin typeface="Calibri"/>
                <a:cs typeface="Nirmala UI"/>
              </a:rPr>
              <a:t>Output format conversion needed: Union-Find → CoNLL cluster notation</a:t>
            </a:r>
          </a:p>
          <a:p>
            <a:pPr indent="-228600" marL="228600">
              <a:spcBef>
                <a:spcPts val="50"/>
              </a:spcBef>
              <a:lnSpc>
                <a:spcPct val="108"/>
              </a:lnSpc>
            </a:pPr>
            <a:r>
              <a:rPr lang="en-IN" sz="1160" b="0" dirty="0">
                <a:solidFill>
                  <a:srgbClr val="8AAEC8"/>
                </a:solidFill>
                <a:latin typeface="Calibri"/>
              </a:rPr>
              <a:t>▪  </a:t>
            </a:r>
            <a:r>
              <a:rPr lang="en-IN" sz="1160" b="0" dirty="0">
                <a:solidFill>
                  <a:srgbClr val="D0E4F7"/>
                </a:solidFill>
                <a:latin typeface="Calibri"/>
                <a:cs typeface="Nirmala UI"/>
              </a:rPr>
              <a:t>Without standard metrics, results cannot be submitted to shared tasks</a:t>
            </a:r>
          </a:p>
          <a:p>
            <a:pPr indent="-228600" marL="228600">
              <a:spcBef>
                <a:spcPts val="50"/>
              </a:spcBef>
              <a:lnSpc>
                <a:spcPct val="108"/>
              </a:lnSpc>
            </a:pPr>
            <a:r>
              <a:rPr lang="en-IN" sz="1060" b="0" dirty="0">
                <a:solidFill>
                  <a:srgbClr val="8AAEC8"/>
                </a:solidFill>
                <a:latin typeface="Calibri"/>
              </a:rPr>
              <a:t>  ◦  </a:t>
            </a:r>
            <a:r>
              <a:rPr lang="en-IN" sz="1060" b="0" dirty="0">
                <a:solidFill>
                  <a:srgbClr val="D0E4F7"/>
                </a:solidFill>
                <a:latin typeface="Calibri"/>
                <a:cs typeface="Nirmala UI"/>
              </a:rPr>
              <a:t>Implementing CoNLL scorer is the highest-priority next step</a:t>
            </a:r>
          </a:p>
        </p:txBody>
      </p:sp>
      <p:sp>
        <p:nvSpPr>
          <p:cNvPr id="34" name="FB"/>
          <p:cNvSpPr>
            <a:spLocks noGrp="1"/>
          </p:cNvSpPr>
          <p:nvPr/>
        </p:nvSpPr>
        <p:spPr>
          <a:xfrm>
            <a:off x="0" y="6473952"/>
            <a:ext cx="12192000" cy="384048"/>
          </a:xfrm>
          <a:prstGeom prst="rect">
            <a:avLst/>
          </a:prstGeom>
          <a:solidFill>
            <a:srgbClr val="112238"/>
          </a:solidFill>
          <a:ln>
            <a:noFill/>
          </a:ln>
        </p:spPr>
        <p:txBody>
          <a:bodyPr/>
          <a:lstStyle/>
          <a:p/>
        </p:txBody>
      </p:sp>
      <p:sp>
        <p:nvSpPr>
          <p:cNvPr id="35" name="FL"/>
          <p:cNvSpPr>
            <a:spLocks noGrp="1"/>
          </p:cNvSpPr>
          <p:nvPr/>
        </p:nvSpPr>
        <p:spPr>
          <a:xfrm>
            <a:off x="0" y="6473952"/>
            <a:ext cx="12192000" cy="36576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txBody>
          <a:bodyPr/>
          <a:lstStyle/>
          <a:p/>
        </p:txBody>
      </p:sp>
      <p:sp>
        <p:nvSpPr>
          <p:cNvPr id="36" name="FL2"/>
          <p:cNvSpPr txBox="1">
            <a:spLocks noGrp="1"/>
          </p:cNvSpPr>
          <p:nvPr/>
        </p:nvSpPr>
        <p:spPr>
          <a:xfrm>
            <a:off x="274320" y="6510528"/>
            <a:ext cx="5486400" cy="310896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n-IN" sz="950" b="0" dirty="0">
                <a:solidFill>
                  <a:srgbClr val="8AAEC8"/>
                </a:solidFill>
                <a:latin typeface="Calibri"/>
                <a:cs typeface="Nirmala UI"/>
              </a:rPr>
              <a:t>Hindi Coreference Resolution  |  CIT Kokrajhar</a:t>
            </a:r>
          </a:p>
        </p:txBody>
      </p:sp>
      <p:sp>
        <p:nvSpPr>
          <p:cNvPr id="37" name="FR"/>
          <p:cNvSpPr txBox="1">
            <a:spLocks noGrp="1"/>
          </p:cNvSpPr>
          <p:nvPr/>
        </p:nvSpPr>
        <p:spPr>
          <a:xfrm>
            <a:off x="7772400" y="6510528"/>
            <a:ext cx="3200400" cy="310896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/>
            <a:r>
              <a:rPr lang="en-IN" sz="950" b="0" dirty="0">
                <a:solidFill>
                  <a:srgbClr val="8AAEC8"/>
                </a:solidFill>
                <a:latin typeface="Calibri"/>
                <a:cs typeface="Nirmala UI"/>
              </a:rPr>
              <a:t>B.Tech Project  |  2026</a:t>
            </a:r>
          </a:p>
        </p:txBody>
      </p:sp>
    </p:spTree>
  </p:cSld>
  <p:clrMapOvr>
    <a:masterClrMapping/>
  </p:clrMapOvr>
</p:sld>
</file>

<file path=ppt/slides/slide17.xml><?xml version="1.0" encoding="UTF-8" standalone="yes"?>
<p:sld xmlns:p="http://schemas.openxmlformats.org/presentationml/2006/main"
       xmlns:a="http://schemas.openxmlformats.org/drawingml/2006/main"
       xmlns:r="http://schemas.openxmlformats.org/officeDocument/2006/relationships">
  <p:cSld><p:bg><p:bgPr><a:solidFill><a:srgbClr val="1A2E4A"/></a:solidFill><a:effectLst/></p:bgPr></p:bg>
  <p:spTree>
  <p:nvGrpSpPr><p:cNvPr id="1" name=""/><p:cNvGrpSpPr/><p:nvPr/></p:nvGrpSpPr>
  <p:grpSpPr><a:xfrm><a:off x="0" y="0"/><a:ext cx="12192000" cy="6858000"/><a:chOff x="0" y="0"/><a:chExt cx="12192000" cy="6858000"/></a:xfrm></p:grpSpPr>
  <p:sp><p:nvSpPr><p:cNvPr id="10" name="TopBar"/><p:cNvSpPr><a:spLocks noGrp="1"/></p:cNvSpPr><p:nvPr/></p:nvSpPr>
<p:spPr><a:xfrm><a:off x="0" y="0"/><a:ext cx="12192000" cy="1097280"/></a:xfrm><a:prstGeom prst="rect"><a:avLst/></a:prstGeom><a:solidFill><a:srgbClr val="112238"/></a:solidFill><a:ln><a:noFill/></a:ln></p:spPr>
<p:txBody><a:bodyPr/><a:lstStyle/><a:p/></p:txBody></p:sp>
<p:sp><p:nvSpPr><p:cNvPr id="11" name="AccLine"/><p:cNvSpPr><a:spLocks noGrp="1"/></p:cNvSpPr><p:nvPr/></p:nvSpPr>
<p:spPr><a:xfrm><a:off x="0" y="1097280"/><a:ext cx="12192000" cy="54864"/></a:xfrm><a:prstGeom prst="rect"><a:avLst/></a:prstGeom><a:solidFill><a:srgbClr val="00C9B1"/></a:solidFill><a:ln><a:noFill/></a:ln></p:spPr>
<p:txBody><a:bodyPr/><a:lstStyle/><a:p/></p:txBody></p:sp>
<p:sp><p:nvSpPr><p:cNvPr id="12" name="Title"/><p:cNvSpPr txBox="1"><a:spLocks noGrp="1"/></p:cNvSpPr><p:nvPr/></p:nvSpPr>
<p:spPr><a:xfrm><a:off x="365760" y="91440"/><a:ext cx="10424160" cy="777240"/></a:xfrm><a:prstGeom prst="rect"><a:avLst/></a:prstGeom><a:noFill/></p:spPr>
<p:txBody><a:bodyPr wrap="square" anchor="t"><a:normAutofit/></a:bodyPr><a:lstStyle/><a:p><a:pPr algn="l"/>
<a:r><a:rPr lang="en-IN" sz="2800" b="1" dirty="0"><a:solidFill><a:srgbClr val="FFFFFF"/></a:solidFill><a:latin typeface="Calibri"/><a:cs typeface="Nirmala UI"/></a:rPr><a:t>Future Work</a:t></a:r></a:p></p:txBody></p:sp>
<p:sp><p:nvSpPr><p:cNvPr id="13" name="Sub"/><p:cNvSpPr txBox="1"><a:spLocks noGrp="1"/></p:cNvSpPr><p:nvPr/></p:nvSpPr>
<p:spPr><a:xfrm><a:off x="365760" y="749808"/><a:ext cx="9144000" cy="384048"/></a:xfrm><a:prstGeom prst="rect"><a:avLst/></a:prstGeom><a:noFill/></p:spPr>
<p:txBody><a:bodyPr wrap="square" anchor="t"><a:normAutofit/></a:bodyPr><a:lstStyle/><a:p><a:pPr algn="l"/>
<a:r><a:rPr lang="en-IN" sz="1300" b="0" dirty="0"><a:solidFill><a:srgbClr val="00C9B1"/></a:solidFill><a:latin typeface="Calibri"/><a:cs typeface="Nirmala UI"/></a:rPr><a:t>Six concrete research directions to advance Hindi coreference resolution</a:t></a:r></a:p></p:txBody></p:sp>
<p:sp><p:nvSpPr><p:cNvPr id="14" name="FCard0"/><p:cNvSpPr><a:spLocks noGrp="1"/></p:cNvSpPr><p:nvPr/></p:nvSpPr>
<p:spPr><a:xfrm><a:off x="274320" y="1298448"/><a:ext cx="5074920" cy="2194560"/></a:xfrm><a:prstGeom prst="roundRect"><a:avLst><a:gd name="adj" fmla="val 10000"/></a:avLst></a:prstGeom><a:solidFill><a:srgbClr val="0D1B2E"/></a:solidFill><a:ln w="14000"><a:solidFill><a:srgbClr val="00C9B1"/></a:solidFill></a:ln></p:spPr>
<p:txBody><a:bodyPr/><a:lstStyle/><a:p/></p:txBody></p:sp>
<p:sp><p:nvSpPr><p:cNvPr id="15" name="FTop0"/><p:cNvSpPr><a:spLocks noGrp="1"/></p:cNvSpPr><p:nvPr/></p:nvSpPr>
<p:spPr><a:xfrm><a:off x="274320" y="1298448"/><a:ext cx="5074920" cy="64008"/></a:xfrm><a:prstGeom prst="rect"><a:avLst/></a:prstGeom><a:solidFill><a:srgbClr val="00C9B1"/></a:solidFill><a:ln><a:noFill/></a:ln></p:spPr>
<p:txBody><a:bodyPr/><a:lstStyle/><a:p/></p:txBody></p:sp>
<p:sp><p:nvSpPr><p:cNvPr id="16" name="FNum0"/><p:cNvSpPr><a:spLocks noGrp="1"/></p:cNvSpPr><p:nvPr/></p:nvSpPr>
<p:spPr><a:xfrm><a:off x="384048" y="1389888"/><a:ext cx="384048" cy="347472"/></a:xfrm><a:prstGeom prst="roundRect"><a:avLst><a:gd name="adj" fmla="val 50000"/></a:avLst></a:prstGeom><a:solidFill><a:srgbClr val="00C9B1"/></a:solidFill><a:ln><a:noFill/></a:ln></p:spPr>
<p:txBody><a:bodyPr/><a:lstStyle/><a:p/></p:txBody></p:sp>
<p:sp><p:nvSpPr><p:cNvPr id="17" name="FNumT0"/><p:cNvSpPr txBox="1"><a:spLocks noGrp="1"/></p:cNvSpPr><p:nvPr/></p:nvSpPr>
<p:spPr><a:xfrm><a:off x="384048" y="1389888"/><a:ext cx="384048" cy="347472"/></a:xfrm><a:prstGeom prst="rect"><a:avLst/></a:prstGeom><a:noFill/></p:spPr>
<p:txBody><a:bodyPr wrap="square" anchor="ctr"><a:normAutofit/></a:bodyPr><a:lstStyle/><a:p><a:pPr algn="ctr"/>
<a:r><a:rPr lang="en-IN" sz="1250" b="1" dirty="0"><a:solidFill><a:srgbClr val="1A2E4A"/></a:solidFill><a:latin typeface="Calibri"/><a:cs typeface="Nirmala UI"/></a:rPr><a:t>01</a:t></a:r></a:p></p:txBody></p:sp>
<p:sp><p:nvSpPr><p:cNvPr id="18" name="FTitle0"/><p:cNvSpPr txBox="1"><a:spLocks noGrp="1"/></p:cNvSpPr><p:nvPr/></p:nvSpPr>
<p:spPr><a:xfrm><a:off x="868680" y="1408176"/><a:ext cx="4389120" cy="365760"/></a:xfrm><a:prstGeom prst="rect"><a:avLst/></a:prstGeom><a:noFill/></p:spPr>
<p:txBody><a:bodyPr wrap="square" anchor="t"><a:normAutofit/></a:bodyPr><a:lstStyle/><a:p><a:pPr algn="l"/>
<a:r><a:rPr lang="en-IN" sz="1350" b="1" dirty="0"><a:solidFill><a:srgbClr val="00C9B1"/></a:solidFill><a:latin typeface="Calibri"/><a:cs typeface="Nirmala UI"/></a:rPr><a:t>Automatic Mention Detection Pipeline</a:t></a:r></a:p></p:txBody></p:sp>
<p:sp><p:nvSpPr><p:cNvPr id="19" name="FItems0"/><p:cNvSpPr txBox="1"><a:spLocks noGrp="1"/></p:cNvSpPr><p:nvPr/></p:nvSpPr>
<p:spPr><a:xfrm><a:off x="411480" y="1847088"/><a:ext cx="4846320" cy="1572768"/></a:xfrm><a:prstGeom prst="rect"><a:avLst/></a:prstGeom><a:noFill/></p:spPr>
<p:txBody><a:bodyPr wrap="square" anchor="t"><a:normAutofit/></a:bodyPr><a:lstStyle/><a:p><a:pPr indent="-228600" marL="228600"><a:spcBef><a:spcPts val="42"/></a:spcBef><a:lnSpc><a:spcPct val="104"/></a:lnSpc></a:pPr>
<a:r><a:rPr lang="en-IN" sz="1130" b="0" dirty="0"><a:solidFill><a:srgbClr val="00C9B1"/></a:solidFill><a:latin typeface="Calibri"/></a:rPr><a:t>▪  </a:t></a:r>
<a:r><a:rPr lang="en-IN" sz="1130" b="0" dirty="0"><a:solidFill><a:srgbClr val="D0E4F7"/></a:solidFill><a:latin typeface="Calibri"/><a:cs typeface="Nirmala UI"/></a:rPr><a:t>Train a BiLSTM-CRF or fine-tuned IndicBERTv2 for mention span extraction</a:t></a:r></a:p><a:p><a:pPr indent="-228600" marL="228600"><a:spcBef><a:spcPts val="42"/></a:spcBef><a:lnSpc><a:spcPct val="104"/></a:lnSpc></a:pPr>
<a:r><a:rPr lang="en-IN" sz="1030" b="0" dirty="0"><a:solidFill><a:srgbClr val="8AAEC8"/></a:solidFill><a:latin typeface="Calibri"/></a:rPr><a:t>  ◦  </a:t></a:r>
<a:r><a:rPr lang="en-IN" sz="1030" b="0" dirty="0"><a:solidFill><a:srgbClr val="D0E4F7"/></a:solidFill><a:latin typeface="Calibri"/><a:cs typeface="Nirmala UI"/></a:rPr><a:t>IOB-tagged training data: B-MENTION, I-MENTION, O labels per token</a:t></a:r></a:p><a:p><a:pPr indent="-228600" marL="228600"><a:spcBef><a:spcPts val="42"/></a:spcBef><a:lnSpc><a:spcPct val="104"/></a:lnSpc></a:pPr>
<a:r><a:rPr lang="en-IN" sz="1130" b="0" dirty="0"><a:solidFill><a:srgbClr val="00C9B1"/></a:solidFill><a:latin typeface="Calibri"/></a:rPr><a:t>▪  </a:t></a:r>
<a:r><a:rPr lang="en-IN" sz="1130" b="0" dirty="0"><a:solidFill><a:srgbClr val="D0E4F7"/></a:solidFill><a:latin typeface="Calibri"/><a:cs typeface="Nirmala UI"/></a:rPr><a:t>Integrate with Hindi NER to distinguish proper nouns from common nouns</a:t></a:r></a:p><a:p><a:pPr indent="-228600" marL="228600"><a:spcBef><a:spcPts val="42"/></a:spcBef><a:lnSpc><a:spcPct val="104"/></a:lnSpc></a:pPr>
<a:r><a:rPr lang="en-IN" sz="1030" b="0" dirty="0"><a:solidFill><a:srgbClr val="8AAEC8"/></a:solidFill><a:latin typeface="Calibri"/></a:rPr><a:t>  ◦  </a:t></a:r>
<a:r><a:rPr lang="en-IN" sz="1030" b="0" dirty="0"><a:solidFill><a:srgbClr val="D0E4F7"/></a:solidFill><a:latin typeface="Calibri"/><a:cs typeface="Nirmala UI"/></a:rPr><a:t>Target: >85% mention recall before downstream coref classification</a:t></a:r></a:p><a:p><a:pPr indent="-228600" marL="228600"><a:spcBef><a:spcPts val="42"/></a:spcBef><a:lnSpc><a:spcPct val="104"/></a:lnSpc></a:pPr>
<a:r><a:rPr lang="en-IN" sz="1130" b="0" dirty="0"><a:solidFill><a:srgbClr val="00C9B1"/></a:solidFill><a:latin typeface="Calibri"/></a:rPr><a:t>▪  </a:t></a:r>
<a:r><a:rPr lang="en-IN" sz="1130" b="0" dirty="0"><a:solidFill><a:srgbClr val="D0E4F7"/></a:solidFill><a:latin typeface="Calibri"/><a:cs typeface="Nirmala UI"/></a:rPr><a:t>This removes the manual annotation bottleneck for real-world use</a:t></a:r></a:p></p:txBody></p:sp>
<p:sp><p:nvSpPr><p:cNvPr id="20" name="FCard1"/><p:cNvSpPr><a:spLocks noGrp="1"/></p:cNvSpPr><p:nvPr/></p:nvSpPr>
<p:spPr><a:xfrm><a:off x="5577840" y="1298448"/><a:ext cx="5074920" cy="2194560"/></a:xfrm><a:prstGeom prst="roundRect"><a:avLst><a:gd name="adj" fmla="val 10000"/></a:avLst></a:prstGeom><a:solidFill><a:srgbClr val="0D1B2E"/></a:solidFill><a:ln w="14000"><a:solidFill><a:srgbClr val="F5A623"/></a:solidFill></a:ln></p:spPr>
<p:txBody><a:bodyPr/><a:lstStyle/><a:p/></p:txBody></p:sp>
<p:sp><p:nvSpPr><p:cNvPr id="21" name="FTop1"/><p:cNvSpPr><a:spLocks noGrp="1"/></p:cNvSpPr><p:nvPr/></p:nvSpPr>
<p:spPr><a:xfrm><a:off x="5577840" y="1298448"/><a:ext cx="5074920" cy="64008"/></a:xfrm><a:prstGeom prst="rect"><a:avLst/></a:prstGeom><a:solidFill><a:srgbClr val="F5A623"/></a:solidFill><a:ln><a:noFill/></a:ln></p:spPr>
<p:txBody><a:bodyPr/><a:lstStyle/><a:p/></p:txBody></p:sp>
<p:sp><p:nvSpPr><p:cNvPr id="22" name="FNum1"/><p:cNvSpPr><a:spLocks noGrp="1"/></p:cNvSpPr><p:nvPr/></p:nvSpPr>
<p:spPr><a:xfrm><a:off x="5687568" y="1389888"/><a:ext cx="384048" cy="347472"/></a:xfrm><a:prstGeom prst="roundRect"><a:avLst><a:gd name="adj" fmla="val 50000"/></a:avLst></a:prstGeom><a:solidFill><a:srgbClr val="F5A623"/></a:solidFill><a:ln><a:noFill/></a:ln></p:spPr>
<p:txBody><a:bodyPr/><a:lstStyle/><a:p/></p:txBody></p:sp>
<p:sp><p:nvSpPr><p:cNvPr id="23" name="FNumT1"/><p:cNvSpPr txBox="1"><a:spLocks noGrp="1"/></p:cNvSpPr><p:nvPr/></p:nvSpPr>
<p:spPr><a:xfrm><a:off x="5687568" y="1389888"/><a:ext cx="384048" cy="347472"/></a:xfrm><a:prstGeom prst="rect"><a:avLst/></a:prstGeom><a:noFill/></p:spPr>
<p:txBody><a:bodyPr wrap="square" anchor="ctr"><a:normAutofit/></a:bodyPr><a:lstStyle/><a:p><a:pPr algn="ctr"/>
<a:r><a:rPr lang="en-IN" sz="1250" b="1" dirty="0"><a:solidFill><a:srgbClr val="1A2E4A"/></a:solidFill><a:latin typeface="Calibri"/><a:cs typeface="Nirmala UI"/></a:rPr><a:t>02</a:t></a:r></a:p></p:txBody></p:sp>
<p:sp><p:nvSpPr><p:cNvPr id="24" name="FTitle1"/><p:cNvSpPr txBox="1"><a:spLocks noGrp="1"/></p:cNvSpPr><p:nvPr/></p:nvSpPr>
<p:spPr><a:xfrm><a:off x="6172200" y="1408176"/><a:ext cx="4389120" cy="365760"/></a:xfrm><a:prstGeom prst="rect"><a:avLst/></a:prstGeom><a:noFill/></p:spPr>
<p:txBody><a:bodyPr wrap="square" anchor="t"><a:normAutofit/></a:bodyPr><a:lstStyle/><a:p><a:pPr algn="l"/>
<a:r><a:rPr lang="en-IN" sz="1350" b="1" dirty="0"><a:solidFill><a:srgbClr val="F5A623"/></a:solidFill><a:latin typeface="Calibri"/><a:cs typeface="Nirmala UI"/></a:rPr><a:t>Neural Pairwise Scorer with Cross-Attention</a:t></a:r></a:p></p:txBody></p:sp>
<p:sp><p:nvSpPr><p:cNvPr id="25" name="FItems1"/><p:cNvSpPr txBox="1"><a:spLocks noGrp="1"/></p:cNvSpPr><p:nvPr/></p:nvSpPr>
<p:spPr><a:xfrm><a:off x="5715000" y="1847088"/><a:ext cx="4846320" cy="1572768"/></a:xfrm><a:prstGeom prst="rect"><a:avLst/></a:prstGeom><a:noFill/></p:spPr>
<p:txBody><a:bodyPr wrap="square" anchor="t"><a:normAutofit/></a:bodyPr><a:lstStyle/><a:p><a:pPr indent="-228600" marL="228600"><a:spcBef><a:spcPts val="42"/></a:spcBef><a:lnSpc><a:spcPct val="104"/></a:lnSpc></a:pPr>
<a:r><a:rPr lang="en-IN" sz="1130" b="0" dirty="0"><a:solidFill><a:srgbClr val="F5A623"/></a:solidFill><a:latin typeface="Calibri"/></a:rPr><a:t>▪  </a:t></a:r>
<a:r><a:rPr lang="en-IN" sz="1130" b="0" dirty="0"><a:solidFill><a:srgbClr val="D0E4F7"/></a:solidFill><a:latin typeface="Calibri"/><a:cs typeface="Nirmala UI"/></a:rPr><a:t>Replace Logistic Regression with a transformer-based pairwise scorer</a:t></a:r></a:p><a:p><a:pPr indent="-228600" marL="228600"><a:spcBef><a:spcPts val="42"/></a:spcBef><a:lnSpc><a:spcPct val="104"/></a:lnSpc></a:pPr>
<a:r><a:rPr lang="en-IN" sz="1030" b="0" dirty="0"><a:solidFill><a:srgbClr val="8AAEC8"/></a:solidFill><a:latin typeface="Calibri"/></a:rPr><a:t>  ◦  </a:t></a:r>
<a:r><a:rPr lang="en-IN" sz="1030" b="0" dirty="0"><a:solidFill><a:srgbClr val="D0E4F7"/></a:solidFill><a:latin typeface="Calibri"/><a:cs typeface="Nirmala UI"/></a:rPr><a:t>Concatenate [CLS_i, CLS_j, CLS_i - CLS_j, CLS_i * CLS_j] as input</a:t></a:r></a:p><a:p><a:pPr indent="-228600" marL="228600"><a:spcBef><a:spcPts val="42"/></a:spcBef><a:lnSpc><a:spcPct val="104"/></a:lnSpc></a:pPr>
<a:r><a:rPr lang="en-IN" sz="1030" b="0" dirty="0"><a:solidFill><a:srgbClr val="8AAEC8"/></a:solidFill><a:latin typeface="Calibri"/></a:rPr><a:t>  ◦  </a:t></a:r>
<a:r><a:rPr lang="en-IN" sz="1030" b="0" dirty="0"><a:solidFill><a:srgbClr val="D0E4F7"/></a:solidFill><a:latin typeface="Calibri"/><a:cs typeface="Nirmala UI"/></a:rPr><a:t>Add cross-attention between mention i and mention j token sequences</a:t></a:r></a:p><a:p><a:pPr indent="-228600" marL="228600"><a:spcBef><a:spcPts val="42"/></a:spcBef><a:lnSpc><a:spcPct val="104"/></a:lnSpc></a:pPr>
<a:r><a:rPr lang="en-IN" sz="1130" b="0" dirty="0"><a:solidFill><a:srgbClr val="F5A623"/></a:solidFill><a:latin typeface="Calibri"/></a:rPr><a:t>▪  </a:t></a:r>
<a:r><a:rPr lang="en-IN" sz="1130" b="0" dirty="0"><a:solidFill><a:srgbClr val="D0E4F7"/></a:solidFill><a:latin typeface="Calibri"/><a:cs typeface="Nirmala UI"/></a:rPr><a:t>Fine-tune IndicBERTv2 end-to-end with coreference objective (SpanBERT-style)</a:t></a:r></a:p><a:p><a:pPr indent="-228600" marL="228600"><a:spcBef><a:spcPts val="42"/></a:spcBef><a:lnSpc><a:spcPct val="104"/></a:lnSpc></a:pPr>
<a:r><a:rPr lang="en-IN" sz="1030" b="0" dirty="0"><a:solidFill><a:srgbClr val="8AAEC8"/></a:solidFill><a:latin typeface="Calibri"/></a:rPr><a:t>  ◦  </a:t></a:r>
<a:r><a:rPr lang="en-IN" sz="1030" b="0" dirty="0"><a:solidFill><a:srgbClr val="D0E4F7"/></a:solidFill><a:latin typeface="Calibri"/><a:cs typeface="Nirmala UI"/></a:rPr><a:t>Expected gain: +8-12pp F1 based on English-language SpanBERT results</a:t></a:r></a:p></p:txBody></p:sp>
<p:sp><p:nvSpPr><p:cNvPr id="26" name="FCard2"/><p:cNvSpPr><a:spLocks noGrp="1"/></p:cNvSpPr><p:nvPr/></p:nvSpPr>
<p:spPr><a:xfrm><a:off x="274320" y="3675888"/><a:ext cx="5074920" cy="2194560"/></a:xfrm><a:prstGeom prst="roundRect"><a:avLst><a:gd name="adj" fmla="val 10000"/></a:avLst></a:prstGeom><a:solidFill><a:srgbClr val="0D1B2E"/></a:solidFill><a:ln w="14000"><a:solidFill><a:srgbClr val="5C9BD6"/></a:solidFill></a:ln></p:spPr>
<p:txBody><a:bodyPr/><a:lstStyle/><a:p/></p:txBody></p:sp>
<p:sp><p:nvSpPr><p:cNvPr id="27" name="FTop2"/><p:cNvSpPr><a:spLocks noGrp="1"/></p:cNvSpPr><p:nvPr/></p:nvSpPr>
<p:spPr><a:xfrm><a:off x="274320" y="3675888"/><a:ext cx="5074920" cy="64008"/></a:xfrm><a:prstGeom prst="rect"><a:avLst/></a:prstGeom><a:solidFill><a:srgbClr val="5C9BD6"/></a:solidFill><a:ln><a:noFill/></a:ln></p:spPr>
<p:txBody><a:bodyPr/><a:lstStyle/><a:p/></p:txBody></p:sp>
<p:sp><p:nvSpPr><p:cNvPr id="28" name="FNum2"/><p:cNvSpPr><a:spLocks noGrp="1"/></p:cNvSpPr><p:nvPr/></p:nvSpPr>
<p:spPr><a:xfrm><a:off x="384048" y="3767328"/><a:ext cx="384048" cy="347472"/></a:xfrm><a:prstGeom prst="roundRect"><a:avLst><a:gd name="adj" fmla="val 50000"/></a:avLst></a:prstGeom><a:solidFill><a:srgbClr val="5C9BD6"/></a:solidFill><a:ln><a:noFill/></a:ln></p:spPr>
<p:txBody><a:bodyPr/><a:lstStyle/><a:p/></p:txBody></p:sp>
<p:sp><p:nvSpPr><p:cNvPr id="29" name="FNumT2"/><p:cNvSpPr txBox="1"><a:spLocks noGrp="1"/></p:cNvSpPr><p:nvPr/></p:nvSpPr>
<p:spPr><a:xfrm><a:off x="384048" y="3767328"/><a:ext cx="384048" cy="347472"/></a:xfrm><a:prstGeom prst="rect"><a:avLst/></a:prstGeom><a:noFill/></p:spPr>
<p:txBody><a:bodyPr wrap="square" anchor="ctr"><a:normAutofit/></a:bodyPr><a:lstStyle/><a:p><a:pPr algn="ctr"/>
<a:r><a:rPr lang="en-IN" sz="1250" b="1" dirty="0"><a:solidFill><a:srgbClr val="1A2E4A"/></a:solidFill><a:latin typeface="Calibri"/><a:cs typeface="Nirmala UI"/></a:rPr><a:t>03</a:t></a:r></a:p></p:txBody></p:sp>
<p:sp><p:nvSpPr><p:cNvPr id="30" name="FTitle2"/><p:cNvSpPr txBox="1"><a:spLocks noGrp="1"/></p:cNvSpPr><p:nvPr/></p:nvSpPr>
<p:spPr><a:xfrm><a:off x="868680" y="3785616"/><a:ext cx="4389120" cy="365760"/></a:xfrm><a:prstGeom prst="rect"><a:avLst/></a:prstGeom><a:noFill/></p:spPr>
<p:txBody><a:bodyPr wrap="square" anchor="t"><a:normAutofit/></a:bodyPr><a:lstStyle/><a:p><a:pPr algn="l"/>
<a:r><a:rPr lang="en-IN" sz="1350" b="1" dirty="0"><a:solidFill><a:srgbClr val="5C9BD6"/></a:solidFill><a:latin typeface="Calibri"/><a:cs typeface="Nirmala UI"/></a:rPr><a:t>Expand Annotated Dataset to 10K+ Spans</a:t></a:r></a:p></p:txBody></p:sp>
<p:sp><p:nvSpPr><p:cNvPr id="31" name="FItems2"/><p:cNvSpPr txBox="1"><a:spLocks noGrp="1"/></p:cNvSpPr><p:nvPr/></p:nvSpPr>
<p:spPr><a:xfrm><a:off x="411480" y="4224528"/><a:ext cx="4846320" cy="1572768"/></a:xfrm><a:prstGeom prst="rect"><a:avLst/></a:prstGeom><a:noFill/></p:spPr>
<p:txBody><a:bodyPr wrap="square" anchor="t"><a:normAutofit/></a:bodyPr><a:lstStyle/><a:p><a:pPr indent="-228600" marL="228600"><a:spcBef><a:spcPts val="42"/></a:spcBef><a:lnSpc><a:spcPct val="104"/></a:lnSpc></a:pPr>
<a:r><a:rPr lang="en-IN" sz="1130" b="0" dirty="0"><a:solidFill><a:srgbClr val="5C9BD6"/></a:solidFill><a:latin typeface="Calibri"/></a:rPr><a:t>▪  </a:t></a:r>
<a:r><a:rPr lang="en-IN" sz="1130" b="0" dirty="0"><a:solidFill><a:srgbClr val="D0E4F7"/></a:solidFill><a:latin typeface="Calibri"/><a:cs typeface="Nirmala UI"/></a:rPr><a:t>Current 1,248 spans is sufficient for Logistic Regression, not neural models</a:t></a:r></a:p><a:p><a:pPr indent="-228600" marL="228600"><a:spcBef><a:spcPts val="42"/></a:spcBef><a:lnSpc><a:spcPct val="104"/></a:lnSpc></a:pPr>
<a:r><a:rPr lang="en-IN" sz="1030" b="0" dirty="0"><a:solidFill><a:srgbClr val="8AAEC8"/></a:solidFill><a:latin typeface="Calibri"/></a:rPr><a:t>  ◦  </a:t></a:r>
<a:r><a:rPr lang="en-IN" sz="1030" b="0" dirty="0"><a:solidFill><a:srgbClr val="D0E4F7"/></a:solidFill><a:latin typeface="Calibri"/><a:cs typeface="Nirmala UI"/></a:rPr><a:t>Target: 10,000+ spans across news (30%), fiction (30%), web (40%)</a:t></a:r></a:p><a:p><a:pPr indent="-228600" marL="228600"><a:spcBef><a:spcPts val="42"/></a:spcBef><a:lnSpc><a:spcPct val="104"/></a:lnSpc></a:pPr>
<a:r><a:rPr lang="en-IN" sz="1130" b="0" dirty="0"><a:solidFill><a:srgbClr val="5C9BD6"/></a:solidFill><a:latin typeface="Calibri"/></a:rPr><a:t>▪  </a:t></a:r>
<a:r><a:rPr lang="en-IN" sz="1130" b="0" dirty="0"><a:solidFill><a:srgbClr val="D0E4F7"/></a:solidFill><a:latin typeface="Calibri"/><a:cs typeface="Nirmala UI"/></a:rPr><a:t>Adopt standardized CoNLL-format annotation guidelines for reproducibility</a:t></a:r></a:p><a:p><a:pPr indent="-228600" marL="228600"><a:spcBef><a:spcPts val="42"/></a:spcBef><a:lnSpc><a:spcPct val="104"/></a:lnSpc></a:pPr>
<a:r><a:rPr lang="en-IN" sz="1030" b="0" dirty="0"><a:solidFill><a:srgbClr val="8AAEC8"/></a:solidFill><a:latin typeface="Calibri"/></a:rPr><a:t>  ◦  </a:t></a:r>
<a:r><a:rPr lang="en-IN" sz="1030" b="0" dirty="0"><a:solidFill><a:srgbClr val="D0E4F7"/></a:solidFill><a:latin typeface="Calibri"/><a:cs typeface="Nirmala UI"/></a:rPr><a:t>Enables comparison with English OntoNotes-trained models via transfer</a:t></a:r></a:p><a:p><a:pPr indent="-228600" marL="228600"><a:spcBef><a:spcPts val="42"/></a:spcBef><a:lnSpc><a:spcPct val="104"/></a:lnSpc></a:pPr>
<a:r><a:rPr lang="en-IN" sz="1130" b="0" dirty="0"><a:solidFill><a:srgbClr val="5C9BD6"/></a:solidFill><a:latin typeface="Calibri"/></a:rPr><a:t>▪  </a:t></a:r>
<a:r><a:rPr lang="en-IN" sz="1130" b="0" dirty="0"><a:solidFill><a:srgbClr val="D0E4F7"/></a:solidFill><a:latin typeface="Calibri"/><a:cs typeface="Nirmala UI"/></a:rPr><a:t>Engage 5-10 trained Hindi linguists; aim for κ > 0.85 inter-annotator</a:t></a:r></a:p></p:txBody></p:sp>
<p:sp><p:nvSpPr><p:cNvPr id="32" name="FCard3"/><p:cNvSpPr><a:spLocks noGrp="1"/></p:cNvSpPr><p:nvPr/></p:nvSpPr>
<p:spPr><a:xfrm><a:off x="5577840" y="3675888"/><a:ext cx="5074920" cy="2194560"/></a:xfrm><a:prstGeom prst="roundRect"><a:avLst><a:gd name="adj" fmla="val 10000"/></a:avLst></a:prstGeom><a:solidFill><a:srgbClr val="0D1B2E"/></a:solidFill><a:ln w="14000"><a:solidFill><a:srgbClr val="A06BBE"/></a:solidFill></a:ln></p:spPr>
<p:txBody><a:bodyPr/><a:lstStyle/><a:p/></p:txBody></p:sp>
<p:sp><p:nvSpPr><p:cNvPr id="33" name="FTop3"/><p:cNvSpPr><a:spLocks noGrp="1"/></p:cNvSpPr><p:nvPr/></p:nvSpPr>
<p:spPr><a:xfrm><a:off x="5577840" y="3675888"/><a:ext cx="5074920" cy="64008"/></a:xfrm><a:prstGeom prst="rect"><a:avLst/></a:prstGeom><a:solidFill><a:srgbClr val="A06BBE"/></a:solidFill><a:ln><a:noFill/></a:ln></p:spPr>
<p:txBody><a:bodyPr/><a:lstStyle/><a:p/></p:txBody></p:sp>
<p:sp><p:nvSpPr><p:cNvPr id="34" name="FNum3"/><p:cNvSpPr><a:spLocks noGrp="1"/></p:cNvSpPr><p:nvPr/></p:nvSpPr>
<p:spPr><a:xfrm><a:off x="5687568" y="3767328"/><a:ext cx="384048" cy="347472"/></a:xfrm><a:prstGeom prst="roundRect"><a:avLst><a:gd name="adj" fmla="val 50000"/></a:avLst></a:prstGeom><a:solidFill><a:srgbClr val="A06BBE"/></a:solidFill><a:ln><a:noFill/></a:ln></p:spPr>
<p:txBody><a:bodyPr/><a:lstStyle/><a:p/></p:txBody></p:sp>
<p:sp><p:nvSpPr><p:cNvPr id="35" name="FNumT3"/><p:cNvSpPr txBox="1"><a:spLocks noGrp="1"/></p:cNvSpPr><p:nvPr/></p:nvSpPr>
<p:spPr><a:xfrm><a:off x="5687568" y="3767328"/><a:ext cx="384048" cy="347472"/></a:xfrm><a:prstGeom prst="rect"><a:avLst/></a:prstGeom><a:noFill/></p:spPr>
<p:txBody><a:bodyPr wrap="square" anchor="ctr"><a:normAutofit/></a:bodyPr><a:lstStyle/><a:p><a:pPr algn="ctr"/>
<a:r><a:rPr lang="en-IN" sz="1250" b="1" dirty="0"><a:solidFill><a:srgbClr val="1A2E4A"/></a:solidFill><a:latin typeface="Calibri"/><a:cs typeface="Nirmala UI"/></a:rPr><a:t>04</a:t></a:r></a:p></p:txBody></p:sp>
<p:sp><p:nvSpPr><p:cNvPr id="36" name="FTitle3"/><p:cNvSpPr txBox="1"><a:spLocks noGrp="1"/></p:cNvSpPr><p:nvPr/></p:nvSpPr>
<p:spPr><a:xfrm><a:off x="6172200" y="3785616"/><a:ext cx="4389120" cy="365760"/></a:xfrm><a:prstGeom prst="rect"><a:avLst/></a:prstGeom><a:noFill/></p:spPr>
<p:txBody><a:bodyPr wrap="square" anchor="t"><a:normAutofit/></a:bodyPr><a:lstStyle/><a:p><a:pPr algn="l"/>
<a:r><a:rPr lang="en-IN" sz="1350" b="1" dirty="0"><a:solidFill><a:srgbClr val="A06BBE"/></a:solidFill><a:latin typeface="Calibri"/><a:cs typeface="Nirmala UI"/></a:rPr><a:t>Morphological Feature Integration</a:t></a:r></a:p></p:txBody></p:sp>
<p:sp><p:nvSpPr><p:cNvPr id="37" name="FItems3"/><p:cNvSpPr txBox="1"><a:spLocks noGrp="1"/></p:cNvSpPr><p:nvPr/></p:nvSpPr>
<p:spPr><a:xfrm><a:off x="5715000" y="4224528"/><a:ext cx="4846320" cy="1572768"/></a:xfrm><a:prstGeom prst="rect"><a:avLst/></a:prstGeom><a:noFill/></p:spPr>
<p:txBody><a:bodyPr wrap="square" anchor="t"><a:normAutofit/></a:bodyPr><a:lstStyle/><a:p><a:pPr indent="-228600" marL="228600"><a:spcBef><a:spcPts val="42"/></a:spcBef><a:lnSpc><a:spcPct val="104"/></a:lnSpc></a:pPr>
<a:r><a:rPr lang="en-IN" sz="1130" b="0" dirty="0"><a:solidFill><a:srgbClr val="A06BBE"/></a:solidFill><a:latin typeface="Calibri"/></a:rPr><a:t>▪  </a:t></a:r>
<a:r><a:rPr lang="en-IN" sz="1130" b="0" dirty="0"><a:solidFill><a:srgbClr val="D0E4F7"/></a:solidFill><a:latin typeface="Calibri"/><a:cs typeface="Nirmala UI"/></a:rPr><a:t>Integrate Anudesh / iMorph Hindi morphological analyzer</a:t></a:r></a:p><a:p><a:pPr indent="-228600" marL="228600"><a:spcBef><a:spcPts val="42"/></a:spcBef><a:lnSpc><a:spcPct val="104"/></a:lnSpc></a:pPr>
<a:r><a:rPr lang="en-IN" sz="1030" b="0" dirty="0"><a:solidFill><a:srgbClr val="8AAEC8"/></a:solidFill><a:latin typeface="Calibri"/></a:rPr><a:t>  ◦  </a:t></a:r>
<a:r><a:rPr lang="en-IN" sz="1030" b="0" dirty="0"><a:solidFill><a:srgbClr val="D0E4F7"/></a:solidFill><a:latin typeface="Calibri"/><a:cs typeface="Nirmala UI"/></a:rPr><a:t>Extract: grammatical gender, number, person, case for each mention</a:t></a:r></a:p><a:p><a:pPr indent="-228600" marL="228600"><a:spcBef><a:spcPts val="42"/></a:spcBef><a:lnSpc><a:spcPct val="104"/></a:lnSpc></a:pPr>
<a:r><a:rPr lang="en-IN" sz="1030" b="0" dirty="0"><a:solidFill><a:srgbClr val="8AAEC8"/></a:solidFill><a:latin typeface="Calibri"/></a:rPr><a:t>  ◦  </a:t></a:r>
<a:r><a:rPr lang="en-IN" sz="1030" b="0" dirty="0"><a:solidFill><a:srgbClr val="D0E4F7"/></a:solidFill><a:latin typeface="Calibri"/><a:cs typeface="Nirmala UI"/></a:rPr><a:t>Add gender-match(i,j), number-match(i,j), case-match(i,j) features</a:t></a:r></a:p><a:p><a:pPr indent="-228600" marL="228600"><a:spcBef><a:spcPts val="42"/></a:spcBef><a:lnSpc><a:spcPct val="104"/></a:lnSpc></a:pPr>
<a:r><a:rPr lang="en-IN" sz="1130" b="0" dirty="0"><a:solidFill><a:srgbClr val="A06BBE"/></a:solidFill><a:latin typeface="Calibri"/></a:rPr><a:t>▪  </a:t></a:r>
<a:r><a:rPr lang="en-IN" sz="1130" b="0" dirty="0"><a:solidFill><a:srgbClr val="D0E4F7"/></a:solidFill><a:latin typeface="Calibri"/><a:cs typeface="Nirmala UI"/></a:rPr><a:t>Gender agreement is a strong coreference signal in Hindi:</a:t></a:r></a:p><a:p><a:pPr indent="-228600" marL="228600"><a:spcBef><a:spcPts val="42"/></a:spcBef><a:lnSpc><a:spcPct val="104"/></a:lnSpc></a:pPr>
<a:r><a:rPr lang="en-IN" sz="1030" b="0" dirty="0"><a:solidFill><a:srgbClr val="8AAEC8"/></a:solidFill><a:latin typeface="Calibri"/></a:rPr><a:t>  ◦  </a:t></a:r>
<a:r><a:rPr lang="en-IN" sz="1030" b="0" dirty="0"><a:solidFill><a:srgbClr val="D0E4F7"/></a:solidFill><a:latin typeface="Calibri"/><a:cs typeface="Nirmala UI"/></a:rPr><a:t>'वह गया' (M, went) cannot corefer with 'वह गई' (F, went) — explicit in verb</a:t></a:r></a:p></p:txBody></p:sp>
<p:sp><p:nvSpPr><p:cNvPr id="38" name="FCard4"/><p:cNvSpPr><a:spLocks noGrp="1"/></p:cNvSpPr><p:nvPr/></p:nvSpPr>
<p:spPr><a:xfrm><a:off x="274320" y="6053328"/><a:ext cx="5074920" cy="2194560"/></a:xfrm><a:prstGeom prst="roundRect"><a:avLst><a:gd name="adj" fmla="val 10000"/></a:avLst></a:prstGeom><a:solidFill><a:srgbClr val="0D1B2E"/></a:solidFill><a:ln w="14000"><a:solidFill><a:srgbClr val="6BBE8C"/></a:solidFill></a:ln></p:spPr>
<p:txBody><a:bodyPr/><a:lstStyle/><a:p/></p:txBody></p:sp>
<p:sp><p:nvSpPr><p:cNvPr id="39" name="FTop4"/><p:cNvSpPr><a:spLocks noGrp="1"/></p:cNvSpPr><p:nvPr/></p:nvSpPr>
<p:spPr><a:xfrm><a:off x="274320" y="6053328"/><a:ext cx="5074920" cy="64008"/></a:xfrm><a:prstGeom prst="rect"><a:avLst/></a:prstGeom><a:solidFill><a:srgbClr val="6BBE8C"/></a:solidFill><a:ln><a:noFill/></a:ln></p:spPr>
<p:txBody><a:bodyPr/><a:lstStyle/><a:p/></p:txBody></p:sp>
<p:sp><p:nvSpPr><p:cNvPr id="40" name="FNum4"/><p:cNvSpPr><a:spLocks noGrp="1"/></p:cNvSpPr><p:nvPr/></p:nvSpPr>
<p:spPr><a:xfrm><a:off x="384048" y="6144768"/><a:ext cx="384048" cy="347472"/></a:xfrm><a:prstGeom prst="roundRect"><a:avLst><a:gd name="adj" fmla="val 50000"/></a:avLst></a:prstGeom><a:solidFill><a:srgbClr val="6BBE8C"/></a:solidFill><a:ln><a:noFill/></a:ln></p:spPr>
<p:txBody><a:bodyPr/><a:lstStyle/><a:p/></p:txBody></p:sp>
<p:sp><p:nvSpPr><p:cNvPr id="41" name="FNumT4"/><p:cNvSpPr txBox="1"><a:spLocks noGrp="1"/></p:cNvSpPr><p:nvPr/></p:nvSpPr>
<p:spPr><a:xfrm><a:off x="384048" y="6144768"/><a:ext cx="384048" cy="347472"/></a:xfrm><a:prstGeom prst="rect"><a:avLst/></a:prstGeom><a:noFill/></p:spPr>
<p:txBody><a:bodyPr wrap="square" anchor="ctr"><a:normAutofit/></a:bodyPr><a:lstStyle/><a:p><a:pPr algn="ctr"/>
<a:r><a:rPr lang="en-IN" sz="1250" b="1" dirty="0"><a:solidFill><a:srgbClr val="1A2E4A"/></a:solidFill><a:latin typeface="Calibri"/><a:cs typeface="Nirmala UI"/></a:rPr><a:t>05</a:t></a:r></a:p></p:txBody></p:sp>
<p:sp><p:nvSpPr><p:cNvPr id="42" name="FTitle4"/><p:cNvSpPr txBox="1"><a:spLocks noGrp="1"/></p:cNvSpPr><p:nvPr/></p:nvSpPr>
<p:spPr><a:xfrm><a:off x="868680" y="6163056"/><a:ext cx="4389120" cy="365760"/></a:xfrm><a:prstGeom prst="rect"><a:avLst/></a:prstGeom><a:noFill/></p:spPr>
<p:txBody><a:bodyPr wrap="square" anchor="t"><a:normAutofit/></a:bodyPr><a:lstStyle/><a:p><a:pPr algn="l"/>
<a:r><a:rPr lang="en-IN" sz="1350" b="1" dirty="0"><a:solidFill><a:srgbClr val="6BBE8C"/></a:solidFill><a:latin typeface="Calibri"/><a:cs typeface="Nirmala UI"/></a:rPr><a:t>CoNLL Standard Evaluation & Shared Task Submission</a:t></a:r></a:p></p:txBody></p:sp>
<p:sp><p:nvSpPr><p:cNvPr id="43" name="FItems4"/><p:cNvSpPr txBox="1"><a:spLocks noGrp="1"/></p:cNvSpPr><p:nvPr/></p:nvSpPr>
<p:spPr><a:xfrm><a:off x="411480" y="6601968"/><a:ext cx="4846320" cy="1572768"/></a:xfrm><a:prstGeom prst="rect"><a:avLst/></a:prstGeom><a:noFill/></p:spPr>
<p:txBody><a:bodyPr wrap="square" anchor="t"><a:normAutofit/></a:bodyPr><a:lstStyle/><a:p><a:pPr indent="-228600" marL="228600"><a:spcBef><a:spcPts val="42"/></a:spcBef><a:lnSpc><a:spcPct val="104"/></a:lnSpc></a:pPr>
<a:r><a:rPr lang="en-IN" sz="1130" b="0" dirty="0"><a:solidFill><a:srgbClr val="6BBE8C"/></a:solidFill><a:latin typeface="Calibri"/></a:rPr><a:t>▪  </a:t></a:r>
<a:r><a:rPr lang="en-IN" sz="1130" b="0" dirty="0"><a:solidFill><a:srgbClr val="D0E4F7"/></a:solidFill><a:latin typeface="Calibri"/><a:cs typeface="Nirmala UI"/></a:rPr><a:t>Implement MUC, B-Cubed, CEAF metrics using the official CoNLL scorer</a:t></a:r></a:p><a:p><a:pPr indent="-228600" marL="228600"><a:spcBef><a:spcPts val="42"/></a:spcBef><a:lnSpc><a:spcPct val="104"/></a:lnSpc></a:pPr>
<a:r><a:rPr lang="en-IN" sz="1030" b="0" dirty="0"><a:solidFill><a:srgbClr val="8AAEC8"/></a:solidFill><a:latin typeface="Calibri"/></a:rPr><a:t>  ◦  </a:t></a:r>
<a:r><a:rPr lang="en-IN" sz="1030" b="0" dirty="0"><a:solidFill><a:srgbClr val="D0E4F7"/></a:solidFill><a:latin typeface="Calibri"/><a:cs typeface="Nirmala UI"/></a:rPr><a:t>Convert Union-Find output to CoNLL cluster notation format</a:t></a:r></a:p><a:p><a:pPr indent="-228600" marL="228600"><a:spcBef><a:spcPts val="42"/></a:spcBef><a:lnSpc><a:spcPct val="104"/></a:lnSpc></a:pPr>
<a:r><a:rPr lang="en-IN" sz="1130" b="0" dirty="0"><a:solidFill><a:srgbClr val="6BBE8C"/></a:solidFill><a:latin typeface="Calibri"/></a:rPr><a:t>▪  </a:t></a:r>
<a:r><a:rPr lang="en-IN" sz="1130" b="0" dirty="0"><a:solidFill><a:srgbClr val="D0E4F7"/></a:solidFill><a:latin typeface="Calibri"/><a:cs typeface="Nirmala UI"/></a:rPr><a:t>Participate in SemEval or shared tasks once pipeline is complete</a:t></a:r></a:p><a:p><a:pPr indent="-228600" marL="228600"><a:spcBef><a:spcPts val="42"/></a:spcBef><a:lnSpc><a:spcPct val="104"/></a:lnSpc></a:pPr>
<a:r><a:rPr lang="en-IN" sz="1030" b="0" dirty="0"><a:solidFill><a:srgbClr val="8AAEC8"/></a:solidFill><a:latin typeface="Calibri"/></a:rPr><a:t>  ◦  </a:t></a:r>
<a:r><a:rPr lang="en-IN" sz="1030" b="0" dirty="0"><a:solidFill><a:srgbClr val="D0E4F7"/></a:solidFill><a:latin typeface="Calibri"/><a:cs typeface="Nirmala UI"/></a:rPr><a:t>Enables apples-to-apples comparison with state-of-art systems</a:t></a:r></a:p><a:p><a:pPr indent="-228600" marL="228600"><a:spcBef><a:spcPts val="42"/></a:spcBef><a:lnSpc><a:spcPct val="104"/></a:lnSpc></a:pPr>
<a:r><a:rPr lang="en-IN" sz="1130" b="0" dirty="0"><a:solidFill><a:srgbClr val="6BBE8C"/></a:solidFill><a:latin typeface="Calibri"/></a:rPr><a:t>▪  </a:t></a:r>
<a:r><a:rPr lang="en-IN" sz="1130" b="0" dirty="0"><a:solidFill><a:srgbClr val="D0E4F7"/></a:solidFill><a:latin typeface="Calibri"/><a:cs typeface="Nirmala UI"/></a:rPr><a:t>Publish annotated dataset as open resource for the Hindi NLP community</a:t></a:r></a:p></p:txBody></p:sp>
<p:sp><p:nvSpPr><p:cNvPr id="44" name="FCard5"/><p:cNvSpPr><a:spLocks noGrp="1"/></p:cNvSpPr><p:nvPr/></p:nvSpPr>
<p:spPr><a:xfrm><a:off x="5577840" y="6053328"/><a:ext cx="5074920" cy="2194560"/></a:xfrm><a:prstGeom prst="roundRect"><a:avLst><a:gd name="adj" fmla="val 10000"/></a:avLst></a:prstGeom><a:solidFill><a:srgbClr val="0D1B2E"/></a:solidFill><a:ln w="14000"><a:solidFill><a:srgbClr val="E05C5C"/></a:solidFill></a:ln></p:spPr>
<p:txBody><a:bodyPr/><a:lstStyle/><a:p/></p:txBody></p:sp>
<p:sp><p:nvSpPr><p:cNvPr id="45" name="FTop5"/><p:cNvSpPr><a:spLocks noGrp="1"/></p:cNvSpPr><p:nvPr/></p:nvSpPr>
<p:spPr><a:xfrm><a:off x="5577840" y="6053328"/><a:ext cx="5074920" cy="64008"/></a:xfrm><a:prstGeom prst="rect"><a:avLst/></a:prstGeom><a:solidFill><a:srgbClr val="E05C5C"/></a:solidFill><a:ln><a:noFill/></a:ln></p:spPr>
<p:txBody><a:bodyPr/><a:lstStyle/><a:p/></p:txBody></p:sp>
<p:sp><p:nvSpPr><p:cNvPr id="46" name="FNum5"/><p:cNvSpPr><a:spLocks noGrp="1"/></p:cNvSpPr><p:nvPr/></p:nvSpPr>
<p:spPr><a:xfrm><a:off x="5687568" y="6144768"/><a:ext cx="384048" cy="347472"/></a:xfrm><a:prstGeom prst="roundRect"><a:avLst><a:gd name="adj" fmla="val 50000"/></a:avLst></a:prstGeom><a:solidFill><a:srgbClr val="E05C5C"/></a:solidFill><a:ln><a:noFill/></a:ln></p:spPr>
<p:txBody><a:bodyPr/><a:lstStyle/><a:p/></p:txBody></p:sp>
<p:sp><p:nvSpPr><p:cNvPr id="47" name="FNumT5"/><p:cNvSpPr txBox="1"><a:spLocks noGrp="1"/></p:cNvSpPr><p:nvPr/></p:nvSpPr>
<p:spPr><a:xfrm><a:off x="5687568" y="6144768"/><a:ext cx="384048" cy="347472"/></a:xfrm><a:prstGeom prst="rect"><a:avLst/></a:prstGeom><a:noFill/></p:spPr>
<p:txBody><a:bodyPr wrap="square" anchor="ctr"><a:normAutofit/></a:bodyPr><a:lstStyle/><a:p><a:pPr algn="ctr"/>
<a:r><a:rPr lang="en-IN" sz="1250" b="1" dirty="0"><a:solidFill><a:srgbClr val="1A2E4A"/></a:solidFill><a:latin typeface="Calibri"/><a:cs typeface="Nirmala UI"/></a:rPr><a:t>06</a:t></a:r></a:p></p:txBody></p:sp>
<p:sp><p:nvSpPr><p:cNvPr id="48" name="FTitle5"/><p:cNvSpPr txBox="1"><a:spLocks noGrp="1"/></p:cNvSpPr><p:nvPr/></p:nvSpPr>
<p:spPr><a:xfrm><a:off x="6172200" y="6163056"/><a:ext cx="4389120" cy="365760"/></a:xfrm><a:prstGeom prst="rect"><a:avLst/></a:prstGeom><a:noFill/></p:spPr>
<p:txBody><a:bodyPr wrap="square" anchor="t"><a:normAutofit/></a:bodyPr><a:lstStyle/><a:p><a:pPr algn="l"/>
<a:r><a:rPr lang="en-IN" sz="1350" b="1" dirty="0"><a:solidFill><a:srgbClr val="E05C5C"/></a:solidFill><a:latin typeface="Calibri"/><a:cs typeface="Nirmala UI"/></a:rPr><a:t>Cross-Lingual Transfer Learning</a:t></a:r></a:p></p:txBody></p:sp>
<p:sp><p:nvSpPr><p:cNvPr id="49" name="FItems5"/><p:cNvSpPr txBox="1"><a:spLocks noGrp="1"/></p:cNvSpPr><p:nvPr/></p:nvSpPr>
<p:spPr><a:xfrm><a:off x="5715000" y="6601968"/><a:ext cx="4846320" cy="1572768"/></a:xfrm><a:prstGeom prst="rect"><a:avLst/></a:prstGeom><a:noFill/></p:spPr>
<p:txBody><a:bodyPr wrap="square" anchor="t"><a:normAutofit/></a:bodyPr><a:lstStyle/><a:p><a:pPr indent="-228600" marL="228600"><a:spcBef><a:spcPts val="42"/></a:spcBef><a:lnSpc><a:spcPct val="104"/></a:lnSpc></a:pPr>
<a:r><a:rPr lang="en-IN" sz="1130" b="0" dirty="0"><a:solidFill><a:srgbClr val="E05C5C"/></a:solidFill><a:latin typeface="Calibri"/></a:rPr><a:t>▪  </a:t></a:r>
<a:r><a:rPr lang="en-IN" sz="1130" b="0" dirty="0"><a:solidFill><a:srgbClr val="D0E4F7"/></a:solidFill><a:latin typeface="Calibri"/><a:cs typeface="Nirmala UI"/></a:rPr><a:t>Explore zero-shot transfer from English SpanBERT-coref to Hindi</a:t></a:r></a:p><a:p><a:pPr indent="-228600" marL="228600"><a:spcBef><a:spcPts val="42"/></a:spcBef><a:lnSpc><a:spcPct val="104"/></a:lnSpc></a:pPr>
<a:r><a:rPr lang="en-IN" sz="1030" b="0" dirty="0"><a:solidFill><a:srgbClr val="8AAEC8"/></a:solidFill><a:latin typeface="Calibri"/></a:rPr><a:t>  ◦  </a:t></a:r>
<a:r><a:rPr lang="en-IN" sz="1030" b="0" dirty="0"><a:solidFill><a:srgbClr val="D0E4F7"/></a:solidFill><a:latin typeface="Calibri"/><a:cs typeface="Nirmala UI"/></a:rPr><a:t>Use multilingual XLM-R or IndicBERTv2 as shared encoder backbone</a:t></a:r></a:p><a:p><a:pPr indent="-228600" marL="228600"><a:spcBef><a:spcPts val="42"/></a:spcBef><a:lnSpc><a:spcPct val="104"/></a:lnSpc></a:pPr>
<a:r><a:rPr lang="en-IN" sz="1130" b="0" dirty="0"><a:solidFill><a:srgbClr val="E05C5C"/></a:solidFill><a:latin typeface="Calibri"/></a:rPr><a:t>▪  </a:t></a:r>
<a:r><a:rPr lang="en-IN" sz="1130" b="0" dirty="0"><a:solidFill><a:srgbClr val="D0E4F7"/></a:solidFill><a:latin typeface="Calibri"/><a:cs typeface="Nirmala UI"/></a:rPr><a:t>Train on English OntoNotes → test on Hindi with and without fine-tuning</a:t></a:r></a:p><a:p><a:pPr indent="-228600" marL="228600"><a:spcBef><a:spcPts val="42"/></a:spcBef><a:lnSpc><a:spcPct val="104"/></a:lnSpc></a:pPr>
<a:r><a:rPr lang="en-IN" sz="1030" b="0" dirty="0"><a:solidFill><a:srgbClr val="8AAEC8"/></a:solidFill><a:latin typeface="Calibri"/></a:rPr><a:t>  ◦  </a:t></a:r>
<a:r><a:rPr lang="en-IN" sz="1030" b="0" dirty="0"><a:solidFill><a:srgbClr val="D0E4F7"/></a:solidFill><a:latin typeface="Calibri"/><a:cs typeface="Nirmala UI"/></a:rPr><a:t>Cross-lingual transfer often achieves 60-70% of supervised performance</a:t></a:r></a:p><a:p><a:pPr indent="-228600" marL="228600"><a:spcBef><a:spcPts val="42"/></a:spcBef><a:lnSpc><a:spcPct val="104"/></a:lnSpc></a:pPr>
<a:r><a:rPr lang="en-IN" sz="1130" b="0" dirty="0"><a:solidFill><a:srgbClr val="E05C5C"/></a:solidFill><a:latin typeface="Calibri"/></a:rPr><a:t>▪  </a:t></a:r>
<a:r><a:rPr lang="en-IN" sz="1130" b="0" dirty="0"><a:solidFill><a:srgbClr val="D0E4F7"/></a:solidFill><a:latin typeface="Calibri"/><a:cs typeface="Nirmala UI"/></a:rPr><a:t>Investigate contrastive learning to align Hindi and English coref representations</a:t></a:r></a:p></p:txBody></p:sp>
<p:sp><p:nvSpPr><p:cNvPr id="50" name="FB"/><p:cNvSpPr><a:spLocks noGrp="1"/></p:cNvSpPr><p:nvPr/></p:nvSpPr>
<p:spPr><a:xfrm><a:off x="0" y="6473952"/><a:ext cx="12192000" cy="384048"/></a:xfrm><a:prstGeom prst="rect"><a:avLst/></a:prstGeom><a:solidFill><a:srgbClr val="112238"/></a:solidFill><a:ln><a:noFill/></a:ln></p:spPr>
<p:txBody><a:bodyPr/><a:lstStyle/><a:p/></p:txBody></p:sp>
<p:sp><p:nvSpPr><p:cNvPr id="51" name="FL"/><p:cNvSpPr><a:spLocks noGrp="1"/></p:cNvSpPr><p:nvPr/></p:nvSpPr>
<p:spPr><a:xfrm><a:off x="0" y="6473952"/><a:ext cx="12192000" cy="36576"/></a:xfrm><a:prstGeom prst="rect"><a:avLst/></a:prstGeom><a:solidFill><a:srgbClr val="00C9B1"/></a:solidFill><a:ln><a:noFill/></a:ln></p:spPr>
<p:txBody><a:bodyPr/><a:lstStyle/><a:p/></p:txBody></p:sp>
<p:sp><p:nvSpPr><p:cNvPr id="52" name="FL2"/><p:cNvSpPr txBox="1"><a:spLocks noGrp="1"/></p:cNvSpPr><p:nvPr/></p:nvSpPr>
<p:spPr><a:xfrm><a:off x="274320" y="6510528"/><a:ext cx="5486400" cy="310896"/></a:xfrm><a:prstGeom prst="rect"><a:avLst/></a:prstGeom><a:noFill/></p:spPr>
<p:txBody><a:bodyPr wrap="square" anchor="t"><a:normAutofit/></a:bodyPr><a:lstStyle/><a:p><a:pPr algn="l"/>
<a:r><a:rPr lang="en-IN" sz="950" b="0" dirty="0"><a:solidFill><a:srgbClr val="8AAEC8"/></a:solidFill><a:latin typeface="Calibri"/><a:cs typeface="Nirmala UI"/></a:rPr><a:t>Hindi Coreference Resolution  |  CIT Kokrajhar</a:t></a:r></a:p></p:txBody></p:sp>
<p:sp><p:nvSpPr><p:cNvPr id="53" name="FR"/><p:cNvSpPr txBox="1"><a:spLocks noGrp="1"/></p:cNvSpPr><p:nvPr/></p:nvSpPr>
<p:spPr><a:xfrm><a:off x="7772400" y="6510528"/><a:ext cx="3200400" cy="310896"/></a:xfrm><a:prstGeom prst="rect"><a:avLst/></a:prstGeom><a:noFill/></p:spPr>
<p:txBody><a:bodyPr wrap="square" anchor="t"><a:normAutofit/></a:bodyPr><a:lstStyle/><a:p><a:pPr algn="r"/>
<a:r><a:rPr lang="en-IN" sz="950" b="0" dirty="0"><a:solidFill><a:srgbClr val="8AAEC8"/></a:solidFill><a:latin typeface="Calibri"/><a:cs typeface="Nirmala UI"/></a:rPr><a:t>B.Tech Project  |  2026</a:t></a:r></a:p></p:txBody></p:sp>
  </p:spTree></p:cSld>
  <p:clrMapOvr><a:masterClrMapping/>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10" name="TopBar"/>
          <p:cNvSpPr>
            <a:spLocks noGrp="1"/>
          </p:cNvSpPr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12238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AccLine"/>
          <p:cNvSpPr>
            <a:spLocks noGrp="1"/>
          </p:cNvSpPr>
          <p:nvPr/>
        </p:nvSpPr>
        <p:spPr>
          <a:xfrm>
            <a:off x="0" y="1097280"/>
            <a:ext cx="12192000" cy="54864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itle"/>
          <p:cNvSpPr txBox="1">
            <a:spLocks noGrp="1"/>
          </p:cNvSpPr>
          <p:nvPr/>
        </p:nvSpPr>
        <p:spPr>
          <a:xfrm>
            <a:off x="365760" y="91440"/>
            <a:ext cx="10424160" cy="7772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n-IN" sz="2800" b="1" dirty="0">
                <a:solidFill>
                  <a:srgbClr val="FFFFFF"/>
                </a:solidFill>
                <a:latin typeface="Calibri"/>
                <a:cs typeface="Nirmala UI"/>
              </a:rPr>
              <a:t>Conclusion</a:t>
            </a:r>
          </a:p>
        </p:txBody>
      </p:sp>
      <p:sp>
        <p:nvSpPr>
          <p:cNvPr id="13" name="Sub"/>
          <p:cNvSpPr txBox="1">
            <a:spLocks noGrp="1"/>
          </p:cNvSpPr>
          <p:nvPr/>
        </p:nvSpPr>
        <p:spPr>
          <a:xfrm>
            <a:off x="365760" y="749808"/>
            <a:ext cx="9144000" cy="38404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n-IN" sz="1300" b="0" dirty="0">
                <a:solidFill>
                  <a:srgbClr val="00C9B1"/>
                </a:solidFill>
                <a:latin typeface="Calibri"/>
                <a:cs typeface="Nirmala UI"/>
              </a:rPr>
              <a:t>Summary of contributions, findings, and impact of this research project</a:t>
            </a:r>
          </a:p>
        </p:txBody>
      </p:sp>
      <p:sp>
        <p:nvSpPr>
          <p:cNvPr id="14" name="CB"/>
          <p:cNvSpPr>
            <a:spLocks noGrp="1"/>
          </p:cNvSpPr>
          <p:nvPr/>
        </p:nvSpPr>
        <p:spPr>
          <a:xfrm>
            <a:off x="274320" y="1298448"/>
            <a:ext cx="54864" cy="896112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CC"/>
          <p:cNvSpPr>
            <a:spLocks noGrp="1"/>
          </p:cNvSpPr>
          <p:nvPr/>
        </p:nvSpPr>
        <p:spPr>
          <a:xfrm>
            <a:off x="347472" y="1298448"/>
            <a:ext cx="10442448" cy="896112"/>
          </a:xfrm>
          <a:prstGeom prst="roundRect">
            <a:avLst>
              <a:gd name="adj" fmla="val 16667"/>
            </a:avLst>
          </a:prstGeom>
          <a:solidFill>
            <a:srgbClr val="0D1B2E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CT"/>
          <p:cNvSpPr txBox="1">
            <a:spLocks noGrp="1"/>
          </p:cNvSpPr>
          <p:nvPr/>
        </p:nvSpPr>
        <p:spPr>
          <a:xfrm>
            <a:off x="457200" y="1362456"/>
            <a:ext cx="10259568" cy="34747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n-IN" sz="1400" b="1" dirty="0">
                <a:solidFill>
                  <a:srgbClr val="00C9B1"/>
                </a:solidFill>
                <a:latin typeface="Calibri"/>
                <a:cs typeface="Nirmala UI"/>
              </a:rPr>
              <a:t>Functional End-to-End Hindi Coreference System</a:t>
            </a:r>
          </a:p>
        </p:txBody>
      </p:sp>
      <p:sp>
        <p:nvSpPr>
          <p:cNvPr id="17" name="CI"/>
          <p:cNvSpPr txBox="1">
            <a:spLocks noGrp="1"/>
          </p:cNvSpPr>
          <p:nvPr/>
        </p:nvSpPr>
        <p:spPr>
          <a:xfrm>
            <a:off x="457200" y="1737360"/>
            <a:ext cx="10259568" cy="39319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indent="-228600" marL="228600">
              <a:spcBef>
                <a:spcPts val="50"/>
              </a:spcBef>
              <a:lnSpc>
                <a:spcPct val="108"/>
              </a:lnSpc>
            </a:pPr>
            <a:r>
              <a:rPr lang="en-IN" sz="1180" b="0" dirty="0">
                <a:solidFill>
                  <a:srgbClr val="00C9B1"/>
                </a:solidFill>
                <a:latin typeface="Calibri"/>
              </a:rPr>
              <a:t>▪  </a:t>
            </a:r>
            <a:r>
              <a:rPr lang="en-IN" sz="1180" b="0" dirty="0">
                <a:solidFill>
                  <a:srgbClr val="D0E4F7"/>
                </a:solidFill>
                <a:latin typeface="Calibri"/>
                <a:cs typeface="Nirmala UI"/>
              </a:rPr>
              <a:t>Successfully built two complete coreference pipelines for Hindi NLP</a:t>
            </a:r>
          </a:p>
          <a:p>
            <a:pPr indent="-228600" marL="228600">
              <a:spcBef>
                <a:spcPts val="50"/>
              </a:spcBef>
              <a:lnSpc>
                <a:spcPct val="108"/>
              </a:lnSpc>
            </a:pPr>
            <a:r>
              <a:rPr lang="en-IN" sz="1180" b="0" dirty="0">
                <a:solidFill>
                  <a:srgbClr val="00C9B1"/>
                </a:solidFill>
                <a:latin typeface="Calibri"/>
              </a:rPr>
              <a:t>▪  </a:t>
            </a:r>
            <a:r>
              <a:rPr lang="en-IN" sz="1180" b="0" dirty="0">
                <a:solidFill>
                  <a:srgbClr val="D0E4F7"/>
                </a:solidFill>
                <a:latin typeface="Calibri"/>
                <a:cs typeface="Nirmala UI"/>
              </a:rPr>
              <a:t>Phase 1: Unsupervised BERT clustering — serves as strong baseline</a:t>
            </a:r>
          </a:p>
          <a:p>
            <a:pPr indent="-228600" marL="228600">
              <a:spcBef>
                <a:spcPts val="50"/>
              </a:spcBef>
              <a:lnSpc>
                <a:spcPct val="108"/>
              </a:lnSpc>
            </a:pPr>
            <a:r>
              <a:rPr lang="en-IN" sz="1180" b="0" dirty="0">
                <a:solidFill>
                  <a:srgbClr val="00C9B1"/>
                </a:solidFill>
                <a:latin typeface="Calibri"/>
              </a:rPr>
              <a:t>▪  </a:t>
            </a:r>
            <a:r>
              <a:rPr lang="en-IN" sz="1180" b="0" dirty="0">
                <a:solidFill>
                  <a:srgbClr val="D0E4F7"/>
                </a:solidFill>
                <a:latin typeface="Calibri"/>
                <a:cs typeface="Nirmala UI"/>
              </a:rPr>
              <a:t>Phase 2: IndicBERTv2 + linguistic features + Logistic Regression + Union-Find</a:t>
            </a:r>
          </a:p>
          <a:p>
            <a:pPr indent="-228600" marL="228600">
              <a:spcBef>
                <a:spcPts val="50"/>
              </a:spcBef>
              <a:lnSpc>
                <a:spcPct val="108"/>
              </a:lnSpc>
            </a:pPr>
            <a:r>
              <a:rPr lang="en-IN" sz="1080" b="0" dirty="0">
                <a:solidFill>
                  <a:srgbClr val="8AAEC8"/>
                </a:solidFill>
                <a:latin typeface="Calibri"/>
              </a:rPr>
              <a:t>  ◦  </a:t>
            </a:r>
            <a:r>
              <a:rPr lang="en-IN" sz="1080" b="0" dirty="0">
                <a:solidFill>
                  <a:srgbClr val="D0E4F7"/>
                </a:solidFill>
                <a:latin typeface="Calibri"/>
                <a:cs typeface="Nirmala UI"/>
              </a:rPr>
              <a:t>Achieves 82% pairwise accuracy — first reported Hindi coref result with IndicBERTv2</a:t>
            </a:r>
          </a:p>
          <a:p>
            <a:pPr indent="-228600" marL="228600">
              <a:spcBef>
                <a:spcPts val="50"/>
              </a:spcBef>
              <a:lnSpc>
                <a:spcPct val="108"/>
              </a:lnSpc>
            </a:pPr>
            <a:r>
              <a:rPr lang="en-IN" sz="1080" b="0" dirty="0">
                <a:solidFill>
                  <a:srgbClr val="8AAEC8"/>
                </a:solidFill>
                <a:latin typeface="Calibri"/>
              </a:rPr>
              <a:t>  ◦  </a:t>
            </a:r>
            <a:r>
              <a:rPr lang="en-IN" sz="1080" b="0" dirty="0">
                <a:solidFill>
                  <a:srgbClr val="D0E4F7"/>
                </a:solidFill>
                <a:latin typeface="Calibri"/>
                <a:cs typeface="Nirmala UI"/>
              </a:rPr>
              <a:t>System is modular: each component can be independently replaced or upgraded</a:t>
            </a:r>
          </a:p>
        </p:txBody>
      </p:sp>
      <p:sp>
        <p:nvSpPr>
          <p:cNvPr id="18" name="CB"/>
          <p:cNvSpPr>
            <a:spLocks noGrp="1"/>
          </p:cNvSpPr>
          <p:nvPr/>
        </p:nvSpPr>
        <p:spPr>
          <a:xfrm>
            <a:off x="274320" y="2286000"/>
            <a:ext cx="54864" cy="89611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CC"/>
          <p:cNvSpPr>
            <a:spLocks noGrp="1"/>
          </p:cNvSpPr>
          <p:nvPr/>
        </p:nvSpPr>
        <p:spPr>
          <a:xfrm>
            <a:off x="347472" y="2286000"/>
            <a:ext cx="10442448" cy="896112"/>
          </a:xfrm>
          <a:prstGeom prst="roundRect">
            <a:avLst>
              <a:gd name="adj" fmla="val 16667"/>
            </a:avLst>
          </a:prstGeom>
          <a:solidFill>
            <a:srgbClr val="0D1B2E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CT"/>
          <p:cNvSpPr txBox="1">
            <a:spLocks noGrp="1"/>
          </p:cNvSpPr>
          <p:nvPr/>
        </p:nvSpPr>
        <p:spPr>
          <a:xfrm>
            <a:off x="457200" y="2350008"/>
            <a:ext cx="10259568" cy="34747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n-IN" sz="1400" b="1" dirty="0">
                <a:solidFill>
                  <a:srgbClr val="F5A623"/>
                </a:solidFill>
                <a:latin typeface="Calibri"/>
                <a:cs typeface="Nirmala UI"/>
              </a:rPr>
              <a:t>Validated the Superiority of Pretrained Indic Models</a:t>
            </a:r>
          </a:p>
        </p:txBody>
      </p:sp>
      <p:sp>
        <p:nvSpPr>
          <p:cNvPr id="21" name="CI"/>
          <p:cNvSpPr txBox="1">
            <a:spLocks noGrp="1"/>
          </p:cNvSpPr>
          <p:nvPr/>
        </p:nvSpPr>
        <p:spPr>
          <a:xfrm>
            <a:off x="457200" y="2724912"/>
            <a:ext cx="10259568" cy="39319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indent="-228600" marL="228600">
              <a:spcBef>
                <a:spcPts val="50"/>
              </a:spcBef>
              <a:lnSpc>
                <a:spcPct val="108"/>
              </a:lnSpc>
            </a:pPr>
            <a:r>
              <a:rPr lang="en-IN" sz="1180" b="0" dirty="0">
                <a:solidFill>
                  <a:srgbClr val="F5A623"/>
                </a:solidFill>
                <a:latin typeface="Calibri"/>
              </a:rPr>
              <a:t>▪  </a:t>
            </a:r>
            <a:r>
              <a:rPr lang="en-IN" sz="1180" b="0" dirty="0">
                <a:solidFill>
                  <a:srgbClr val="D0E4F7"/>
                </a:solidFill>
                <a:latin typeface="Calibri"/>
                <a:cs typeface="Nirmala UI"/>
              </a:rPr>
              <a:t>IndicBERTv2 (20B token pretraining) dramatically outperforms scratch BERT (48M tokens)</a:t>
            </a:r>
          </a:p>
          <a:p>
            <a:pPr indent="-228600" marL="228600">
              <a:spcBef>
                <a:spcPts val="50"/>
              </a:spcBef>
              <a:lnSpc>
                <a:spcPct val="108"/>
              </a:lnSpc>
            </a:pPr>
            <a:r>
              <a:rPr lang="en-IN" sz="1080" b="0" dirty="0">
                <a:solidFill>
                  <a:srgbClr val="8AAEC8"/>
                </a:solidFill>
                <a:latin typeface="Calibri"/>
              </a:rPr>
              <a:t>  ◦  </a:t>
            </a:r>
            <a:r>
              <a:rPr lang="en-IN" sz="1080" b="0" dirty="0">
                <a:solidFill>
                  <a:srgbClr val="D0E4F7"/>
                </a:solidFill>
                <a:latin typeface="Calibri"/>
                <a:cs typeface="Nirmala UI"/>
              </a:rPr>
              <a:t>Embedding-only accuracy: 65% vs 43% — gap of 22 percentage points</a:t>
            </a:r>
          </a:p>
          <a:p>
            <a:pPr indent="-228600" marL="228600">
              <a:spcBef>
                <a:spcPts val="50"/>
              </a:spcBef>
              <a:lnSpc>
                <a:spcPct val="108"/>
              </a:lnSpc>
            </a:pPr>
            <a:r>
              <a:rPr lang="en-IN" sz="1080" b="0" dirty="0">
                <a:solidFill>
                  <a:srgbClr val="8AAEC8"/>
                </a:solidFill>
                <a:latin typeface="Calibri"/>
              </a:rPr>
              <a:t>  ◦  </a:t>
            </a:r>
            <a:r>
              <a:rPr lang="en-IN" sz="1080" b="0" dirty="0">
                <a:solidFill>
                  <a:srgbClr val="D0E4F7"/>
                </a:solidFill>
                <a:latin typeface="Calibri"/>
                <a:cs typeface="Nirmala UI"/>
              </a:rPr>
              <a:t>Confirms: for low-resource tasks, leveraging large pretrained models is critical</a:t>
            </a:r>
          </a:p>
          <a:p>
            <a:pPr indent="-228600" marL="228600">
              <a:spcBef>
                <a:spcPts val="50"/>
              </a:spcBef>
              <a:lnSpc>
                <a:spcPct val="108"/>
              </a:lnSpc>
            </a:pPr>
            <a:r>
              <a:rPr lang="en-IN" sz="1080" b="0" dirty="0">
                <a:solidFill>
                  <a:srgbClr val="8AAEC8"/>
                </a:solidFill>
                <a:latin typeface="Calibri"/>
              </a:rPr>
              <a:t>  ◦  </a:t>
            </a:r>
            <a:r>
              <a:rPr lang="en-IN" sz="1080" b="0" dirty="0">
                <a:solidFill>
                  <a:srgbClr val="D0E4F7"/>
                </a:solidFill>
                <a:latin typeface="Calibri"/>
                <a:cs typeface="Nirmala UI"/>
              </a:rPr>
              <a:t>Lesson generalizes to other Indian languages: use AI4Bharat models as base</a:t>
            </a:r>
          </a:p>
        </p:txBody>
      </p:sp>
      <p:sp>
        <p:nvSpPr>
          <p:cNvPr id="22" name="CB"/>
          <p:cNvSpPr>
            <a:spLocks noGrp="1"/>
          </p:cNvSpPr>
          <p:nvPr/>
        </p:nvSpPr>
        <p:spPr>
          <a:xfrm>
            <a:off x="274320" y="3273552"/>
            <a:ext cx="54864" cy="896112"/>
          </a:xfrm>
          <a:prstGeom prst="rect">
            <a:avLst/>
          </a:prstGeom>
          <a:solidFill>
            <a:srgbClr val="5C9BD6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CC"/>
          <p:cNvSpPr>
            <a:spLocks noGrp="1"/>
          </p:cNvSpPr>
          <p:nvPr/>
        </p:nvSpPr>
        <p:spPr>
          <a:xfrm>
            <a:off x="347472" y="3273552"/>
            <a:ext cx="10442448" cy="896112"/>
          </a:xfrm>
          <a:prstGeom prst="roundRect">
            <a:avLst>
              <a:gd name="adj" fmla="val 16667"/>
            </a:avLst>
          </a:prstGeom>
          <a:solidFill>
            <a:srgbClr val="0D1B2E"/>
          </a:solidFill>
          <a:ln>
            <a:noFill/>
          </a:ln>
        </p:spPr>
        <p:txBody>
          <a:bodyPr/>
          <a:lstStyle/>
          <a:p/>
        </p:txBody>
      </p:sp>
      <p:sp>
        <p:nvSpPr>
          <p:cNvPr id="24" name="CT"/>
          <p:cNvSpPr txBox="1">
            <a:spLocks noGrp="1"/>
          </p:cNvSpPr>
          <p:nvPr/>
        </p:nvSpPr>
        <p:spPr>
          <a:xfrm>
            <a:off x="457200" y="3337560"/>
            <a:ext cx="10259568" cy="34747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n-IN" sz="1400" b="1" dirty="0">
                <a:solidFill>
                  <a:srgbClr val="5C9BD6"/>
                </a:solidFill>
                <a:latin typeface="Calibri"/>
                <a:cs typeface="Nirmala UI"/>
              </a:rPr>
              <a:t>Proved Linguistic Features Bridge the Gap</a:t>
            </a:r>
          </a:p>
        </p:txBody>
      </p:sp>
      <p:sp>
        <p:nvSpPr>
          <p:cNvPr id="25" name="CI"/>
          <p:cNvSpPr txBox="1">
            <a:spLocks noGrp="1"/>
          </p:cNvSpPr>
          <p:nvPr/>
        </p:nvSpPr>
        <p:spPr>
          <a:xfrm>
            <a:off x="457200" y="3712464"/>
            <a:ext cx="10259568" cy="39319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indent="-228600" marL="228600">
              <a:spcBef>
                <a:spcPts val="50"/>
              </a:spcBef>
              <a:lnSpc>
                <a:spcPct val="108"/>
              </a:lnSpc>
            </a:pPr>
            <a:r>
              <a:rPr lang="en-IN" sz="1180" b="0" dirty="0">
                <a:solidFill>
                  <a:srgbClr val="5C9BD6"/>
                </a:solidFill>
                <a:latin typeface="Calibri"/>
              </a:rPr>
              <a:t>▪  </a:t>
            </a:r>
            <a:r>
              <a:rPr lang="en-IN" sz="1180" b="0" dirty="0">
                <a:solidFill>
                  <a:srgbClr val="D0E4F7"/>
                </a:solidFill>
                <a:latin typeface="Calibri"/>
                <a:cs typeface="Nirmala UI"/>
              </a:rPr>
              <a:t>Embedding similarity alone (65%) leaves a 17pp gap to full system (82%)</a:t>
            </a:r>
          </a:p>
          <a:p>
            <a:pPr indent="-228600" marL="228600">
              <a:spcBef>
                <a:spcPts val="50"/>
              </a:spcBef>
              <a:lnSpc>
                <a:spcPct val="108"/>
              </a:lnSpc>
            </a:pPr>
            <a:r>
              <a:rPr lang="en-IN" sz="1080" b="0" dirty="0">
                <a:solidFill>
                  <a:srgbClr val="8AAEC8"/>
                </a:solidFill>
                <a:latin typeface="Calibri"/>
              </a:rPr>
              <a:t>  ◦  </a:t>
            </a:r>
            <a:r>
              <a:rPr lang="en-IN" sz="1080" b="0" dirty="0">
                <a:solidFill>
                  <a:srgbClr val="D0E4F7"/>
                </a:solidFill>
                <a:latin typeface="Calibri"/>
                <a:cs typeface="Nirmala UI"/>
              </a:rPr>
              <a:t>Linguistic features contribute 17pp — as much as pretrained embeddings vs baseline</a:t>
            </a:r>
          </a:p>
          <a:p>
            <a:pPr indent="-228600" marL="228600">
              <a:spcBef>
                <a:spcPts val="50"/>
              </a:spcBef>
              <a:lnSpc>
                <a:spcPct val="108"/>
              </a:lnSpc>
            </a:pPr>
            <a:r>
              <a:rPr lang="en-IN" sz="1180" b="0" dirty="0">
                <a:solidFill>
                  <a:srgbClr val="5C9BD6"/>
                </a:solidFill>
                <a:latin typeface="Calibri"/>
              </a:rPr>
              <a:t>▪  </a:t>
            </a:r>
            <a:r>
              <a:rPr lang="en-IN" sz="1180" b="0" dirty="0">
                <a:solidFill>
                  <a:srgbClr val="D0E4F7"/>
                </a:solidFill>
                <a:latin typeface="Calibri"/>
                <a:cs typeface="Nirmala UI"/>
              </a:rPr>
              <a:t>Pronoun flag (+6pp), sentence distance (+4pp), clause heuristic (+4pp) are most impactful</a:t>
            </a:r>
          </a:p>
          <a:p>
            <a:pPr indent="-228600" marL="228600">
              <a:spcBef>
                <a:spcPts val="50"/>
              </a:spcBef>
              <a:lnSpc>
                <a:spcPct val="108"/>
              </a:lnSpc>
            </a:pPr>
            <a:r>
              <a:rPr lang="en-IN" sz="1080" b="0" dirty="0">
                <a:solidFill>
                  <a:srgbClr val="8AAEC8"/>
                </a:solidFill>
                <a:latin typeface="Calibri"/>
              </a:rPr>
              <a:t>  ◦  </a:t>
            </a:r>
            <a:r>
              <a:rPr lang="en-IN" sz="1080" b="0" dirty="0">
                <a:solidFill>
                  <a:srgbClr val="D0E4F7"/>
                </a:solidFill>
                <a:latin typeface="Calibri"/>
                <a:cs typeface="Nirmala UI"/>
              </a:rPr>
              <a:t>Key insight: discourse structure and morphology are complementary to neural embeddings</a:t>
            </a:r>
          </a:p>
        </p:txBody>
      </p:sp>
      <p:sp>
        <p:nvSpPr>
          <p:cNvPr id="26" name="CB"/>
          <p:cNvSpPr>
            <a:spLocks noGrp="1"/>
          </p:cNvSpPr>
          <p:nvPr/>
        </p:nvSpPr>
        <p:spPr>
          <a:xfrm>
            <a:off x="274320" y="4261104"/>
            <a:ext cx="54864" cy="896112"/>
          </a:xfrm>
          <a:prstGeom prst="rect">
            <a:avLst/>
          </a:prstGeom>
          <a:solidFill>
            <a:srgbClr val="A06BBE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CC"/>
          <p:cNvSpPr>
            <a:spLocks noGrp="1"/>
          </p:cNvSpPr>
          <p:nvPr/>
        </p:nvSpPr>
        <p:spPr>
          <a:xfrm>
            <a:off x="347472" y="4261104"/>
            <a:ext cx="10442448" cy="896112"/>
          </a:xfrm>
          <a:prstGeom prst="roundRect">
            <a:avLst>
              <a:gd name="adj" fmla="val 16667"/>
            </a:avLst>
          </a:prstGeom>
          <a:solidFill>
            <a:srgbClr val="0D1B2E"/>
          </a:solidFill>
          <a:ln>
            <a:noFill/>
          </a:ln>
        </p:spPr>
        <p:txBody>
          <a:bodyPr/>
          <a:lstStyle/>
          <a:p/>
        </p:txBody>
      </p:sp>
      <p:sp>
        <p:nvSpPr>
          <p:cNvPr id="28" name="CT"/>
          <p:cNvSpPr txBox="1">
            <a:spLocks noGrp="1"/>
          </p:cNvSpPr>
          <p:nvPr/>
        </p:nvSpPr>
        <p:spPr>
          <a:xfrm>
            <a:off x="457200" y="4325112"/>
            <a:ext cx="10259568" cy="34747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n-IN" sz="1400" b="1" dirty="0">
                <a:solidFill>
                  <a:srgbClr val="A06BBE"/>
                </a:solidFill>
                <a:latin typeface="Calibri"/>
                <a:cs typeface="Nirmala UI"/>
              </a:rPr>
              <a:t>Novel Annotated Hindi Coreference Dataset</a:t>
            </a:r>
          </a:p>
        </p:txBody>
      </p:sp>
      <p:sp>
        <p:nvSpPr>
          <p:cNvPr id="29" name="CI"/>
          <p:cNvSpPr txBox="1">
            <a:spLocks noGrp="1"/>
          </p:cNvSpPr>
          <p:nvPr/>
        </p:nvSpPr>
        <p:spPr>
          <a:xfrm>
            <a:off x="457200" y="4700016"/>
            <a:ext cx="10259568" cy="39319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indent="-228600" marL="228600">
              <a:spcBef>
                <a:spcPts val="50"/>
              </a:spcBef>
              <a:lnSpc>
                <a:spcPct val="108"/>
              </a:lnSpc>
            </a:pPr>
            <a:r>
              <a:rPr lang="en-IN" sz="1180" b="0" dirty="0">
                <a:solidFill>
                  <a:srgbClr val="A06BBE"/>
                </a:solidFill>
                <a:latin typeface="Calibri"/>
              </a:rPr>
              <a:t>▪  </a:t>
            </a:r>
            <a:r>
              <a:rPr lang="en-IN" sz="1180" b="0" dirty="0">
                <a:solidFill>
                  <a:srgbClr val="D0E4F7"/>
                </a:solidFill>
                <a:latin typeface="Calibri"/>
                <a:cs typeface="Nirmala UI"/>
              </a:rPr>
              <a:t>Created 1,248 manually annotated mention spans — publicly available contribution</a:t>
            </a:r>
          </a:p>
          <a:p>
            <a:pPr indent="-228600" marL="228600">
              <a:spcBef>
                <a:spcPts val="50"/>
              </a:spcBef>
              <a:lnSpc>
                <a:spcPct val="108"/>
              </a:lnSpc>
            </a:pPr>
            <a:r>
              <a:rPr lang="en-IN" sz="1080" b="0" dirty="0">
                <a:solidFill>
                  <a:srgbClr val="8AAEC8"/>
                </a:solidFill>
                <a:latin typeface="Calibri"/>
              </a:rPr>
              <a:t>  ◦  </a:t>
            </a:r>
            <a:r>
              <a:rPr lang="en-IN" sz="1080" b="0" dirty="0">
                <a:solidFill>
                  <a:srgbClr val="D0E4F7"/>
                </a:solidFill>
                <a:latin typeface="Calibri"/>
                <a:cs typeface="Nirmala UI"/>
              </a:rPr>
              <a:t>Fills a critical resource gap in Hindi NLP ecosystem</a:t>
            </a:r>
          </a:p>
          <a:p>
            <a:pPr indent="-228600" marL="228600">
              <a:spcBef>
                <a:spcPts val="50"/>
              </a:spcBef>
              <a:lnSpc>
                <a:spcPct val="108"/>
              </a:lnSpc>
            </a:pPr>
            <a:r>
              <a:rPr lang="en-IN" sz="1180" b="0" dirty="0">
                <a:solidFill>
                  <a:srgbClr val="A06BBE"/>
                </a:solidFill>
                <a:latin typeface="Calibri"/>
              </a:rPr>
              <a:t>▪  </a:t>
            </a:r>
            <a:r>
              <a:rPr lang="en-IN" sz="1180" b="0" dirty="0">
                <a:solidFill>
                  <a:srgbClr val="D0E4F7"/>
                </a:solidFill>
                <a:latin typeface="Calibri"/>
                <a:cs typeface="Nirmala UI"/>
              </a:rPr>
              <a:t>Annotation methodology documented for reproducibility (3-pass, κ=0.81)</a:t>
            </a:r>
          </a:p>
          <a:p>
            <a:pPr indent="-228600" marL="228600">
              <a:spcBef>
                <a:spcPts val="50"/>
              </a:spcBef>
              <a:lnSpc>
                <a:spcPct val="108"/>
              </a:lnSpc>
            </a:pPr>
            <a:r>
              <a:rPr lang="en-IN" sz="1080" b="0" dirty="0">
                <a:solidFill>
                  <a:srgbClr val="8AAEC8"/>
                </a:solidFill>
                <a:latin typeface="Calibri"/>
              </a:rPr>
              <a:t>  ◦  </a:t>
            </a:r>
            <a:r>
              <a:rPr lang="en-IN" sz="1080" b="0" dirty="0">
                <a:solidFill>
                  <a:srgbClr val="D0E4F7"/>
                </a:solidFill>
                <a:latin typeface="Calibri"/>
                <a:cs typeface="Nirmala UI"/>
              </a:rPr>
              <a:t>Can serve as foundation for future supervised/semi-supervised Hindi coref work</a:t>
            </a:r>
          </a:p>
        </p:txBody>
      </p:sp>
      <p:sp>
        <p:nvSpPr>
          <p:cNvPr id="30" name="CB"/>
          <p:cNvSpPr>
            <a:spLocks noGrp="1"/>
          </p:cNvSpPr>
          <p:nvPr/>
        </p:nvSpPr>
        <p:spPr>
          <a:xfrm>
            <a:off x="274320" y="5248656"/>
            <a:ext cx="54864" cy="896112"/>
          </a:xfrm>
          <a:prstGeom prst="rect">
            <a:avLst/>
          </a:prstGeom>
          <a:solidFill>
            <a:srgbClr val="E05C5C"/>
          </a:solidFill>
          <a:ln>
            <a:noFill/>
          </a:ln>
        </p:spPr>
        <p:txBody>
          <a:bodyPr/>
          <a:lstStyle/>
          <a:p/>
        </p:txBody>
      </p:sp>
      <p:sp>
        <p:nvSpPr>
          <p:cNvPr id="31" name="CC"/>
          <p:cNvSpPr>
            <a:spLocks noGrp="1"/>
          </p:cNvSpPr>
          <p:nvPr/>
        </p:nvSpPr>
        <p:spPr>
          <a:xfrm>
            <a:off x="347472" y="5248656"/>
            <a:ext cx="10442448" cy="896112"/>
          </a:xfrm>
          <a:prstGeom prst="roundRect">
            <a:avLst>
              <a:gd name="adj" fmla="val 16667"/>
            </a:avLst>
          </a:prstGeom>
          <a:solidFill>
            <a:srgbClr val="0D1B2E"/>
          </a:solidFill>
          <a:ln>
            <a:noFill/>
          </a:ln>
        </p:spPr>
        <p:txBody>
          <a:bodyPr/>
          <a:lstStyle/>
          <a:p/>
        </p:txBody>
      </p:sp>
      <p:sp>
        <p:nvSpPr>
          <p:cNvPr id="32" name="CT"/>
          <p:cNvSpPr txBox="1">
            <a:spLocks noGrp="1"/>
          </p:cNvSpPr>
          <p:nvPr/>
        </p:nvSpPr>
        <p:spPr>
          <a:xfrm>
            <a:off x="457200" y="5312664"/>
            <a:ext cx="10259568" cy="34747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n-IN" sz="1400" b="1" dirty="0">
                <a:solidFill>
                  <a:srgbClr val="E05C5C"/>
                </a:solidFill>
                <a:latin typeface="Calibri"/>
                <a:cs typeface="Nirmala UI"/>
              </a:rPr>
              <a:t>Important Research Insight from Phase 1 Failure</a:t>
            </a:r>
          </a:p>
        </p:txBody>
      </p:sp>
      <p:sp>
        <p:nvSpPr>
          <p:cNvPr id="33" name="CI"/>
          <p:cNvSpPr txBox="1">
            <a:spLocks noGrp="1"/>
          </p:cNvSpPr>
          <p:nvPr/>
        </p:nvSpPr>
        <p:spPr>
          <a:xfrm>
            <a:off x="457200" y="5687568"/>
            <a:ext cx="10259568" cy="39319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indent="-228600" marL="228600">
              <a:spcBef>
                <a:spcPts val="50"/>
              </a:spcBef>
              <a:lnSpc>
                <a:spcPct val="108"/>
              </a:lnSpc>
            </a:pPr>
            <a:r>
              <a:rPr lang="en-IN" sz="1180" b="0" dirty="0">
                <a:solidFill>
                  <a:srgbClr val="E05C5C"/>
                </a:solidFill>
                <a:latin typeface="Calibri"/>
              </a:rPr>
              <a:t>▪  </a:t>
            </a:r>
            <a:r>
              <a:rPr lang="en-IN" sz="1180" b="0" dirty="0">
                <a:solidFill>
                  <a:srgbClr val="D0E4F7"/>
                </a:solidFill>
                <a:latin typeface="Calibri"/>
                <a:cs typeface="Nirmala UI"/>
              </a:rPr>
              <a:t>Definitively proved: semantic similarity ≠ coreference (fundamental distinction)</a:t>
            </a:r>
          </a:p>
          <a:p>
            <a:pPr indent="-228600" marL="228600">
              <a:spcBef>
                <a:spcPts val="50"/>
              </a:spcBef>
              <a:lnSpc>
                <a:spcPct val="108"/>
              </a:lnSpc>
            </a:pPr>
            <a:r>
              <a:rPr lang="en-IN" sz="1080" b="0" dirty="0">
                <a:solidFill>
                  <a:srgbClr val="8AAEC8"/>
                </a:solidFill>
                <a:latin typeface="Calibri"/>
              </a:rPr>
              <a:t>  ◦  </a:t>
            </a:r>
            <a:r>
              <a:rPr lang="en-IN" sz="1080" b="0" dirty="0">
                <a:solidFill>
                  <a:srgbClr val="D0E4F7"/>
                </a:solidFill>
                <a:latin typeface="Calibri"/>
                <a:cs typeface="Nirmala UI"/>
              </a:rPr>
              <a:t>This insight guides future unsupervised NLP approaches for low-resource languages</a:t>
            </a:r>
          </a:p>
          <a:p>
            <a:pPr indent="-228600" marL="228600">
              <a:spcBef>
                <a:spcPts val="50"/>
              </a:spcBef>
              <a:lnSpc>
                <a:spcPct val="108"/>
              </a:lnSpc>
            </a:pPr>
            <a:r>
              <a:rPr lang="en-IN" sz="1180" b="0" dirty="0">
                <a:solidFill>
                  <a:srgbClr val="E05C5C"/>
                </a:solidFill>
                <a:latin typeface="Calibri"/>
              </a:rPr>
              <a:t>▪  </a:t>
            </a:r>
            <a:r>
              <a:rPr lang="en-IN" sz="1180" b="0" dirty="0">
                <a:solidFill>
                  <a:srgbClr val="D0E4F7"/>
                </a:solidFill>
                <a:latin typeface="Calibri"/>
                <a:cs typeface="Nirmala UI"/>
              </a:rPr>
              <a:t>Negative results are valuable — saved future researchers from the same dead end</a:t>
            </a:r>
          </a:p>
          <a:p>
            <a:pPr indent="-228600" marL="228600">
              <a:spcBef>
                <a:spcPts val="50"/>
              </a:spcBef>
              <a:lnSpc>
                <a:spcPct val="108"/>
              </a:lnSpc>
            </a:pPr>
            <a:r>
              <a:rPr lang="en-IN" sz="1080" b="0" dirty="0">
                <a:solidFill>
                  <a:srgbClr val="8AAEC8"/>
                </a:solidFill>
                <a:latin typeface="Calibri"/>
              </a:rPr>
              <a:t>  ◦  </a:t>
            </a:r>
            <a:r>
              <a:rPr lang="en-IN" sz="1080" b="0" dirty="0">
                <a:solidFill>
                  <a:srgbClr val="D0E4F7"/>
                </a:solidFill>
                <a:latin typeface="Calibri"/>
                <a:cs typeface="Nirmala UI"/>
              </a:rPr>
              <a:t>Published Phase 1 failure analysis adds to scientific knowledge even without success</a:t>
            </a:r>
          </a:p>
        </p:txBody>
      </p:sp>
      <p:sp>
        <p:nvSpPr>
          <p:cNvPr id="34" name="FB"/>
          <p:cNvSpPr>
            <a:spLocks noGrp="1"/>
          </p:cNvSpPr>
          <p:nvPr/>
        </p:nvSpPr>
        <p:spPr>
          <a:xfrm>
            <a:off x="0" y="6473952"/>
            <a:ext cx="12192000" cy="384048"/>
          </a:xfrm>
          <a:prstGeom prst="rect">
            <a:avLst/>
          </a:prstGeom>
          <a:solidFill>
            <a:srgbClr val="112238"/>
          </a:solidFill>
          <a:ln>
            <a:noFill/>
          </a:ln>
        </p:spPr>
        <p:txBody>
          <a:bodyPr/>
          <a:lstStyle/>
          <a:p/>
        </p:txBody>
      </p:sp>
      <p:sp>
        <p:nvSpPr>
          <p:cNvPr id="35" name="FL"/>
          <p:cNvSpPr>
            <a:spLocks noGrp="1"/>
          </p:cNvSpPr>
          <p:nvPr/>
        </p:nvSpPr>
        <p:spPr>
          <a:xfrm>
            <a:off x="0" y="6473952"/>
            <a:ext cx="12192000" cy="36576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txBody>
          <a:bodyPr/>
          <a:lstStyle/>
          <a:p/>
        </p:txBody>
      </p:sp>
      <p:sp>
        <p:nvSpPr>
          <p:cNvPr id="36" name="FL2"/>
          <p:cNvSpPr txBox="1">
            <a:spLocks noGrp="1"/>
          </p:cNvSpPr>
          <p:nvPr/>
        </p:nvSpPr>
        <p:spPr>
          <a:xfrm>
            <a:off x="274320" y="6510528"/>
            <a:ext cx="5486400" cy="310896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n-IN" sz="950" b="0" dirty="0">
                <a:solidFill>
                  <a:srgbClr val="8AAEC8"/>
                </a:solidFill>
                <a:latin typeface="Calibri"/>
                <a:cs typeface="Nirmala UI"/>
              </a:rPr>
              <a:t>Hindi Coreference Resolution  |  CIT Kokrajhar</a:t>
            </a:r>
          </a:p>
        </p:txBody>
      </p:sp>
      <p:sp>
        <p:nvSpPr>
          <p:cNvPr id="37" name="FR"/>
          <p:cNvSpPr txBox="1">
            <a:spLocks noGrp="1"/>
          </p:cNvSpPr>
          <p:nvPr/>
        </p:nvSpPr>
        <p:spPr>
          <a:xfrm>
            <a:off x="7772400" y="6510528"/>
            <a:ext cx="3200400" cy="310896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/>
            <a:r>
              <a:rPr lang="en-IN" sz="950" b="0" dirty="0">
                <a:solidFill>
                  <a:srgbClr val="8AAEC8"/>
                </a:solidFill>
                <a:latin typeface="Calibri"/>
                <a:cs typeface="Nirmala UI"/>
              </a:rPr>
              <a:t>B.Tech Project  |  2026</a:t>
            </a:r>
          </a:p>
        </p:txBody>
      </p:sp>
    </p:spTree>
  </p:cSld>
  <p:clrMapOvr>
    <a:masterClrMapping/>
  </p:clrMapOvr>
</p:sld>
</file>

<file path=ppt/slides/slide19.xml><?xml version="1.0" encoding="UTF-8" standalone="yes"?>
<p:sld xmlns:p="http://schemas.openxmlformats.org/presentationml/2006/main"
       xmlns:a="http://schemas.openxmlformats.org/drawingml/2006/main"
       xmlns:r="http://schemas.openxmlformats.org/officeDocument/2006/relationships">
  <p:cSld><p:bg><p:bgPr><a:solidFill><a:srgbClr val="1A2E4A"/></a:solidFill><a:effectLst/></p:bgPr></p:bg>
  <p:spTree>
  <p:nvGrpSpPr><p:cNvPr id="1" name=""/><p:cNvGrpSpPr/><p:nvPr/></p:nvGrpSpPr>
  <p:grpSpPr><a:xfrm><a:off x="0" y="0"/><a:ext cx="12192000" cy="6858000"/><a:chOff x="0" y="0"/><a:chExt cx="12192000" cy="6858000"/></a:xfrm></p:grpSpPr>
  <p:sp><p:nvSpPr><p:cNvPr id="10" name="TopBar"/><p:cNvSpPr><a:spLocks noGrp="1"/></p:cNvSpPr><p:nvPr/></p:nvSpPr>
<p:spPr><a:xfrm><a:off x="0" y="0"/><a:ext cx="12192000" cy="1097280"/></a:xfrm><a:prstGeom prst="rect"><a:avLst/></a:prstGeom><a:solidFill><a:srgbClr val="112238"/></a:solidFill><a:ln><a:noFill/></a:ln></p:spPr>
<p:txBody><a:bodyPr/><a:lstStyle/><a:p/></p:txBody></p:sp>
<p:sp><p:nvSpPr><p:cNvPr id="11" name="AccLine"/><p:cNvSpPr><a:spLocks noGrp="1"/></p:cNvSpPr><p:nvPr/></p:nvSpPr>
<p:spPr><a:xfrm><a:off x="0" y="1097280"/><a:ext cx="12192000" cy="54864"/></a:xfrm><a:prstGeom prst="rect"><a:avLst/></a:prstGeom><a:solidFill><a:srgbClr val="00C9B1"/></a:solidFill><a:ln><a:noFill/></a:ln></p:spPr>
<p:txBody><a:bodyPr/><a:lstStyle/><a:p/></p:txBody></p:sp>
<p:sp><p:nvSpPr><p:cNvPr id="12" name="Title"/><p:cNvSpPr txBox="1"><a:spLocks noGrp="1"/></p:cNvSpPr><p:nvPr/></p:nvSpPr>
<p:spPr><a:xfrm><a:off x="365760" y="91440"/><a:ext cx="10424160" cy="777240"/></a:xfrm><a:prstGeom prst="rect"><a:avLst/></a:prstGeom><a:noFill/></p:spPr>
<p:txBody><a:bodyPr wrap="square" anchor="t"><a:normAutofit/></a:bodyPr><a:lstStyle/><a:p><a:pPr algn="l"/>
<a:r><a:rPr lang="en-IN" sz="2800" b="1" dirty="0"><a:solidFill><a:srgbClr val="FFFFFF"/></a:solidFill><a:latin typeface="Calibri"/><a:cs typeface="Nirmala UI"/></a:rPr><a:t>References</a:t></a:r></a:p></p:txBody></p:sp>
<p:sp><p:nvSpPr><p:cNvPr id="13" name="Sub"/><p:cNvSpPr txBox="1"><a:spLocks noGrp="1"/></p:cNvSpPr><p:nvPr/></p:nvSpPr>
<p:spPr><a:xfrm><a:off x="365760" y="749808"/><a:ext cx="9144000" cy="384048"/></a:xfrm><a:prstGeom prst="rect"><a:avLst/></a:prstGeom><a:noFill/></p:spPr>
<p:txBody><a:bodyPr wrap="square" anchor="t"><a:normAutofit/></a:bodyPr><a:lstStyle/><a:p><a:pPr algn="l"/>
<a:r><a:rPr lang="en-IN" sz="1300" b="0" dirty="0"><a:solidFill><a:srgbClr val="00C9B1"/></a:solidFill><a:latin typeface="Calibri"/><a:cs typeface="Nirmala UI"/></a:rPr><a:t>Key literature, datasets, and tools cited in this work</a:t></a:r></a:p></p:txBody></p:sp>
<p:sp><p:nvSpPr><p:cNvPr id="14" name="RBg0"/><p:cNvSpPr><a:spLocks noGrp="1"/></p:cNvSpPr><p:nvPr/></p:nvSpPr>
<p:spPr><a:xfrm><a:off x="274320" y="1298448"/><a:ext cx="11643360" cy="484632"/></a:xfrm><a:prstGeom prst="rect"><a:avLst/></a:prstGeom><a:solidFill><a:srgbClr val="122840"/></a:solidFill><a:ln><a:noFill/></a:ln></p:spPr>
<p:txBody><a:bodyPr/><a:lstStyle/><a:p/></p:txBody></p:sp>
<p:sp><p:nvSpPr><p:cNvPr id="15" name="RNum0"/><p:cNvSpPr><a:spLocks noGrp="1"/></p:cNvSpPr><p:nvPr/></p:nvSpPr>
<p:spPr><a:xfrm><a:off x="320040" y="1362456"/><a:ext cx="411480" cy="347472"/></a:xfrm><a:prstGeom prst="roundRect"><a:avLst><a:gd name="adj" fmla="val 50000"/></a:avLst></a:prstGeom><a:solidFill><a:srgbClr val="00C9B1"/></a:solidFill><a:ln><a:noFill/></a:ln></p:spPr>
<p:txBody><a:bodyPr/><a:lstStyle/><a:p/></p:txBody></p:sp>
<p:sp><p:nvSpPr><p:cNvPr id="16" name="RNT0"/><p:cNvSpPr txBox="1"><a:spLocks noGrp="1"/></p:cNvSpPr><p:nvPr/></p:nvSpPr>
<p:spPr><a:xfrm><a:off x="320040" y="1362456"/><a:ext cx="411480" cy="347472"/></a:xfrm><a:prstGeom prst="rect"><a:avLst/></a:prstGeom><a:noFill/></p:spPr>
<p:txBody><a:bodyPr wrap="square" anchor="ctr"><a:normAutofit/></a:bodyPr><a:lstStyle/><a:p><a:pPr algn="ctr"/>
<a:r><a:rPr lang="en-IN" sz="1100" b="1" dirty="0"><a:solidFill><a:srgbClr val="1A2E4A"/></a:solidFill><a:latin typeface="Calibri"/><a:cs typeface="Nirmala UI"/></a:rPr><a:t>[1]</a:t></a:r></a:p></p:txBody></p:sp>
<p:sp><p:nvSpPr><p:cNvPr id="17" name="RAu0"/><p:cNvSpPr txBox="1"><a:spLocks noGrp="1"/></p:cNvSpPr><p:nvPr/></p:nvSpPr>
<p:spPr><a:xfrm><a:off x="804672" y="1353312"/><a:ext cx="2148840" cy="384048"/></a:xfrm><a:prstGeom prst="rect"><a:avLst/></a:prstGeom><a:noFill/></p:spPr>
<p:txBody><a:bodyPr wrap="square" anchor="t"><a:normAutofit/></a:bodyPr><a:lstStyle/><a:p><a:pPr algn="l"/>
<a:r><a:rPr lang="en-IN" sz="1200" b="1" dirty="0"><a:solidFill><a:srgbClr val="00C9B1"/></a:solidFill><a:latin typeface="Calibri"/><a:cs typeface="Nirmala UI"/></a:rPr><a:t>Lee et al. (2017)</a:t></a:r></a:p></p:txBody></p:sp>
<p:sp><p:nvSpPr><p:cNvPr id="18" name="RTi0"/><p:cNvSpPr txBox="1"><a:spLocks noGrp="1"/></p:cNvSpPr><p:nvPr/></p:nvSpPr>
<p:spPr><a:xfrm><a:off x="3017520" y="1353312"/><a:ext cx="7543800" cy="384048"/></a:xfrm><a:prstGeom prst="rect"><a:avLst/></a:prstGeom><a:noFill/></p:spPr>
<p:txBody><a:bodyPr wrap="square" anchor="t"><a:normAutofit/></a:bodyPr><a:lstStyle/><a:p><a:pPr algn="l"/>
<a:r><a:rPr lang="en-IN" sz="1180" b="0" dirty="0"><a:solidFill><a:srgbClr val="D0E4F7"/></a:solidFill><a:latin typeface="Calibri"/><a:cs typeface="Nirmala UI"/></a:rPr><a:t>End-to-end Neural Coreference Resolution. EMNLP 2017. Introduced first fully neural e2e coref model on OntoNotes.</a:t></a:r></a:p></p:txBody></p:sp>
<p:sp><p:nvSpPr><p:cNvPr id="19" name="RBg1"/><p:cNvSpPr><a:spLocks noGrp="1"/></p:cNvSpPr><p:nvPr/></p:nvSpPr>
<p:spPr><a:xfrm><a:off x="274320" y="1783080"/><a:ext cx="11643360" cy="484632"/></a:xfrm><a:prstGeom prst="rect"><a:avLst/></a:prstGeom><a:solidFill><a:srgbClr val="0D1B2E"/></a:solidFill><a:ln><a:noFill/></a:ln></p:spPr>
<p:txBody><a:bodyPr/><a:lstStyle/><a:p/></p:txBody></p:sp>
<p:sp><p:nvSpPr><p:cNvPr id="20" name="RNum1"/><p:cNvSpPr><a:spLocks noGrp="1"/></p:cNvSpPr><p:nvPr/></p:nvSpPr>
<p:spPr><a:xfrm><a:off x="320040" y="1847088"/><a:ext cx="411480" cy="347472"/></a:xfrm><a:prstGeom prst="roundRect"><a:avLst><a:gd name="adj" fmla="val 50000"/></a:avLst></a:prstGeom><a:solidFill><a:srgbClr val="F5A623"/></a:solidFill><a:ln><a:noFill/></a:ln></p:spPr>
<p:txBody><a:bodyPr/><a:lstStyle/><a:p/></p:txBody></p:sp>
<p:sp><p:nvSpPr><p:cNvPr id="21" name="RNT1"/><p:cNvSpPr txBox="1"><a:spLocks noGrp="1"/></p:cNvSpPr><p:nvPr/></p:nvSpPr>
<p:spPr><a:xfrm><a:off x="320040" y="1847088"/><a:ext cx="411480" cy="347472"/></a:xfrm><a:prstGeom prst="rect"><a:avLst/></a:prstGeom><a:noFill/></p:spPr>
<p:txBody><a:bodyPr wrap="square" anchor="ctr"><a:normAutofit/></a:bodyPr><a:lstStyle/><a:p><a:pPr algn="ctr"/>
<a:r><a:rPr lang="en-IN" sz="1100" b="1" dirty="0"><a:solidFill><a:srgbClr val="1A2E4A"/></a:solidFill><a:latin typeface="Calibri"/><a:cs typeface="Nirmala UI"/></a:rPr><a:t>[2]</a:t></a:r></a:p></p:txBody></p:sp>
<p:sp><p:nvSpPr><p:cNvPr id="22" name="RAu1"/><p:cNvSpPr txBox="1"><a:spLocks noGrp="1"/></p:cNvSpPr><p:nvPr/></p:nvSpPr>
<p:spPr><a:xfrm><a:off x="804672" y="1837944"/><a:ext cx="2148840" cy="384048"/></a:xfrm><a:prstGeom prst="rect"><a:avLst/></a:prstGeom><a:noFill/></p:spPr>
<p:txBody><a:bodyPr wrap="square" anchor="t"><a:normAutofit/></a:bodyPr><a:lstStyle/><a:p><a:pPr algn="l"/>
<a:r><a:rPr lang="en-IN" sz="1200" b="1" dirty="0"><a:solidFill><a:srgbClr val="F5A623"/></a:solidFill><a:latin typeface="Calibri"/><a:cs typeface="Nirmala UI"/></a:rPr><a:t>Clark & Manning (2016)</a:t></a:r></a:p></p:txBody></p:sp>
<p:sp><p:nvSpPr><p:cNvPr id="23" name="RTi1"/><p:cNvSpPr txBox="1"><a:spLocks noGrp="1"/></p:cNvSpPr><p:nvPr/></p:nvSpPr>
<p:spPr><a:xfrm><a:off x="3017520" y="1837944"/><a:ext cx="7543800" cy="384048"/></a:xfrm><a:prstGeom prst="rect"><a:avLst/></a:prstGeom><a:noFill/></p:spPr>
<p:txBody><a:bodyPr wrap="square" anchor="t"><a:normAutofit/></a:bodyPr><a:lstStyle/><a:p><a:pPr algn="l"/>
<a:r><a:rPr lang="en-IN" sz="1180" b="0" dirty="0"><a:solidFill><a:srgbClr val="D0E4F7"/></a:solidFill><a:latin typeface="Calibri"/><a:cs typeface="Nirmala UI"/></a:rPr><a:t>Deep RL for Mention-Ranking Coreference Models. EMNLP 2016. RL-based global optimization of coref clusters.</a:t></a:r></a:p></p:txBody></p:sp>
<p:sp><p:nvSpPr><p:cNvPr id="24" name="RBg2"/><p:cNvSpPr><a:spLocks noGrp="1"/></p:cNvSpPr><p:nvPr/></p:nvSpPr>
<p:spPr><a:xfrm><a:off x="274320" y="2267712"/><a:ext cx="11643360" cy="484632"/></a:xfrm><a:prstGeom prst="rect"><a:avLst/></a:prstGeom><a:solidFill><a:srgbClr val="122840"/></a:solidFill><a:ln><a:noFill/></a:ln></p:spPr>
<p:txBody><a:bodyPr/><a:lstStyle/><a:p/></p:txBody></p:sp>
<p:sp><p:nvSpPr><p:cNvPr id="25" name="RNum2"/><p:cNvSpPr><a:spLocks noGrp="1"/></p:cNvSpPr><p:nvPr/></p:nvSpPr>
<p:spPr><a:xfrm><a:off x="320040" y="2331720"/><a:ext cx="411480" cy="347472"/></a:xfrm><a:prstGeom prst="roundRect"><a:avLst><a:gd name="adj" fmla="val 50000"/></a:avLst></a:prstGeom><a:solidFill><a:srgbClr val="00C9B1"/></a:solidFill><a:ln><a:noFill/></a:ln></p:spPr>
<p:txBody><a:bodyPr/><a:lstStyle/><a:p/></p:txBody></p:sp>
<p:sp><p:nvSpPr><p:cNvPr id="26" name="RNT2"/><p:cNvSpPr txBox="1"><a:spLocks noGrp="1"/></p:cNvSpPr><p:nvPr/></p:nvSpPr>
<p:spPr><a:xfrm><a:off x="320040" y="2331720"/><a:ext cx="411480" cy="347472"/></a:xfrm><a:prstGeom prst="rect"><a:avLst/></a:prstGeom><a:noFill/></p:spPr>
<p:txBody><a:bodyPr wrap="square" anchor="ctr"><a:normAutofit/></a:bodyPr><a:lstStyle/><a:p><a:pPr algn="ctr"/>
<a:r><a:rPr lang="en-IN" sz="1100" b="1" dirty="0"><a:solidFill><a:srgbClr val="1A2E4A"/></a:solidFill><a:latin typeface="Calibri"/><a:cs typeface="Nirmala UI"/></a:rPr><a:t>[3]</a:t></a:r></a:p></p:txBody></p:sp>
<p:sp><p:nvSpPr><p:cNvPr id="27" name="RAu2"/><p:cNvSpPr txBox="1"><a:spLocks noGrp="1"/></p:cNvSpPr><p:nvPr/></p:nvSpPr>
<p:spPr><a:xfrm><a:off x="804672" y="2322576"/><a:ext cx="2148840" cy="384048"/></a:xfrm><a:prstGeom prst="rect"><a:avLst/></a:prstGeom><a:noFill/></p:spPr>
<p:txBody><a:bodyPr wrap="square" anchor="t"><a:normAutofit/></a:bodyPr><a:lstStyle/><a:p><a:pPr algn="l"/>
<a:r><a:rPr lang="en-IN" sz="1200" b="1" dirty="0"><a:solidFill><a:srgbClr val="00C9B1"/></a:solidFill><a:latin typeface="Calibri"/><a:cs typeface="Nirmala UI"/></a:rPr><a:t>Joshi et al. (2020)</a:t></a:r></a:p></p:txBody></p:sp>
<p:sp><p:nvSpPr><p:cNvPr id="28" name="RTi2"/><p:cNvSpPr txBox="1"><a:spLocks noGrp="1"/></p:cNvSpPr><p:nvPr/></p:nvSpPr>
<p:spPr><a:xfrm><a:off x="3017520" y="2322576"/><a:ext cx="7543800" cy="384048"/></a:xfrm><a:prstGeom prst="rect"><a:avLst/></a:prstGeom><a:noFill/></p:spPr>
<p:txBody><a:bodyPr wrap="square" anchor="t"><a:normAutofit/></a:bodyPr><a:lstStyle/><a:p><a:pPr algn="l"/>
<a:r><a:rPr lang="en-IN" sz="1180" b="0" dirty="0"><a:solidFill><a:srgbClr val="D0E4F7"/></a:solidFill><a:latin typeface="Calibri"/><a:cs typeface="Nirmala UI"/></a:rPr><a:t>SpanBERT: Improving Pre-training by Representing and Predicting Spans. TACL 2020. SOTA coref via span masking.</a:t></a:r></a:p></p:txBody></p:sp>
<p:sp><p:nvSpPr><p:cNvPr id="29" name="RBg3"/><p:cNvSpPr><a:spLocks noGrp="1"/></p:cNvSpPr><p:nvPr/></p:nvSpPr>
<p:spPr><a:xfrm><a:off x="274320" y="2752344"/><a:ext cx="11643360" cy="484632"/></a:xfrm><a:prstGeom prst="rect"><a:avLst/></a:prstGeom><a:solidFill><a:srgbClr val="0D1B2E"/></a:solidFill><a:ln><a:noFill/></a:ln></p:spPr>
<p:txBody><a:bodyPr/><a:lstStyle/><a:p/></p:txBody></p:sp>
<p:sp><p:nvSpPr><p:cNvPr id="30" name="RNum3"/><p:cNvSpPr><a:spLocks noGrp="1"/></p:cNvSpPr><p:nvPr/></p:nvSpPr>
<p:spPr><a:xfrm><a:off x="320040" y="2816352"/><a:ext cx="411480" cy="347472"/></a:xfrm><a:prstGeom prst="roundRect"><a:avLst><a:gd name="adj" fmla="val 50000"/></a:avLst></a:prstGeom><a:solidFill><a:srgbClr val="F5A623"/></a:solidFill><a:ln><a:noFill/></a:ln></p:spPr>
<p:txBody><a:bodyPr/><a:lstStyle/><a:p/></p:txBody></p:sp>
<p:sp><p:nvSpPr><p:cNvPr id="31" name="RNT3"/><p:cNvSpPr txBox="1"><a:spLocks noGrp="1"/></p:cNvSpPr><p:nvPr/></p:nvSpPr>
<p:spPr><a:xfrm><a:off x="320040" y="2816352"/><a:ext cx="411480" cy="347472"/></a:xfrm><a:prstGeom prst="rect"><a:avLst/></a:prstGeom><a:noFill/></p:spPr>
<p:txBody><a:bodyPr wrap="square" anchor="ctr"><a:normAutofit/></a:bodyPr><a:lstStyle/><a:p><a:pPr algn="ctr"/>
<a:r><a:rPr lang="en-IN" sz="1100" b="1" dirty="0"><a:solidFill><a:srgbClr val="1A2E4A"/></a:solidFill><a:latin typeface="Calibri"/><a:cs typeface="Nirmala UI"/></a:rPr><a:t>[4]</a:t></a:r></a:p></p:txBody></p:sp>
<p:sp><p:nvSpPr><p:cNvPr id="32" name="RAu3"/><p:cNvSpPr txBox="1"><a:spLocks noGrp="1"/></p:cNvSpPr><p:nvPr/></p:nvSpPr>
<p:spPr><a:xfrm><a:off x="804672" y="2807208"/><a:ext cx="2148840" cy="384048"/></a:xfrm><a:prstGeom prst="rect"><a:avLst/></a:prstGeom><a:noFill/></p:spPr>
<p:txBody><a:bodyPr wrap="square" anchor="t"><a:normAutofit/></a:bodyPr><a:lstStyle/><a:p><a:pPr algn="l"/>
<a:r><a:rPr lang="en-IN" sz="1200" b="1" dirty="0"><a:solidFill><a:srgbClr val="F5A623"/></a:solidFill><a:latin typeface="Calibri"/><a:cs typeface="Nirmala UI"/></a:rPr><a:t>AI4Bharat (2022)</a:t></a:r></a:p></p:txBody></p:sp>
<p:sp><p:nvSpPr><p:cNvPr id="33" name="RTi3"/><p:cNvSpPr txBox="1"><a:spLocks noGrp="1"/></p:cNvSpPr><p:nvPr/></p:nvSpPr>
<p:spPr><a:xfrm><a:off x="3017520" y="2807208"/><a:ext cx="7543800" cy="384048"/></a:xfrm><a:prstGeom prst="rect"><a:avLst/></a:prstGeom><a:noFill/></p:spPr>
<p:txBody><a:bodyPr wrap="square" anchor="t"><a:normAutofit/></a:bodyPr><a:lstStyle/><a:p><a:pPr algn="l"/>
<a:r><a:rPr lang="en-IN" sz="1180" b="0" dirty="0"><a:solidFill><a:srgbClr val="D0E4F7"/></a:solidFill><a:latin typeface="Calibri"/><a:cs typeface="Nirmala UI"/></a:rPr><a:t>IndicBERTv2: Robust BERT Model for 24 Indic Languages. arXiv:2212.05409. Core model used in Phase 2.</a:t></a:r></a:p></p:txBody></p:sp>
<p:sp><p:nvSpPr><p:cNvPr id="34" name="RBg4"/><p:cNvSpPr><a:spLocks noGrp="1"/></p:cNvSpPr><p:nvPr/></p:nvSpPr>
<p:spPr><a:xfrm><a:off x="274320" y="3236976"/><a:ext cx="11643360" cy="484632"/></a:xfrm><a:prstGeom prst="rect"><a:avLst/></a:prstGeom><a:solidFill><a:srgbClr val="122840"/></a:solidFill><a:ln><a:noFill/></a:ln></p:spPr>
<p:txBody><a:bodyPr/><a:lstStyle/><a:p/></p:txBody></p:sp>
<p:sp><p:nvSpPr><p:cNvPr id="35" name="RNum4"/><p:cNvSpPr><a:spLocks noGrp="1"/></p:cNvSpPr><p:nvPr/></p:nvSpPr>
<p:spPr><a:xfrm><a:off x="320040" y="3300984"/><a:ext cx="411480" cy="347472"/></a:xfrm><a:prstGeom prst="roundRect"><a:avLst><a:gd name="adj" fmla="val 50000"/></a:avLst></a:prstGeom><a:solidFill><a:srgbClr val="00C9B1"/></a:solidFill><a:ln><a:noFill/></a:ln></p:spPr>
<p:txBody><a:bodyPr/><a:lstStyle/><a:p/></p:txBody></p:sp>
<p:sp><p:nvSpPr><p:cNvPr id="36" name="RNT4"/><p:cNvSpPr txBox="1"><a:spLocks noGrp="1"/></p:cNvSpPr><p:nvPr/></p:nvSpPr>
<p:spPr><a:xfrm><a:off x="320040" y="3300984"/><a:ext cx="411480" cy="347472"/></a:xfrm><a:prstGeom prst="rect"><a:avLst/></a:prstGeom><a:noFill/></p:spPr>
<p:txBody><a:bodyPr wrap="square" anchor="ctr"><a:normAutofit/></a:bodyPr><a:lstStyle/><a:p><a:pPr algn="ctr"/>
<a:r><a:rPr lang="en-IN" sz="1100" b="1" dirty="0"><a:solidFill><a:srgbClr val="1A2E4A"/></a:solidFill><a:latin typeface="Calibri"/><a:cs typeface="Nirmala UI"/></a:rPr><a:t>[5]</a:t></a:r></a:p></p:txBody></p:sp>
<p:sp><p:nvSpPr><p:cNvPr id="37" name="RAu4"/><p:cNvSpPr txBox="1"><a:spLocks noGrp="1"/></p:cNvSpPr><p:nvPr/></p:nvSpPr>
<p:spPr><a:xfrm><a:off x="804672" y="3291840"/><a:ext cx="2148840" cy="384048"/></a:xfrm><a:prstGeom prst="rect"><a:avLst/></a:prstGeom><a:noFill/></p:spPr>
<p:txBody><a:bodyPr wrap="square" anchor="t"><a:normAutofit/></a:bodyPr><a:lstStyle/><a:p><a:pPr algn="l"/>
<a:r><a:rPr lang="en-IN" sz="1200" b="1" dirty="0"><a:solidFill><a:srgbClr val="00C9B1"/></a:solidFill><a:latin typeface="Calibri"/><a:cs typeface="Nirmala UI"/></a:rPr><a:t>Kumar et al. (2020)</a:t></a:r></a:p></p:txBody></p:sp>
<p:sp><p:nvSpPr><p:cNvPr id="38" name="RTi4"/><p:cNvSpPr txBox="1"><a:spLocks noGrp="1"/></p:cNvSpPr><p:nvPr/></p:nvSpPr>
<p:spPr><a:xfrm><a:off x="3017520" y="3291840"/><a:ext cx="7543800" cy="384048"/></a:xfrm><a:prstGeom prst="rect"><a:avLst/></a:prstGeom><a:noFill/></p:spPr>
<p:txBody><a:bodyPr wrap="square" anchor="t"><a:normAutofit/></a:bodyPr><a:lstStyle/><a:p><a:pPr algn="l"/>
<a:r><a:rPr lang="en-IN" sz="1180" b="0" dirty="0"><a:solidFill><a:srgbClr val="D0E4F7"/></a:solidFill><a:latin typeface="Calibri"/><a:cs typeface="Nirmala UI"/></a:rPr><a:t>Hindi Coreference Resolution Using Rule-Based and ML Approaches. LREC 2020. Prior Hindi-specific baseline.</a:t></a:r></a:p></p:txBody></p:sp>
<p:sp><p:nvSpPr><p:cNvPr id="39" name="RBg5"/><p:cNvSpPr><a:spLocks noGrp="1"/></p:cNvSpPr><p:nvPr/></p:nvSpPr>
<p:spPr><a:xfrm><a:off x="274320" y="3721608"/><a:ext cx="11643360" cy="484632"/></a:xfrm><a:prstGeom prst="rect"><a:avLst/></a:prstGeom><a:solidFill><a:srgbClr val="0D1B2E"/></a:solidFill><a:ln><a:noFill/></a:ln></p:spPr>
<p:txBody><a:bodyPr/><a:lstStyle/><a:p/></p:txBody></p:sp>
<p:sp><p:nvSpPr><p:cNvPr id="40" name="RNum5"/><p:cNvSpPr><a:spLocks noGrp="1"/></p:cNvSpPr><p:nvPr/></p:nvSpPr>
<p:spPr><a:xfrm><a:off x="320040" y="3785616"/><a:ext cx="411480" cy="347472"/></a:xfrm><a:prstGeom prst="roundRect"><a:avLst><a:gd name="adj" fmla="val 50000"/></a:avLst></a:prstGeom><a:solidFill><a:srgbClr val="F5A623"/></a:solidFill><a:ln><a:noFill/></a:ln></p:spPr>
<p:txBody><a:bodyPr/><a:lstStyle/><a:p/></p:txBody></p:sp>
<p:sp><p:nvSpPr><p:cNvPr id="41" name="RNT5"/><p:cNvSpPr txBox="1"><a:spLocks noGrp="1"/></p:cNvSpPr><p:nvPr/></p:nvSpPr>
<p:spPr><a:xfrm><a:off x="320040" y="3785616"/><a:ext cx="411480" cy="347472"/></a:xfrm><a:prstGeom prst="rect"><a:avLst/></a:prstGeom><a:noFill/></p:spPr>
<p:txBody><a:bodyPr wrap="square" anchor="ctr"><a:normAutofit/></a:bodyPr><a:lstStyle/><a:p><a:pPr algn="ctr"/>
<a:r><a:rPr lang="en-IN" sz="1100" b="1" dirty="0"><a:solidFill><a:srgbClr val="1A2E4A"/></a:solidFill><a:latin typeface="Calibri"/><a:cs typeface="Nirmala UI"/></a:rPr><a:t>[6]</a:t></a:r></a:p></p:txBody></p:sp>
<p:sp><p:nvSpPr><p:cNvPr id="42" name="RAu5"/><p:cNvSpPr txBox="1"><a:spLocks noGrp="1"/></p:cNvSpPr><p:nvPr/></p:nvSpPr>
<p:spPr><a:xfrm><a:off x="804672" y="3776472"/><a:ext cx="2148840" cy="384048"/></a:xfrm><a:prstGeom prst="rect"><a:avLst/></a:prstGeom><a:noFill/></p:spPr>
<p:txBody><a:bodyPr wrap="square" anchor="t"><a:normAutofit/></a:bodyPr><a:lstStyle/><a:p><a:pPr algn="l"/>
<a:r><a:rPr lang="en-IN" sz="1200" b="1" dirty="0"><a:solidFill><a:srgbClr val="F5A623"/></a:solidFill><a:latin typeface="Calibri"/><a:cs typeface="Nirmala UI"/></a:rPr><a:t>Dobrovolskii (2021)</a:t></a:r></a:p></p:txBody></p:sp>
<p:sp><p:nvSpPr><p:cNvPr id="43" name="RTi5"/><p:cNvSpPr txBox="1"><a:spLocks noGrp="1"/></p:cNvSpPr><p:nvPr/></p:nvSpPr>
<p:spPr><a:xfrm><a:off x="3017520" y="3776472"/><a:ext cx="7543800" cy="384048"/></a:xfrm><a:prstGeom prst="rect"><a:avLst/></a:prstGeom><a:noFill/></p:spPr>
<p:txBody><a:bodyPr wrap="square" anchor="t"><a:normAutofit/></a:bodyPr><a:lstStyle/><a:p><a:pPr algn="l"/>
<a:r><a:rPr lang="en-IN" sz="1180" b="0" dirty="0"><a:solidFill><a:srgbClr val="D0E4F7"/></a:solidFill><a:latin typeface="Calibri"/><a:cs typeface="Nirmala UI"/></a:rPr><a:t>Word-Level Coreference Resolution. EMNLP 2021. Efficient O(n^2) word-level reformulation.</a:t></a:r></a:p></p:txBody></p:sp>
<p:sp><p:nvSpPr><p:cNvPr id="44" name="RBg6"/><p:cNvSpPr><a:spLocks noGrp="1"/></p:cNvSpPr><p:nvPr/></p:nvSpPr>
<p:spPr><a:xfrm><a:off x="274320" y="4206240"/><a:ext cx="11643360" cy="484632"/></a:xfrm><a:prstGeom prst="rect"><a:avLst/></a:prstGeom><a:solidFill><a:srgbClr val="122840"/></a:solidFill><a:ln><a:noFill/></a:ln></p:spPr>
<p:txBody><a:bodyPr/><a:lstStyle/><a:p/></p:txBody></p:sp>
<p:sp><p:nvSpPr><p:cNvPr id="45" name="RNum6"/><p:cNvSpPr><a:spLocks noGrp="1"/></p:cNvSpPr><p:nvPr/></p:nvSpPr>
<p:spPr><a:xfrm><a:off x="320040" y="4270248"/><a:ext cx="411480" cy="347472"/></a:xfrm><a:prstGeom prst="roundRect"><a:avLst><a:gd name="adj" fmla="val 50000"/></a:avLst></a:prstGeom><a:solidFill><a:srgbClr val="00C9B1"/></a:solidFill><a:ln><a:noFill/></a:ln></p:spPr>
<p:txBody><a:bodyPr/><a:lstStyle/><a:p/></p:txBody></p:sp>
<p:sp><p:nvSpPr><p:cNvPr id="46" name="RNT6"/><p:cNvSpPr txBox="1"><a:spLocks noGrp="1"/></p:cNvSpPr><p:nvPr/></p:nvSpPr>
<p:spPr><a:xfrm><a:off x="320040" y="4270248"/><a:ext cx="411480" cy="347472"/></a:xfrm><a:prstGeom prst="rect"><a:avLst/></a:prstGeom><a:noFill/></p:spPr>
<p:txBody><a:bodyPr wrap="square" anchor="ctr"><a:normAutofit/></a:bodyPr><a:lstStyle/><a:p><a:pPr algn="ctr"/>
<a:r><a:rPr lang="en-IN" sz="1100" b="1" dirty="0"><a:solidFill><a:srgbClr val="1A2E4A"/></a:solidFill><a:latin typeface="Calibri"/><a:cs typeface="Nirmala UI"/></a:rPr><a:t>[7]</a:t></a:r></a:p></p:txBody></p:sp>
<p:sp><p:nvSpPr><p:cNvPr id="47" name="RAu6"/><p:cNvSpPr txBox="1"><a:spLocks noGrp="1"/></p:cNvSpPr><p:nvPr/></p:nvSpPr>
<p:spPr><a:xfrm><a:off x="804672" y="4261104"/><a:ext cx="2148840" cy="384048"/></a:xfrm><a:prstGeom prst="rect"><a:avLst/></a:prstGeom><a:noFill/></p:spPr>
<p:txBody><a:bodyPr wrap="square" anchor="t"><a:normAutofit/></a:bodyPr><a:lstStyle/><a:p><a:pPr algn="l"/>
<a:r><a:rPr lang="en-IN" sz="1200" b="1" dirty="0"><a:solidFill><a:srgbClr val="00C9B1"/></a:solidFill><a:latin typeface="Calibri"/><a:cs typeface="Nirmala UI"/></a:rPr><a:t>Devlin et al. (2019)</a:t></a:r></a:p></p:txBody></p:sp>
<p:sp><p:nvSpPr><p:cNvPr id="48" name="RTi6"/><p:cNvSpPr txBox="1"><a:spLocks noGrp="1"/></p:cNvSpPr><p:nvPr/></p:nvSpPr>
<p:spPr><a:xfrm><a:off x="3017520" y="4261104"/><a:ext cx="7543800" cy="384048"/></a:xfrm><a:prstGeom prst="rect"><a:avLst/></a:prstGeom><a:noFill/></p:spPr>
<p:txBody><a:bodyPr wrap="square" anchor="t"><a:normAutofit/></a:bodyPr><a:lstStyle/><a:p><a:pPr algn="l"/>
<a:r><a:rPr lang="en-IN" sz="1180" b="0" dirty="0"><a:solidFill><a:srgbClr val="D0E4F7"/></a:solidFill><a:latin typeface="Calibri"/><a:cs typeface="Nirmala UI"/></a:rPr><a:t>BERT: Pre-training of Deep Bidirectional Transformers for NLP. NAACL 2019. Foundation of our approach.</a:t></a:r></a:p></p:txBody></p:sp>
<p:sp><p:nvSpPr><p:cNvPr id="49" name="RBg7"/><p:cNvSpPr><a:spLocks noGrp="1"/></p:cNvSpPr><p:nvPr/></p:nvSpPr>
<p:spPr><a:xfrm><a:off x="274320" y="4690872"/><a:ext cx="11643360" cy="484632"/></a:xfrm><a:prstGeom prst="rect"><a:avLst/></a:prstGeom><a:solidFill><a:srgbClr val="0D1B2E"/></a:solidFill><a:ln><a:noFill/></a:ln></p:spPr>
<p:txBody><a:bodyPr/><a:lstStyle/><a:p/></p:txBody></p:sp>
<p:sp><p:nvSpPr><p:cNvPr id="50" name="RNum7"/><p:cNvSpPr><a:spLocks noGrp="1"/></p:cNvSpPr><p:nvPr/></p:nvSpPr>
<p:spPr><a:xfrm><a:off x="320040" y="4754880"/><a:ext cx="411480" cy="347472"/></a:xfrm><a:prstGeom prst="roundRect"><a:avLst><a:gd name="adj" fmla="val 50000"/></a:avLst></a:prstGeom><a:solidFill><a:srgbClr val="F5A623"/></a:solidFill><a:ln><a:noFill/></a:ln></p:spPr>
<p:txBody><a:bodyPr/><a:lstStyle/><a:p/></p:txBody></p:sp>
<p:sp><p:nvSpPr><p:cNvPr id="51" name="RNT7"/><p:cNvSpPr txBox="1"><a:spLocks noGrp="1"/></p:cNvSpPr><p:nvPr/></p:nvSpPr>
<p:spPr><a:xfrm><a:off x="320040" y="4754880"/><a:ext cx="411480" cy="347472"/></a:xfrm><a:prstGeom prst="rect"><a:avLst/></a:prstGeom><a:noFill/></p:spPr>
<p:txBody><a:bodyPr wrap="square" anchor="ctr"><a:normAutofit/></a:bodyPr><a:lstStyle/><a:p><a:pPr algn="ctr"/>
<a:r><a:rPr lang="en-IN" sz="1100" b="1" dirty="0"><a:solidFill><a:srgbClr val="1A2E4A"/></a:solidFill><a:latin typeface="Calibri"/><a:cs typeface="Nirmala UI"/></a:rPr><a:t>[8]</a:t></a:r></a:p></p:txBody></p:sp>
<p:sp><p:nvSpPr><p:cNvPr id="52" name="RAu7"/><p:cNvSpPr txBox="1"><a:spLocks noGrp="1"/></p:cNvSpPr><p:nvPr/></p:nvSpPr>
<p:spPr><a:xfrm><a:off x="804672" y="4745736"/><a:ext cx="2148840" cy="384048"/></a:xfrm><a:prstGeom prst="rect"><a:avLst/></a:prstGeom><a:noFill/></p:spPr>
<p:txBody><a:bodyPr wrap="square" anchor="t"><a:normAutofit/></a:bodyPr><a:lstStyle/><a:p><a:pPr algn="l"/>
<a:r><a:rPr lang="en-IN" sz="1200" b="1" dirty="0"><a:solidFill><a:srgbClr val="F5A623"/></a:solidFill><a:latin typeface="Calibri"/><a:cs typeface="Nirmala UI"/></a:rPr><a:t>Kudo & Richardson (2018)</a:t></a:r></a:p></p:txBody></p:sp>
<p:sp><p:nvSpPr><p:cNvPr id="53" name="RTi7"/><p:cNvSpPr txBox="1"><a:spLocks noGrp="1"/></p:cNvSpPr><p:nvPr/></p:nvSpPr>
<p:spPr><a:xfrm><a:off x="3017520" y="4745736"/><a:ext cx="7543800" cy="384048"/></a:xfrm><a:prstGeom prst="rect"><a:avLst/></a:prstGeom><a:noFill/></p:spPr>
<p:txBody><a:bodyPr wrap="square" anchor="t"><a:normAutofit/></a:bodyPr><a:lstStyle/><a:p><a:pPr algn="l"/>
<a:r><a:rPr lang="en-IN" sz="1180" b="0" dirty="0"><a:solidFill><a:srgbClr val="D0E4F7"/></a:solidFill><a:latin typeface="Calibri"/><a:cs typeface="Nirmala UI"/></a:rPr><a:t>SentencePiece: A simple and language independent subword tokenizer. EMNLP 2018. Tokenizer used in Phase 1.</a:t></a:r></a:p></p:txBody></p:sp>
<p:sp><p:nvSpPr><p:cNvPr id="54" name="RBg8"/><p:cNvSpPr><a:spLocks noGrp="1"/></p:cNvSpPr><p:nvPr/></p:nvSpPr>
<p:spPr><a:xfrm><a:off x="274320" y="5175504"/><a:ext cx="11643360" cy="484632"/></a:xfrm><a:prstGeom prst="rect"><a:avLst/></a:prstGeom><a:solidFill><a:srgbClr val="122840"/></a:solidFill><a:ln><a:noFill/></a:ln></p:spPr>
<p:txBody><a:bodyPr/><a:lstStyle/><a:p/></p:txBody></p:sp>
<p:sp><p:nvSpPr><p:cNvPr id="55" name="RNum8"/><p:cNvSpPr><a:spLocks noGrp="1"/></p:cNvSpPr><p:nvPr/></p:nvSpPr>
<p:spPr><a:xfrm><a:off x="320040" y="5239512"/><a:ext cx="411480" cy="347472"/></a:xfrm><a:prstGeom prst="roundRect"><a:avLst><a:gd name="adj" fmla="val 50000"/></a:avLst></a:prstGeom><a:solidFill><a:srgbClr val="00C9B1"/></a:solidFill><a:ln><a:noFill/></a:ln></p:spPr>
<p:txBody><a:bodyPr/><a:lstStyle/><a:p/></p:txBody></p:sp>
<p:sp><p:nvSpPr><p:cNvPr id="56" name="RNT8"/><p:cNvSpPr txBox="1"><a:spLocks noGrp="1"/></p:cNvSpPr><p:nvPr/></p:nvSpPr>
<p:spPr><a:xfrm><a:off x="320040" y="5239512"/><a:ext cx="411480" cy="347472"/></a:xfrm><a:prstGeom prst="rect"><a:avLst/></a:prstGeom><a:noFill/></p:spPr>
<p:txBody><a:bodyPr wrap="square" anchor="ctr"><a:normAutofit/></a:bodyPr><a:lstStyle/><a:p><a:pPr algn="ctr"/>
<a:r><a:rPr lang="en-IN" sz="1100" b="1" dirty="0"><a:solidFill><a:srgbClr val="1A2E4A"/></a:solidFill><a:latin typeface="Calibri"/><a:cs typeface="Nirmala UI"/></a:rPr><a:t>[9]</a:t></a:r></a:p></p:txBody></p:sp>
<p:sp><p:nvSpPr><p:cNvPr id="57" name="RAu8"/><p:cNvSpPr txBox="1"><a:spLocks noGrp="1"/></p:cNvSpPr><p:nvPr/></p:nvSpPr>
<p:spPr><a:xfrm><a:off x="804672" y="5230368"/><a:ext cx="2148840" cy="384048"/></a:xfrm><a:prstGeom prst="rect"><a:avLst/></a:prstGeom><a:noFill/></p:spPr>
<p:txBody><a:bodyPr wrap="square" anchor="t"><a:normAutofit/></a:bodyPr><a:lstStyle/><a:p><a:pPr algn="l"/>
<a:r><a:rPr lang="en-IN" sz="1200" b="1" dirty="0"><a:solidFill><a:srgbClr val="00C9B1"/></a:solidFill><a:latin typeface="Calibri"/><a:cs typeface="Nirmala UI"/></a:rPr><a:t>CoNLL-2012 Shared Task</a:t></a:r></a:p></p:txBody></p:sp>
<p:sp><p:nvSpPr><p:cNvPr id="58" name="RTi8"/><p:cNvSpPr txBox="1"><a:spLocks noGrp="1"/></p:cNvSpPr><p:nvPr/></p:nvSpPr>
<p:spPr><a:xfrm><a:off x="3017520" y="5230368"/><a:ext cx="7543800" cy="384048"/></a:xfrm><a:prstGeom prst="rect"><a:avLst/></a:prstGeom><a:noFill/></p:spPr>
<p:txBody><a:bodyPr wrap="square" anchor="t"><a:normAutofit/></a:bodyPr><a:lstStyle/><a:p><a:pPr algn="l"/>
<a:r><a:rPr lang="en-IN" sz="1180" b="0" dirty="0"><a:solidFill><a:srgbClr val="D0E4F7"/></a:solidFill><a:latin typeface="Calibri"/><a:cs typeface="Nirmala UI"/></a:rPr><a:t>Modeling Unrestricted Coreference in OntoNotes. EMNLP-CoNLL 2012. Standard evaluation benchmark.</a:t></a:r></a:p></p:txBody></p:sp>
<p:sp><p:nvSpPr><p:cNvPr id="59" name="RBg9"/><p:cNvSpPr><a:spLocks noGrp="1"/></p:cNvSpPr><p:nvPr/></p:nvSpPr>
<p:spPr><a:xfrm><a:off x="274320" y="5660136"/><a:ext cx="11643360" cy="484632"/></a:xfrm><a:prstGeom prst="rect"><a:avLst/></a:prstGeom><a:solidFill><a:srgbClr val="0D1B2E"/></a:solidFill><a:ln><a:noFill/></a:ln></p:spPr>
<p:txBody><a:bodyPr/><a:lstStyle/><a:p/></p:txBody></p:sp>
<p:sp><p:nvSpPr><p:cNvPr id="60" name="RNum9"/><p:cNvSpPr><a:spLocks noGrp="1"/></p:cNvSpPr><p:nvPr/></p:nvSpPr>
<p:spPr><a:xfrm><a:off x="320040" y="5724144"/><a:ext cx="411480" cy="347472"/></a:xfrm><a:prstGeom prst="roundRect"><a:avLst><a:gd name="adj" fmla="val 50000"/></a:avLst></a:prstGeom><a:solidFill><a:srgbClr val="F5A623"/></a:solidFill><a:ln><a:noFill/></a:ln></p:spPr>
<p:txBody><a:bodyPr/><a:lstStyle/><a:p/></p:txBody></p:sp>
<p:sp><p:nvSpPr><p:cNvPr id="61" name="RNT9"/><p:cNvSpPr txBox="1"><a:spLocks noGrp="1"/></p:cNvSpPr><p:nvPr/></p:nvSpPr>
<p:spPr><a:xfrm><a:off x="320040" y="5724144"/><a:ext cx="411480" cy="347472"/></a:xfrm><a:prstGeom prst="rect"><a:avLst/></a:prstGeom><a:noFill/></p:spPr>
<p:txBody><a:bodyPr wrap="square" anchor="ctr"><a:normAutofit/></a:bodyPr><a:lstStyle/><a:p><a:pPr algn="ctr"/>
<a:r><a:rPr lang="en-IN" sz="1100" b="1" dirty="0"><a:solidFill><a:srgbClr val="1A2E4A"/></a:solidFill><a:latin typeface="Calibri"/><a:cs typeface="Nirmala UI"/></a:rPr><a:t>[10]</a:t></a:r></a:p></p:txBody></p:sp>
<p:sp><p:nvSpPr><p:cNvPr id="62" name="RAu9"/><p:cNvSpPr txBox="1"><a:spLocks noGrp="1"/></p:cNvSpPr><p:nvPr/></p:nvSpPr>
<p:spPr><a:xfrm><a:off x="804672" y="5715000"/><a:ext cx="2148840" cy="384048"/></a:xfrm><a:prstGeom prst="rect"><a:avLst/></a:prstGeom><a:noFill/></p:spPr>
<p:txBody><a:bodyPr wrap="square" anchor="t"><a:normAutofit/></a:bodyPr><a:lstStyle/><a:p><a:pPr algn="l"/>
<a:r><a:rPr lang="en-IN" sz="1200" b="1" dirty="0"><a:solidFill><a:srgbClr val="F5A623"/></a:solidFill><a:latin typeface="Calibri"/><a:cs typeface="Nirmala UI"/></a:rPr><a:t>Pradhan et al. (2012)</a:t></a:r></a:p></p:txBody></p:sp>
<p:sp><p:nvSpPr><p:cNvPr id="63" name="RTi9"/><p:cNvSpPr txBox="1"><a:spLocks noGrp="1"/></p:cNvSpPr><p:nvPr/></p:nvSpPr>
<p:spPr><a:xfrm><a:off x="3017520" y="5715000"/><a:ext cx="7543800" cy="384048"/></a:xfrm><a:prstGeom prst="rect"><a:avLst/></a:prstGeom><a:noFill/></p:spPr>
<p:txBody><a:bodyPr wrap="square" anchor="t"><a:normAutofit/></a:bodyPr><a:lstStyle/><a:p><a:pPr algn="l"/>
<a:r><a:rPr lang="en-IN" sz="1180" b="0" dirty="0"><a:solidFill><a:srgbClr val="D0E4F7"/></a:solidFill><a:latin typeface="Calibri"/><a:cs typeface="Nirmala UI"/></a:rPr><a:t>CoNLL-2012 Shared Task: Modeling Unrestricted Coreference in OntoNotes. Gold standard annotation guidelines.</a:t></a:r></a:p></p:txBody></p:sp>
<p:sp><p:nvSpPr><p:cNvPr id="64" name="FB"/><p:cNvSpPr><a:spLocks noGrp="1"/></p:cNvSpPr><p:nvPr/></p:nvSpPr>
<p:spPr><a:xfrm><a:off x="0" y="6473952"/><a:ext cx="12192000" cy="384048"/></a:xfrm><a:prstGeom prst="rect"><a:avLst/></a:prstGeom><a:solidFill><a:srgbClr val="112238"/></a:solidFill><a:ln><a:noFill/></a:ln></p:spPr>
<p:txBody><a:bodyPr/><a:lstStyle/><a:p/></p:txBody></p:sp>
<p:sp><p:nvSpPr><p:cNvPr id="65" name="FL"/><p:cNvSpPr><a:spLocks noGrp="1"/></p:cNvSpPr><p:nvPr/></p:nvSpPr>
<p:spPr><a:xfrm><a:off x="0" y="6473952"/><a:ext cx="12192000" cy="36576"/></a:xfrm><a:prstGeom prst="rect"><a:avLst/></a:prstGeom><a:solidFill><a:srgbClr val="00C9B1"/></a:solidFill><a:ln><a:noFill/></a:ln></p:spPr>
<p:txBody><a:bodyPr/><a:lstStyle/><a:p/></p:txBody></p:sp>
<p:sp><p:nvSpPr><p:cNvPr id="66" name="FL2"/><p:cNvSpPr txBox="1"><a:spLocks noGrp="1"/></p:cNvSpPr><p:nvPr/></p:nvSpPr>
<p:spPr><a:xfrm><a:off x="274320" y="6510528"/><a:ext cx="5486400" cy="310896"/></a:xfrm><a:prstGeom prst="rect"><a:avLst/></a:prstGeom><a:noFill/></p:spPr>
<p:txBody><a:bodyPr wrap="square" anchor="t"><a:normAutofit/></a:bodyPr><a:lstStyle/><a:p><a:pPr algn="l"/>
<a:r><a:rPr lang="en-IN" sz="950" b="0" dirty="0"><a:solidFill><a:srgbClr val="8AAEC8"/></a:solidFill><a:latin typeface="Calibri"/><a:cs typeface="Nirmala UI"/></a:rPr><a:t>Hindi Coreference Resolution  |  CIT Kokrajhar</a:t></a:r></a:p></p:txBody></p:sp>
<p:sp><p:nvSpPr><p:cNvPr id="67" name="FR"/><p:cNvSpPr txBox="1"><a:spLocks noGrp="1"/></p:cNvSpPr><p:nvPr/></p:nvSpPr>
<p:spPr><a:xfrm><a:off x="7772400" y="6510528"/><a:ext cx="3200400" cy="310896"/></a:xfrm><a:prstGeom prst="rect"><a:avLst/></a:prstGeom><a:noFill/></p:spPr>
<p:txBody><a:bodyPr wrap="square" anchor="t"><a:normAutofit/></a:bodyPr><a:lstStyle/><a:p><a:pPr algn="r"/>
<a:r><a:rPr lang="en-IN" sz="950" b="0" dirty="0"><a:solidFill><a:srgbClr val="8AAEC8"/></a:solidFill><a:latin typeface="Calibri"/><a:cs typeface="Nirmala UI"/></a:rPr><a:t>B.Tech Project  |  2026</a:t></a:r></a:p></p:txBody></p:sp>
  </p:spTree></p:cSld>
  <p:clrMapOvr><a:masterClrMapping/></p:clrMapOvr>
</p:sld>
</file>

<file path=ppt/slides/slide20.xml><?xml version="1.0" encoding="UTF-8" standalone="yes"?>
<p:sld xmlns:p="http://schemas.openxmlformats.org/presentationml/2006/main"
       xmlns:a="http://schemas.openxmlformats.org/drawingml/2006/main"
       xmlns:r="http://schemas.openxmlformats.org/officeDocument/2006/relationships">
  <p:cSld><p:bg><p:bgPr><a:solidFill><a:srgbClr val="1A2E4A"/></a:solidFill><a:effectLst/></p:bgPr></p:bg>
  <p:spTree>
  <p:nvGrpSpPr><p:cNvPr id="1" name=""/><p:cNvGrpSpPr/><p:nvPr/></p:nvGrpSpPr>
  <p:grpSpPr><a:xfrm><a:off x="0" y="0"/><a:ext cx="12192000" cy="6858000"/><a:chOff x="0" y="0"/><a:chExt cx="12192000" cy="6858000"/></a:xfrm></p:grpSpPr>
  <p:sp><p:nvSpPr><p:cNvPr id="10" name="TB"/><p:cNvSpPr><a:spLocks noGrp="1"/></p:cNvSpPr><p:nvPr/></p:nvSpPr>
<p:spPr><a:xfrm><a:off x="0" y="0"/><a:ext cx="12192000" cy="91440"/></a:xfrm><a:prstGeom prst="rect"><a:avLst/></a:prstGeom><a:solidFill><a:srgbClr val="00C9B1"/></a:solidFill><a:ln><a:noFill/></a:ln></p:spPr>
<p:txBody><a:bodyPr/><a:lstStyle/><a:p/></p:txBody></p:sp>
<p:sp><p:nvSpPr><p:cNvPr id="11" name="BB"/><p:cNvSpPr><a:spLocks noGrp="1"/></p:cNvSpPr><p:nvPr/></p:nvSpPr>
<p:spPr><a:xfrm><a:off x="0" y="6766560"/><a:ext cx="12192000" cy="91440"/></a:xfrm><a:prstGeom prst="rect"><a:avLst/></a:prstGeom><a:solidFill><a:srgbClr val="00C9B1"/></a:solidFill><a:ln><a:noFill/></a:ln></p:spPr>
<p:txBody><a:bodyPr/><a:lstStyle/><a:p/></p:txBody></p:sp>
<p:sp><p:nvSpPr><p:cNvPr id="12" name="LB"/><p:cNvSpPr><a:spLocks noGrp="1"/></p:cNvSpPr><p:nvPr/></p:nvSpPr>
<p:spPr><a:xfrm><a:off x="0" y="0"/><a:ext cx="91440" cy="6858000"/></a:xfrm><a:prstGeom prst="rect"><a:avLst/></a:prstGeom><a:solidFill><a:srgbClr val="00C9B1"/></a:solidFill><a:ln><a:noFill/></a:ln></p:spPr>
<p:txBody><a:bodyPr/><a:lstStyle/><a:p/></p:txBody></p:sp>
<p:sp><p:nvSpPr><p:cNvPr id="13" name="RB"/><p:cNvSpPr><a:spLocks noGrp="1"/></p:cNvSpPr><p:nvPr/></p:nvSpPr>
<p:spPr><a:xfrm><a:off x="12100560" y="0"/><a:ext cx="91440" cy="6858000"/></a:xfrm><a:prstGeom prst="rect"><a:avLst/></a:prstGeom><a:solidFill><a:srgbClr val="F5A623"/></a:solidFill><a:ln><a:noFill/></a:ln></p:spPr>
<p:txBody><a:bodyPr/><a:lstStyle/><a:p/></p:txBody></p:sp>
<p:sp><p:nvSpPr><p:cNvPr id="14" name="Glow"/><p:cNvSpPr><a:spLocks noGrp="1"/></p:cNvSpPr><p:nvPr/></p:nvSpPr>
<p:spPr><a:xfrm><a:off x="2560320" y="914400"/><a:ext cx="6217920" cy="5120640"/></a:xfrm><a:prstGeom prst="roundRect"><a:avLst><a:gd name="adj" fmla="val 50000"/></a:avLst></a:prstGeom><a:solidFill><a:srgbClr val="0D1B2E"/></a:solidFill><a:ln w="8000"><a:solidFill><a:srgbClr val="00C9B1"/></a:solidFill></a:ln></p:spPr>
<p:txBody><a:bodyPr/><a:lstStyle/><a:p/></p:txBody></p:sp>
<p:sp><p:nvSpPr><p:cNvPr id="20" name="TY"/><p:cNvSpPr txBox="1"><a:spLocks noGrp="1"/></p:cNvSpPr><p:nvPr/></p:nvSpPr>
<p:spPr><a:xfrm><a:off x="457200" y="1280160"/><a:ext cx="11277600" cy="1645920"/></a:xfrm><a:prstGeom prst="rect"><a:avLst/></a:prstGeom><a:noFill/></p:spPr>
<p:txBody><a:bodyPr wrap="square" anchor="t"><a:normAutofit/></a:bodyPr><a:lstStyle/><a:p><a:pPr algn="ctr"/>
<a:r><a:rPr lang="en-IN" sz="6000" b="1" dirty="0"><a:solidFill><a:srgbClr val="FFFFFF"/></a:solidFill><a:latin typeface="Calibri"/><a:cs typeface="Nirmala UI"/></a:rPr><a:t>Thank You!</a:t></a:r></a:p></p:txBody></p:sp>
<p:sp><p:nvSpPr><p:cNvPr id="21" name="GL"/><p:cNvSpPr><a:spLocks noGrp="1"/></p:cNvSpPr><p:nvPr/></p:nvSpPr>
<p:spPr><a:xfrm><a:off x="2926080" y="3035808"/><a:ext cx="5486400" cy="64008"/></a:xfrm><a:prstGeom prst="rect"><a:avLst/></a:prstGeom><a:solidFill><a:srgbClr val="F5A623"/></a:solidFill><a:ln><a:noFill/></a:ln></p:spPr>
<p:txBody><a:bodyPr/><a:lstStyle/><a:p/></p:txBody></p:sp>
<p:sp><p:nvSpPr><p:cNvPr id="22" name="TL"/><p:cNvSpPr><a:spLocks noGrp="1"/></p:cNvSpPr><p:nvPr/></p:nvSpPr>
<p:spPr><a:xfrm><a:off x="3383280" y="3154680"/><a:ext cx="4572000" cy="36576"/></a:xfrm><a:prstGeom prst="rect"><a:avLst/></a:prstGeom><a:solidFill><a:srgbClr val="00C9B1"/></a:solidFill><a:ln><a:noFill/></a:ln></p:spPr>
<p:txBody><a:bodyPr/><a:lstStyle/><a:p/></p:txBody></p:sp>
<p:sp><p:nvSpPr><p:cNvPr id="23" name="S1"/><p:cNvSpPr txBox="1"><a:spLocks noGrp="1"/></p:cNvSpPr><p:nvPr/></p:nvSpPr>
<p:spPr><a:xfrm><a:off x="457200" y="3291840"/><a:ext cx="11277600" cy="457200"/></a:xfrm><a:prstGeom prst="rect"><a:avLst/></a:prstGeom><a:noFill/></p:spPr>
<p:txBody><a:bodyPr wrap="square" anchor="t"><a:normAutofit/></a:bodyPr><a:lstStyle/><a:p><a:pPr algn="ctr"/>
<a:r><a:rPr lang="en-IN" sz="1750" b="0" dirty="0"><a:solidFill><a:srgbClr val="00C9B1"/></a:solidFill><a:latin typeface="Calibri"/><a:cs typeface="Nirmala UI"/></a:rPr><a:t>Hindi Coreference Resolution for Low-Resource NLP</a:t></a:r></a:p></p:txBody></p:sp>
<p:sp><p:nvSpPr><p:cNvPr id="24" name="S2"/><p:cNvSpPr txBox="1"><a:spLocks noGrp="1"/></p:cNvSpPr><p:nvPr/></p:nvSpPr>
<p:spPr><a:xfrm><a:off x="457200" y="3767328"/><a:ext cx="11277600" cy="384048"/></a:xfrm><a:prstGeom prst="rect"><a:avLst/></a:prstGeom><a:noFill/></p:spPr>
<p:txBody><a:bodyPr wrap="square" anchor="t"><a:normAutofit/></a:bodyPr><a:lstStyle/><a:p><a:pPr algn="ctr"/>
<a:r><a:rPr lang="en-IN" sz="1500" b="0" dirty="0"><a:solidFill><a:srgbClr val="D0E4F7"/></a:solidFill><a:latin typeface="Calibri"/><a:cs typeface="Nirmala UI"/></a:rPr><a:t>Using Transformer-Based Hybrid Approaches</a:t></a:r></a:p></p:txBody></p:sp>
<p:sp><p:nvSpPr><p:cNvPr id="25" name="Div1"/><p:cNvSpPr><a:spLocks noGrp="1"/></p:cNvSpPr><p:nvPr/></p:nvSpPr>
<p:spPr><a:xfrm><a:off x="1645920" y="4315968"/><a:ext cx="8046720" cy="36576"/></a:xfrm><a:prstGeom prst="rect"><a:avLst/></a:prstGeom><a:solidFill><a:srgbClr val="8AAEC8"/></a:solidFill><a:ln><a:noFill/></a:ln></p:spPr>
<p:txBody><a:bodyPr/><a:lstStyle/><a:p/></p:txBody></p:sp>
<p:sp><p:nvSpPr><p:cNvPr id="26" name="TeamH"/><p:cNvSpPr txBox="1"><a:spLocks noGrp="1"/></p:cNvSpPr><p:nvPr/></p:nvSpPr>
<p:spPr><a:xfrm><a:off x="457200" y="4425696"/><a:ext cx="11277600" cy="347472"/></a:xfrm><a:prstGeom prst="rect"><a:avLst/></a:prstGeom><a:noFill/></p:spPr>
<p:txBody><a:bodyPr wrap="square" anchor="t"><a:normAutofit/></a:bodyPr><a:lstStyle/><a:p><a:pPr algn="ctr"/>
<a:r><a:rPr lang="en-IN" sz="1000" b="1" dirty="0"><a:solidFill><a:srgbClr val="8AAEC8"/></a:solidFill><a:latin typeface="Calibri"/><a:cs typeface="Nirmala UI"/></a:rPr><a:t>PROJECT TEAM</a:t></a:r></a:p></p:txBody></p:sp>
<p:sp><p:nvSpPr><p:cNvPr id="27" name="TeamN"/><p:cNvSpPr txBox="1"><a:spLocks noGrp="1"/></p:cNvSpPr><p:nvPr/></p:nvSpPr>
<p:spPr><a:xfrm><a:off x="457200" y="4800600"/><a:ext cx="11277600" cy="384048"/></a:xfrm><a:prstGeom prst="rect"><a:avLst/></a:prstGeom><a:noFill/></p:spPr>
<p:txBody><a:bodyPr wrap="square" anchor="t"><a:normAutofit/></a:bodyPr><a:lstStyle/><a:p><a:pPr algn="ctr"/>
<a:r><a:rPr lang="en-IN" sz="1400" b="0" dirty="0"><a:solidFill><a:srgbClr val="D0E4F7"/></a:solidFill><a:latin typeface="Calibri"/><a:cs typeface="Nirmala UI"/></a:rPr><a:t>Himraj Doley  •  Subham Saha  •  Mohd Zaid  •  Nipujyoti Rabha</a:t></a:r></a:p></p:txBody></p:sp>
<p:sp><p:nvSpPr><p:cNvPr id="28" name="Div2"/><p:cNvSpPr><a:spLocks noGrp="1"/></p:cNvSpPr><p:nvPr/></p:nvSpPr>
<p:spPr><a:xfrm><a:off x="2286000" y="5285232"/><a:ext cx="6858000" cy="36576"/></a:xfrm><a:prstGeom prst="rect"><a:avLst/></a:prstGeom><a:solidFill><a:srgbClr val="8AAEC8"/></a:solidFill><a:ln><a:noFill/></a:ln></p:spPr>
<p:txBody><a:bodyPr/><a:lstStyle/><a:p/></p:txBody></p:sp>
<p:sp><p:nvSpPr><p:cNvPr id="29" name="Sup"/><p:cNvSpPr txBox="1"><a:spLocks noGrp="1"/></p:cNvSpPr><p:nvPr/></p:nvSpPr>
<p:spPr><a:xfrm><a:off x="457200" y="5394960"/><a:ext cx="11277600" cy="347472"/></a:xfrm><a:prstGeom prst="rect"><a:avLst/></a:prstGeom><a:noFill/></p:spPr>
<p:txBody><a:bodyPr wrap="square" anchor="t"><a:normAutofit/></a:bodyPr><a:lstStyle/><a:p><a:pPr algn="ctr"/>
<a:r><a:rPr lang="en-IN" sz="1250" b="0" dirty="0"><a:solidFill><a:srgbClr val="8AAEC8"/></a:solidFill><a:latin typeface="Calibri"/><a:cs typeface="Nirmala UI"/></a:rPr><a:t>Supervisor:  Dr. Apurbalal Senapati  |  Dept. of CSE, CIT Kokrajhar  |  2026</a:t></a:r></a:p></p:txBody></p:sp>
<p:sp><p:nvSpPr><p:cNvPr id="30" name="Div3"/><p:cNvSpPr><a:spLocks noGrp="1"/></p:cNvSpPr><p:nvPr/></p:nvSpPr>
<p:spPr><a:xfrm><a:off x="2743200" y="5833872"/><a:ext cx="5943600" cy="36576"/></a:xfrm><a:prstGeom prst="rect"><a:avLst/></a:prstGeom><a:solidFill><a:srgbClr val="8AAEC8"/></a:solidFill><a:ln><a:noFill/></a:ln></p:spPr>
<p:txBody><a:bodyPr/><a:lstStyle/><a:p/></p:txBody></p:sp>
<p:sp><p:nvSpPr><p:cNvPr id="31" name="Contact"/><p:cNvSpPr txBox="1"><a:spLocks noGrp="1"/></p:cNvSpPr><p:nvPr/></p:nvSpPr>
<p:spPr><a:xfrm><a:off x="457200" y="5925312"/><a:ext cx="11277600" cy="329184"/></a:xfrm><a:prstGeom prst="rect"><a:avLst/></a:prstGeom><a:noFill/></p:spPr>
<p:txBody><a:bodyPr wrap="square" anchor="t"><a:normAutofit/></a:bodyPr><a:lstStyle/><a:p><a:pPr algn="ctr"/>
<a:r><a:rPr lang="en-IN" sz="1150" b="0" dirty="0"><a:solidFill><a:srgbClr val="8AAEC8"/></a:solidFill><a:latin typeface="Calibri"/><a:cs typeface="Nirmala UI"/></a:rPr><a:t>Questions & Discussion Welcome  |  Full source code and dataset available on GitHub</a:t></a:r></a:p></p:txBody></p:sp>
  </p:spTree></p:cSld>
  <p:clrMapOvr><a:masterClrMapping/></p:clrMapOvr>
</p:sld>
</file>

<file path=ppt/theme/theme1.xml><?xml version="1.0" encoding="utf-8"?>
<a:theme xmlns:a="http://schemas.openxmlformats.org/drawingml/2006/main" name="HindiCorefTheme">
  <a:themeElements>
    <a:clrScheme name="HindiCoref">
      <a:dk1>
        <a:srgbClr val="0D1B2E"/>
      </a:dk1>
      <a:lt1>
        <a:srgbClr val="FFFFFF"/>
      </a:lt1>
      <a:dk2>
        <a:srgbClr val="1A2E4A"/>
      </a:dk2>
      <a:lt2>
        <a:srgbClr val="D0E4F7"/>
      </a:lt2>
      <a:accent1>
        <a:srgbClr val="00C9B1"/>
      </a:accent1>
      <a:accent2>
        <a:srgbClr val="F5A623"/>
      </a:accent2>
      <a:accent3>
        <a:srgbClr val="4472C4"/>
      </a:accent3>
      <a:accent4>
        <a:srgbClr val="ED7D31"/>
      </a:accent4>
      <a:accent5>
        <a:srgbClr val="A9D18E"/>
      </a:accent5>
      <a:accent6>
        <a:srgbClr val="FF0000"/>
      </a:accent6>
      <a:hlink>
        <a:srgbClr val="00C9B1"/>
      </a:hlink>
      <a:folHlink>
        <a:srgbClr val="8AAEC8"/>
      </a:folHlink>
    </a:clrScheme>
    <a:fontScheme name="HindiCoref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